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920786f-3c68-4c9a-c1a3-8bc0beeabeca}">
          <p14:sldIdLst>
            <p14:sldId id="256"/>
          </p14:sldIdLst>
        </p14:section>
        <p14:section name="Problem and approach" id="{53bc243b-3700-6414-de64-ad285707e7d4}">
          <p14:sldIdLst>
            <p14:sldId id="257"/>
            <p14:sldId id="258"/>
          </p14:sldIdLst>
        </p14:section>
        <p14:section name="How it works" id="{e936f9fa-eb90-e2bb-1a69-e2c18238c6f7}">
          <p14:sldIdLst>
            <p14:sldId id="259"/>
            <p14:sldId id="260"/>
          </p14:sldIdLst>
        </p14:section>
        <p14:section name="Demonstrations" id="{169370cc-c1ed-c27b-34fb-d1953e2bb8dc}">
          <p14:sldIdLst>
            <p14:sldId id="261"/>
          </p14:sldIdLst>
        </p14:section>
        <p14:section name="Findings" id="{03982235-6584-1bb0-54ce-606e2e200fc3}">
          <p14:sldIdLst>
            <p14:sldId id="262"/>
            <p14:sldId id="263"/>
          </p14:sldIdLst>
        </p14:section>
        <p14:section name="ITU-T Y.3172" id="{39caaa45-0763-a84c-1b4a-86d1e713fea8}">
          <p14:sldIdLst>
            <p14:sldId id="264"/>
            <p14:sldId id="265"/>
          </p14:sldIdLst>
        </p14:section>
        <p14:section name="Attack lab" id="{aabf2ebd-ee98-8e88-895e-7e1c97da0115}">
          <p14:sldIdLst>
            <p14:sldId id="266"/>
            <p14:sldId id="267"/>
          </p14:sldIdLst>
        </p14:section>
        <p14:section name="Trust and evaluation" id="{b2e77a12-71ce-b37b-df2b-50d7421688b2}">
          <p14:sldIdLst>
            <p14:sldId id="268"/>
            <p14:sldId id="269"/>
            <p14:sldId id="270"/>
          </p14:sldIdLst>
        </p14:section>
        <p14:section name="Close" id="{bea58a2c-1200-d3dd-a01c-0178d7aa2f60}">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hospital's private 5G network. At 9 a.m. lag; an hour later strange logins; by lunch someone realises it carries live ICU patient data. At each step the legal picture changes. Our adviser follows the incident as it unfolds and checks every claim against the actual text of Indian law. Decision support: legal judgment stays with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incidents arrive in pieces. A performance problem has no reporting duty; a cyber incident must be reported to CERT-In and DoT within six hours; patient data brings in the DPDP Act; a critical service may bring in the CTI Rules. The law depends on which piece you are looking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specialist agents: Technical, Policy &amp; Legal, Cybersecurity, Privacy, Critical Infrastructure, Standards, Policy Gap. Each has its own knowledge base built with RAG over official documents. Agents do not answer from memory; they quote.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Orchestrator decides which agents to wake, based only on what has been revealed so far. A separate Verifier checks every claim against a different knowledge base, the Canonical KB, so no agent marks its own homework. A Coordinator combines everything and keeps facts, uncertain conclusions, conflicts and gaps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claim gets one of four outcomes. The agent's guess that 'the UPF is involved' is UNSUPPORTED because no document says it. We do not hide weak claims; we label them. VERIFIED needs in-force and amendment checks; we quote exactly, but have not confirmed full amendment history, so we show INCOMPLETE.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T0: only Technical wakes; 3GPP quoted as reference only. T1: Cybersecurity and Standards join; six-hour clocks appear (TCS Rules Rule 7, CERT-In Direction (ii)). The SOC ticket went only to Cybersecurity. T2: ICU telemetry; personal-data exposure is 'suspected', not confirmed. T3: Policy Gap examines all 886 Indian passages; scroll to Summary, notifications table and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finds links across legal domains from the text itself, each with the quoted passage that proves it. At T3 it answers: CERT-In within 6 hours, Central Government within 6 hours, and the DPDP duties marked 'only if a breach is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potential gaps found live. The register goes deeper with five themes: India's 6 hours vs GDPR's 72; CERT-In's 180 days vs DPDP's one year. Indian provisions checked word for word; global and neighbouring examples labelled reference only. Deliberate policy language: potential gap, never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ITU-T Y.3172: SRC, collector, preprocessor, model, policy, distributor, sink. An ML Intent states the goal; the MLFO builds the pipeline; the ML sandbox trains candidate models, picks the best against the intent's targets and tests playbooks before going live. Our legal adviser is the P node: in blocking mode it holds the action for human approval. Notices stay drafts until a person approves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the Y.3172 page with Auto-play. Stop on the P node step: it holds the fix for human approval and lists the obligations.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attacks happen in sequence, so we show them in sequence: network before, the attack unfolding line by line, detection, the obligations that now apply, then each response step. Basic fixes run only if marked safe; anything riskier needs a human yes. Nothing touches a real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Fake base station: network before, attack unfolding, detection, obligations, Basic tier, then the gate: [1] Agent runs it. Resolved in the Intermediate tier; the page ends with Summary and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run is in an append-only, hash-chained audit trail. Replay shows 'Hash chain intact'; Re-execute and compare re-runs the incident and confirms the same agents, passages and verdicts. With an AI model on, its prompt and response are recorded and its claims must cite retrieved passages.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judges through the criteria quickly; each row points to something they just saw in the demos.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amendment checks incomplete, simulated core, NCIIPC Rules not ingested, ITU sandbox not available. Next: amendment checks to reach VERIFIED, more neighbouring-country instruments, an operator pilot, and running in the ITU sandbox.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an adviser that follows an incident step by step, quotes Indian law exactly, verifies every claim, finds cross-domain links and policy gaps, sits inside the ITU-T Y.3172 pipeline as its policy node, and can be fully audited and replayed.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74520"/>
            <a:ext cx="7680960" cy="155448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611880"/>
            <a:ext cx="7315200" cy="118872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28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India 5G Policy &amp; Legal Adviser  ·  ITU AI for Good Build-a-thon 5.0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ONTENT">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2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India 5G Policy &amp; Legal Adviser  ·  ITU AI for Good Build-a-thon 5.0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3.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2.xml"/><Relationship Id="rId6"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74520"/>
            <a:ext cx="7680960" cy="155448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India 5G Policy &amp; Legal Adviser</a:t>
            </a:r>
            <a:endParaRPr lang="en-US" sz="4400" dirty="0"/>
          </a:p>
        </p:txBody>
      </p:sp>
      <p:sp>
        <p:nvSpPr>
          <p:cNvPr id="3" name="Text 0"/>
          <p:cNvSpPr/>
          <p:nvPr>
            <p:ph idx="101" type="body" hasCustomPrompt="1"/>
          </p:nvPr>
        </p:nvSpPr>
        <p:spPr>
          <a:xfrm>
            <a:off x="731520" y="3611880"/>
            <a:ext cx="7315200" cy="1188720"/>
          </a:xfrm>
          <a:prstGeom prst="rect">
            <a:avLst/>
          </a:prstGeom>
          <a:noFill/>
          <a:ln/>
        </p:spPr>
        <p:txBody>
          <a:bodyPr wrap="square" lIns="0" tIns="0" rIns="0" bIns="0" rtlCol="0" anchor="t"/>
          <a:lstStyle/>
          <a:p>
            <a:pPr algn="l" indent="0" marL="0">
              <a:buNone/>
            </a:pPr>
            <a:r>
              <a:rPr lang="en-US" sz="2000" dirty="0">
                <a:solidFill>
                  <a:schemeClr val="bg2"/>
                </a:solidFill>
              </a:rPr>
              <a:t>A multi-agent adviser that follows a 5G incident as it unfolds, quotes Indian law, and verifies every claim</a:t>
            </a:r>
            <a:endParaRPr lang="en-US" sz="2000" dirty="0"/>
          </a:p>
        </p:txBody>
      </p:sp>
      <p:sp>
        <p:nvSpPr>
          <p:cNvPr id="4" name="Event line"/>
          <p:cNvSpPr txBox="1"/>
          <p:nvPr/>
        </p:nvSpPr>
        <p:spPr>
          <a:xfrm>
            <a:off x="731520" y="5120640"/>
            <a:ext cx="7315200" cy="365760"/>
          </a:xfrm>
          <a:prstGeom prst="rect">
            <a:avLst/>
          </a:prstGeom>
          <a:noFill/>
          <a:ln/>
        </p:spPr>
        <p:txBody>
          <a:bodyPr wrap="square" lIns="0" tIns="0" rIns="0" bIns="0" rtlCol="0" anchor="t"/>
          <a:lstStyle/>
          <a:p>
            <a:pPr indent="0" marL="0">
              <a:buNone/>
            </a:pPr>
            <a:r>
              <a:rPr lang="en-US" sz="1400" b="1" dirty="0">
                <a:solidFill>
                  <a:schemeClr val="accent1"/>
                </a:solidFill>
              </a:rPr>
              <a:t>ITU AI for Good Sandbox Build-a-thon 5.0  ·  Policy &amp; legal adviser track</a:t>
            </a:r>
            <a:endParaRPr lang="en-US" sz="1400" dirty="0"/>
          </a:p>
        </p:txBody>
      </p:sp>
      <p:sp>
        <p:nvSpPr>
          <p:cNvPr id="5" name="5G network circle"/>
          <p:cNvSpPr/>
          <p:nvPr/>
        </p:nvSpPr>
        <p:spPr>
          <a:xfrm>
            <a:off x="9464040" y="1143000"/>
            <a:ext cx="914400" cy="914400"/>
          </a:xfrm>
          <a:prstGeom prst="ellipse">
            <a:avLst/>
          </a:prstGeom>
          <a:solidFill>
            <a:srgbClr val="3A4A63"/>
          </a:solidFill>
          <a:ln w="12700">
            <a:solidFill>
              <a:srgbClr val="3A4A63"/>
            </a:solidFill>
            <a:prstDash val="solid"/>
          </a:ln>
        </p:spPr>
      </p:sp>
      <p:pic>
        <p:nvPicPr>
          <p:cNvPr id="6" name="5G network icon" descr="preencoded.png">    </p:cNvPr>
          <p:cNvPicPr>
            <a:picLocks noChangeAspect="1"/>
          </p:cNvPicPr>
          <p:nvPr/>
        </p:nvPicPr>
        <p:blipFill>
          <a:blip r:embed="rId1"/>
          <a:stretch>
            <a:fillRect/>
          </a:stretch>
        </p:blipFill>
        <p:spPr>
          <a:xfrm>
            <a:off x="9692640" y="1371600"/>
            <a:ext cx="457200" cy="457200"/>
          </a:xfrm>
          <a:prstGeom prst="rect">
            <a:avLst/>
          </a:prstGeom>
        </p:spPr>
      </p:pic>
      <p:sp>
        <p:nvSpPr>
          <p:cNvPr id="7" name="5G network label"/>
          <p:cNvSpPr txBox="1"/>
          <p:nvPr/>
        </p:nvSpPr>
        <p:spPr>
          <a:xfrm>
            <a:off x="10515600" y="1417320"/>
            <a:ext cx="1463040" cy="365760"/>
          </a:xfrm>
          <a:prstGeom prst="rect">
            <a:avLst/>
          </a:prstGeom>
          <a:noFill/>
          <a:ln/>
        </p:spPr>
        <p:txBody>
          <a:bodyPr wrap="square" lIns="0" tIns="0" rIns="0" bIns="0" rtlCol="0" anchor="t"/>
          <a:lstStyle/>
          <a:p>
            <a:pPr indent="0" marL="0">
              <a:buNone/>
            </a:pPr>
            <a:r>
              <a:rPr lang="en-US" sz="1400" dirty="0">
                <a:solidFill>
                  <a:schemeClr val="bg2"/>
                </a:solidFill>
              </a:rPr>
              <a:t>5G network</a:t>
            </a:r>
            <a:endParaRPr lang="en-US" sz="1400" dirty="0"/>
          </a:p>
        </p:txBody>
      </p:sp>
      <p:sp>
        <p:nvSpPr>
          <p:cNvPr id="8" name="Indian law circle"/>
          <p:cNvSpPr/>
          <p:nvPr/>
        </p:nvSpPr>
        <p:spPr>
          <a:xfrm>
            <a:off x="9464040" y="2331720"/>
            <a:ext cx="914400" cy="914400"/>
          </a:xfrm>
          <a:prstGeom prst="ellipse">
            <a:avLst/>
          </a:prstGeom>
          <a:solidFill>
            <a:srgbClr val="F29F05"/>
          </a:solidFill>
          <a:ln w="12700">
            <a:solidFill>
              <a:srgbClr val="F29F05"/>
            </a:solidFill>
            <a:prstDash val="solid"/>
          </a:ln>
        </p:spPr>
      </p:sp>
      <p:pic>
        <p:nvPicPr>
          <p:cNvPr id="9" name="Indian law icon" descr="preencoded.png">    </p:cNvPr>
          <p:cNvPicPr>
            <a:picLocks noChangeAspect="1"/>
          </p:cNvPicPr>
          <p:nvPr/>
        </p:nvPicPr>
        <p:blipFill>
          <a:blip r:embed="rId2"/>
          <a:stretch>
            <a:fillRect/>
          </a:stretch>
        </p:blipFill>
        <p:spPr>
          <a:xfrm>
            <a:off x="9692640" y="2560320"/>
            <a:ext cx="457200" cy="457200"/>
          </a:xfrm>
          <a:prstGeom prst="rect">
            <a:avLst/>
          </a:prstGeom>
        </p:spPr>
      </p:pic>
      <p:sp>
        <p:nvSpPr>
          <p:cNvPr id="10" name="Indian law label"/>
          <p:cNvSpPr txBox="1"/>
          <p:nvPr/>
        </p:nvSpPr>
        <p:spPr>
          <a:xfrm>
            <a:off x="10515600" y="2606040"/>
            <a:ext cx="1463040" cy="365760"/>
          </a:xfrm>
          <a:prstGeom prst="rect">
            <a:avLst/>
          </a:prstGeom>
          <a:noFill/>
          <a:ln/>
        </p:spPr>
        <p:txBody>
          <a:bodyPr wrap="square" lIns="0" tIns="0" rIns="0" bIns="0" rtlCol="0" anchor="t"/>
          <a:lstStyle/>
          <a:p>
            <a:pPr indent="0" marL="0">
              <a:buNone/>
            </a:pPr>
            <a:r>
              <a:rPr lang="en-US" sz="1400" dirty="0">
                <a:solidFill>
                  <a:schemeClr val="bg2"/>
                </a:solidFill>
              </a:rPr>
              <a:t>Indian law</a:t>
            </a:r>
            <a:endParaRPr lang="en-US" sz="1400" dirty="0"/>
          </a:p>
        </p:txBody>
      </p:sp>
      <p:sp>
        <p:nvSpPr>
          <p:cNvPr id="11" name="Security circle"/>
          <p:cNvSpPr/>
          <p:nvPr/>
        </p:nvSpPr>
        <p:spPr>
          <a:xfrm>
            <a:off x="9464040" y="3520440"/>
            <a:ext cx="914400" cy="914400"/>
          </a:xfrm>
          <a:prstGeom prst="ellipse">
            <a:avLst/>
          </a:prstGeom>
          <a:solidFill>
            <a:srgbClr val="3A4A63"/>
          </a:solidFill>
          <a:ln w="12700">
            <a:solidFill>
              <a:srgbClr val="3A4A63"/>
            </a:solidFill>
            <a:prstDash val="solid"/>
          </a:ln>
        </p:spPr>
      </p:sp>
      <p:pic>
        <p:nvPicPr>
          <p:cNvPr id="12" name="Security icon" descr="preencoded.png">    </p:cNvPr>
          <p:cNvPicPr>
            <a:picLocks noChangeAspect="1"/>
          </p:cNvPicPr>
          <p:nvPr/>
        </p:nvPicPr>
        <p:blipFill>
          <a:blip r:embed="rId3"/>
          <a:stretch>
            <a:fillRect/>
          </a:stretch>
        </p:blipFill>
        <p:spPr>
          <a:xfrm>
            <a:off x="9692640" y="3749040"/>
            <a:ext cx="457200" cy="457200"/>
          </a:xfrm>
          <a:prstGeom prst="rect">
            <a:avLst/>
          </a:prstGeom>
        </p:spPr>
      </p:pic>
      <p:sp>
        <p:nvSpPr>
          <p:cNvPr id="13" name="Security label"/>
          <p:cNvSpPr txBox="1"/>
          <p:nvPr/>
        </p:nvSpPr>
        <p:spPr>
          <a:xfrm>
            <a:off x="10515600" y="3794760"/>
            <a:ext cx="1463040" cy="365760"/>
          </a:xfrm>
          <a:prstGeom prst="rect">
            <a:avLst/>
          </a:prstGeom>
          <a:noFill/>
          <a:ln/>
        </p:spPr>
        <p:txBody>
          <a:bodyPr wrap="square" lIns="0" tIns="0" rIns="0" bIns="0" rtlCol="0" anchor="t"/>
          <a:lstStyle/>
          <a:p>
            <a:pPr indent="0" marL="0">
              <a:buNone/>
            </a:pPr>
            <a:r>
              <a:rPr lang="en-US" sz="1400" dirty="0">
                <a:solidFill>
                  <a:schemeClr val="bg2"/>
                </a:solidFill>
              </a:rPr>
              <a:t>Security</a:t>
            </a:r>
            <a:endParaRPr lang="en-US" sz="1400" dirty="0"/>
          </a:p>
        </p:txBody>
      </p:sp>
      <p:sp>
        <p:nvSpPr>
          <p:cNvPr id="14" name="Audit circle"/>
          <p:cNvSpPr/>
          <p:nvPr/>
        </p:nvSpPr>
        <p:spPr>
          <a:xfrm>
            <a:off x="9464040" y="4709160"/>
            <a:ext cx="914400" cy="914400"/>
          </a:xfrm>
          <a:prstGeom prst="ellipse">
            <a:avLst/>
          </a:prstGeom>
          <a:solidFill>
            <a:srgbClr val="3A4A63"/>
          </a:solidFill>
          <a:ln w="12700">
            <a:solidFill>
              <a:srgbClr val="3A4A63"/>
            </a:solidFill>
            <a:prstDash val="solid"/>
          </a:ln>
        </p:spPr>
      </p:sp>
      <p:pic>
        <p:nvPicPr>
          <p:cNvPr id="15" name="Audit icon" descr="preencoded.png">    </p:cNvPr>
          <p:cNvPicPr>
            <a:picLocks noChangeAspect="1"/>
          </p:cNvPicPr>
          <p:nvPr/>
        </p:nvPicPr>
        <p:blipFill>
          <a:blip r:embed="rId4"/>
          <a:stretch>
            <a:fillRect/>
          </a:stretch>
        </p:blipFill>
        <p:spPr>
          <a:xfrm>
            <a:off x="9692640" y="4937760"/>
            <a:ext cx="457200" cy="457200"/>
          </a:xfrm>
          <a:prstGeom prst="rect">
            <a:avLst/>
          </a:prstGeom>
        </p:spPr>
      </p:pic>
      <p:sp>
        <p:nvSpPr>
          <p:cNvPr id="16" name="Audit label"/>
          <p:cNvSpPr txBox="1"/>
          <p:nvPr/>
        </p:nvSpPr>
        <p:spPr>
          <a:xfrm>
            <a:off x="10515600" y="4983480"/>
            <a:ext cx="1463040" cy="365760"/>
          </a:xfrm>
          <a:prstGeom prst="rect">
            <a:avLst/>
          </a:prstGeom>
          <a:noFill/>
          <a:ln/>
        </p:spPr>
        <p:txBody>
          <a:bodyPr wrap="square" lIns="0" tIns="0" rIns="0" bIns="0" rtlCol="0" anchor="t"/>
          <a:lstStyle/>
          <a:p>
            <a:pPr indent="0" marL="0">
              <a:buNone/>
            </a:pPr>
            <a:r>
              <a:rPr lang="en-US" sz="1400" dirty="0">
                <a:solidFill>
                  <a:schemeClr val="bg2"/>
                </a:solidFill>
              </a:rPr>
              <a:t>Audit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A 5G incident arrives in pieces, and the law changes with each one</a:t>
            </a:r>
            <a:endParaRPr lang="en-US" sz="2800" dirty="0"/>
          </a:p>
        </p:txBody>
      </p:sp>
      <p:sp>
        <p:nvSpPr>
          <p:cNvPr id="3" name="T0 card"/>
          <p:cNvSpPr/>
          <p:nvPr/>
        </p:nvSpPr>
        <p:spPr>
          <a:xfrm>
            <a:off x="548640" y="1463040"/>
            <a:ext cx="2560320" cy="3749040"/>
          </a:xfrm>
          <a:prstGeom prst="roundRect">
            <a:avLst>
              <a:gd name="adj" fmla="val 4286"/>
            </a:avLst>
          </a:prstGeom>
          <a:solidFill>
            <a:schemeClr val="bg2"/>
          </a:solidFill>
          <a:ln w="12700">
            <a:solidFill>
              <a:schemeClr val="bg2"/>
            </a:solidFill>
            <a:prstDash val="solid"/>
          </a:ln>
          <a:effectLst>
            <a:outerShdw sx="100000" sy="100000" kx="0" ky="0" algn="bl" rotWithShape="0" blurRad="76200" dist="25400" dir="5400000">
              <a:srgbClr val="14213D">
                <a:alpha val="12000"/>
              </a:srgbClr>
            </a:outerShdw>
          </a:effectLst>
        </p:spPr>
      </p:sp>
      <p:sp>
        <p:nvSpPr>
          <p:cNvPr id="4" name="T0 circle"/>
          <p:cNvSpPr/>
          <p:nvPr/>
        </p:nvSpPr>
        <p:spPr>
          <a:xfrm>
            <a:off x="777240" y="1737360"/>
            <a:ext cx="731520" cy="731520"/>
          </a:xfrm>
          <a:prstGeom prst="ellipse">
            <a:avLst/>
          </a:prstGeom>
          <a:solidFill>
            <a:srgbClr val="14213D"/>
          </a:solidFill>
          <a:ln w="12700">
            <a:solidFill>
              <a:srgbClr val="14213D"/>
            </a:solidFill>
            <a:prstDash val="solid"/>
          </a:ln>
        </p:spPr>
      </p:sp>
      <p:pic>
        <p:nvPicPr>
          <p:cNvPr id="5" name="T0 icon" descr="preencoded.png">    </p:cNvPr>
          <p:cNvPicPr>
            <a:picLocks noChangeAspect="1"/>
          </p:cNvPicPr>
          <p:nvPr/>
        </p:nvPicPr>
        <p:blipFill>
          <a:blip r:embed="rId1"/>
          <a:stretch>
            <a:fillRect/>
          </a:stretch>
        </p:blipFill>
        <p:spPr>
          <a:xfrm>
            <a:off x="960120" y="1920240"/>
            <a:ext cx="365760" cy="365760"/>
          </a:xfrm>
          <a:prstGeom prst="rect">
            <a:avLst/>
          </a:prstGeom>
        </p:spPr>
      </p:pic>
      <p:sp>
        <p:nvSpPr>
          <p:cNvPr id="6" name="T0 label"/>
          <p:cNvSpPr txBox="1"/>
          <p:nvPr/>
        </p:nvSpPr>
        <p:spPr>
          <a:xfrm>
            <a:off x="1645920" y="1847088"/>
            <a:ext cx="1280160" cy="502920"/>
          </a:xfrm>
          <a:prstGeom prst="rect">
            <a:avLst/>
          </a:prstGeom>
          <a:noFill/>
          <a:ln/>
        </p:spPr>
        <p:txBody>
          <a:bodyPr wrap="square" lIns="0" tIns="0" rIns="0" bIns="0" rtlCol="0" anchor="t"/>
          <a:lstStyle/>
          <a:p>
            <a:pPr indent="0" marL="0">
              <a:buNone/>
            </a:pPr>
            <a:r>
              <a:rPr lang="en-US" sz="2600" b="1" dirty="0">
                <a:solidFill>
                  <a:schemeClr val="tx1"/>
                </a:solidFill>
                <a:latin typeface="Cambria" pitchFamily="34" charset="0"/>
                <a:ea typeface="Cambria" pitchFamily="34" charset="-122"/>
                <a:cs typeface="Cambria" pitchFamily="34" charset="-120"/>
              </a:rPr>
              <a:t>T0</a:t>
            </a:r>
            <a:endParaRPr lang="en-US" sz="2600" dirty="0"/>
          </a:p>
        </p:txBody>
      </p:sp>
      <p:sp>
        <p:nvSpPr>
          <p:cNvPr id="7" name="T0 event"/>
          <p:cNvSpPr txBox="1"/>
          <p:nvPr/>
        </p:nvSpPr>
        <p:spPr>
          <a:xfrm>
            <a:off x="777240" y="2697480"/>
            <a:ext cx="2103120" cy="1188720"/>
          </a:xfrm>
          <a:prstGeom prst="rect">
            <a:avLst/>
          </a:prstGeom>
          <a:noFill/>
          <a:ln/>
        </p:spPr>
        <p:txBody>
          <a:bodyPr wrap="square" lIns="0" tIns="0" rIns="0" bIns="0" rtlCol="0" anchor="t"/>
          <a:lstStyle/>
          <a:p>
            <a:pPr indent="0" marL="0">
              <a:buNone/>
            </a:pPr>
            <a:r>
              <a:rPr lang="en-US" sz="1600" b="1" dirty="0">
                <a:solidFill>
                  <a:schemeClr val="tx1"/>
                </a:solidFill>
              </a:rPr>
              <a:t>Latency and session drops on a private slice</a:t>
            </a:r>
            <a:endParaRPr lang="en-US" sz="1600" dirty="0"/>
          </a:p>
        </p:txBody>
      </p:sp>
      <p:sp>
        <p:nvSpPr>
          <p:cNvPr id="8" name="T0 legal effect"/>
          <p:cNvSpPr txBox="1"/>
          <p:nvPr/>
        </p:nvSpPr>
        <p:spPr>
          <a:xfrm>
            <a:off x="777240" y="3794760"/>
            <a:ext cx="2103120" cy="1280160"/>
          </a:xfrm>
          <a:prstGeom prst="rect">
            <a:avLst/>
          </a:prstGeom>
          <a:noFill/>
          <a:ln/>
        </p:spPr>
        <p:txBody>
          <a:bodyPr wrap="square" lIns="0" tIns="0" rIns="0" bIns="0" rtlCol="0" anchor="t"/>
          <a:lstStyle/>
          <a:p>
            <a:pPr indent="0" marL="0">
              <a:buNone/>
            </a:pPr>
            <a:r>
              <a:rPr lang="en-US" sz="1400" dirty="0">
                <a:solidFill>
                  <a:schemeClr val="tx2"/>
                </a:solidFill>
              </a:rPr>
              <a:t>A performance problem: no reporting duty yet</a:t>
            </a:r>
            <a:endParaRPr lang="en-US" sz="1400" dirty="0"/>
          </a:p>
        </p:txBody>
      </p:sp>
      <p:sp>
        <p:nvSpPr>
          <p:cNvPr id="9" name="Arrow 1"/>
          <p:cNvSpPr/>
          <p:nvPr/>
        </p:nvSpPr>
        <p:spPr>
          <a:xfrm>
            <a:off x="3136392" y="3429000"/>
            <a:ext cx="219456" cy="274320"/>
          </a:xfrm>
          <a:prstGeom prst="rightArrow">
            <a:avLst/>
          </a:prstGeom>
          <a:solidFill>
            <a:srgbClr val="F29F05"/>
          </a:solidFill>
          <a:ln w="12700">
            <a:solidFill>
              <a:srgbClr val="F29F05"/>
            </a:solidFill>
            <a:prstDash val="solid"/>
          </a:ln>
        </p:spPr>
      </p:sp>
      <p:sp>
        <p:nvSpPr>
          <p:cNvPr id="10" name="T1 card"/>
          <p:cNvSpPr/>
          <p:nvPr/>
        </p:nvSpPr>
        <p:spPr>
          <a:xfrm>
            <a:off x="3383280" y="1463040"/>
            <a:ext cx="2560320" cy="3749040"/>
          </a:xfrm>
          <a:prstGeom prst="roundRect">
            <a:avLst>
              <a:gd name="adj" fmla="val 4286"/>
            </a:avLst>
          </a:prstGeom>
          <a:solidFill>
            <a:schemeClr val="bg2"/>
          </a:solidFill>
          <a:ln w="12700">
            <a:solidFill>
              <a:schemeClr val="bg2"/>
            </a:solidFill>
            <a:prstDash val="solid"/>
          </a:ln>
          <a:effectLst>
            <a:outerShdw sx="100000" sy="100000" kx="0" ky="0" algn="bl" rotWithShape="0" blurRad="76200" dist="25400" dir="5400000">
              <a:srgbClr val="14213D">
                <a:alpha val="12000"/>
              </a:srgbClr>
            </a:outerShdw>
          </a:effectLst>
        </p:spPr>
      </p:sp>
      <p:sp>
        <p:nvSpPr>
          <p:cNvPr id="11" name="T1 circle"/>
          <p:cNvSpPr/>
          <p:nvPr/>
        </p:nvSpPr>
        <p:spPr>
          <a:xfrm>
            <a:off x="3611880" y="1737360"/>
            <a:ext cx="731520" cy="731520"/>
          </a:xfrm>
          <a:prstGeom prst="ellipse">
            <a:avLst/>
          </a:prstGeom>
          <a:solidFill>
            <a:srgbClr val="14213D"/>
          </a:solidFill>
          <a:ln w="12700">
            <a:solidFill>
              <a:srgbClr val="14213D"/>
            </a:solidFill>
            <a:prstDash val="solid"/>
          </a:ln>
        </p:spPr>
      </p:sp>
      <p:pic>
        <p:nvPicPr>
          <p:cNvPr id="12" name="T1 icon" descr="preencoded.png">    </p:cNvPr>
          <p:cNvPicPr>
            <a:picLocks noChangeAspect="1"/>
          </p:cNvPicPr>
          <p:nvPr/>
        </p:nvPicPr>
        <p:blipFill>
          <a:blip r:embed="rId2"/>
          <a:stretch>
            <a:fillRect/>
          </a:stretch>
        </p:blipFill>
        <p:spPr>
          <a:xfrm>
            <a:off x="3794760" y="1920240"/>
            <a:ext cx="365760" cy="365760"/>
          </a:xfrm>
          <a:prstGeom prst="rect">
            <a:avLst/>
          </a:prstGeom>
        </p:spPr>
      </p:pic>
      <p:sp>
        <p:nvSpPr>
          <p:cNvPr id="13" name="T1 label"/>
          <p:cNvSpPr txBox="1"/>
          <p:nvPr/>
        </p:nvSpPr>
        <p:spPr>
          <a:xfrm>
            <a:off x="4480560" y="1847088"/>
            <a:ext cx="1280160" cy="502920"/>
          </a:xfrm>
          <a:prstGeom prst="rect">
            <a:avLst/>
          </a:prstGeom>
          <a:noFill/>
          <a:ln/>
        </p:spPr>
        <p:txBody>
          <a:bodyPr wrap="square" lIns="0" tIns="0" rIns="0" bIns="0" rtlCol="0" anchor="t"/>
          <a:lstStyle/>
          <a:p>
            <a:pPr indent="0" marL="0">
              <a:buNone/>
            </a:pPr>
            <a:r>
              <a:rPr lang="en-US" sz="2600" b="1" dirty="0">
                <a:solidFill>
                  <a:schemeClr val="tx1"/>
                </a:solidFill>
                <a:latin typeface="Cambria" pitchFamily="34" charset="0"/>
                <a:ea typeface="Cambria" pitchFamily="34" charset="-122"/>
                <a:cs typeface="Cambria" pitchFamily="34" charset="-120"/>
              </a:rPr>
              <a:t>T1</a:t>
            </a:r>
            <a:endParaRPr lang="en-US" sz="2600" dirty="0"/>
          </a:p>
        </p:txBody>
      </p:sp>
      <p:sp>
        <p:nvSpPr>
          <p:cNvPr id="14" name="T1 event"/>
          <p:cNvSpPr txBox="1"/>
          <p:nvPr/>
        </p:nvSpPr>
        <p:spPr>
          <a:xfrm>
            <a:off x="3611880" y="2697480"/>
            <a:ext cx="2103120" cy="1188720"/>
          </a:xfrm>
          <a:prstGeom prst="rect">
            <a:avLst/>
          </a:prstGeom>
          <a:noFill/>
          <a:ln/>
        </p:spPr>
        <p:txBody>
          <a:bodyPr wrap="square" lIns="0" tIns="0" rIns="0" bIns="0" rtlCol="0" anchor="t"/>
          <a:lstStyle/>
          <a:p>
            <a:pPr indent="0" marL="0">
              <a:buNone/>
            </a:pPr>
            <a:r>
              <a:rPr lang="en-US" sz="1600" b="1" dirty="0">
                <a:solidFill>
                  <a:schemeClr val="tx1"/>
                </a:solidFill>
              </a:rPr>
              <a:t>Unusual authentication and signalling</a:t>
            </a:r>
            <a:endParaRPr lang="en-US" sz="1600" dirty="0"/>
          </a:p>
        </p:txBody>
      </p:sp>
      <p:sp>
        <p:nvSpPr>
          <p:cNvPr id="15" name="T1 legal effect"/>
          <p:cNvSpPr txBox="1"/>
          <p:nvPr/>
        </p:nvSpPr>
        <p:spPr>
          <a:xfrm>
            <a:off x="3611880" y="3794760"/>
            <a:ext cx="2103120" cy="1280160"/>
          </a:xfrm>
          <a:prstGeom prst="rect">
            <a:avLst/>
          </a:prstGeom>
          <a:noFill/>
          <a:ln/>
        </p:spPr>
        <p:txBody>
          <a:bodyPr wrap="square" lIns="0" tIns="0" rIns="0" bIns="0" rtlCol="0" anchor="t"/>
          <a:lstStyle/>
          <a:p>
            <a:pPr indent="0" marL="0">
              <a:buNone/>
            </a:pPr>
            <a:r>
              <a:rPr lang="en-US" sz="1400" dirty="0">
                <a:solidFill>
                  <a:schemeClr val="tx2"/>
                </a:solidFill>
              </a:rPr>
              <a:t>Possible cyber incident: CERT-In and DoT clocks of 6 hours start</a:t>
            </a:r>
            <a:endParaRPr lang="en-US" sz="1400" dirty="0"/>
          </a:p>
        </p:txBody>
      </p:sp>
      <p:sp>
        <p:nvSpPr>
          <p:cNvPr id="16" name="Arrow 2"/>
          <p:cNvSpPr/>
          <p:nvPr/>
        </p:nvSpPr>
        <p:spPr>
          <a:xfrm>
            <a:off x="5971032" y="3429000"/>
            <a:ext cx="219456" cy="274320"/>
          </a:xfrm>
          <a:prstGeom prst="rightArrow">
            <a:avLst/>
          </a:prstGeom>
          <a:solidFill>
            <a:srgbClr val="F29F05"/>
          </a:solidFill>
          <a:ln w="12700">
            <a:solidFill>
              <a:srgbClr val="F29F05"/>
            </a:solidFill>
            <a:prstDash val="solid"/>
          </a:ln>
        </p:spPr>
      </p:sp>
      <p:sp>
        <p:nvSpPr>
          <p:cNvPr id="17" name="T2 card"/>
          <p:cNvSpPr/>
          <p:nvPr/>
        </p:nvSpPr>
        <p:spPr>
          <a:xfrm>
            <a:off x="6217920" y="1463040"/>
            <a:ext cx="2560320" cy="3749040"/>
          </a:xfrm>
          <a:prstGeom prst="roundRect">
            <a:avLst>
              <a:gd name="adj" fmla="val 4286"/>
            </a:avLst>
          </a:prstGeom>
          <a:solidFill>
            <a:schemeClr val="bg2"/>
          </a:solidFill>
          <a:ln w="12700">
            <a:solidFill>
              <a:schemeClr val="bg2"/>
            </a:solidFill>
            <a:prstDash val="solid"/>
          </a:ln>
          <a:effectLst>
            <a:outerShdw sx="100000" sy="100000" kx="0" ky="0" algn="bl" rotWithShape="0" blurRad="76200" dist="25400" dir="5400000">
              <a:srgbClr val="14213D">
                <a:alpha val="12000"/>
              </a:srgbClr>
            </a:outerShdw>
          </a:effectLst>
        </p:spPr>
      </p:sp>
      <p:sp>
        <p:nvSpPr>
          <p:cNvPr id="18" name="T2 circle"/>
          <p:cNvSpPr/>
          <p:nvPr/>
        </p:nvSpPr>
        <p:spPr>
          <a:xfrm>
            <a:off x="6446520" y="1737360"/>
            <a:ext cx="731520" cy="731520"/>
          </a:xfrm>
          <a:prstGeom prst="ellipse">
            <a:avLst/>
          </a:prstGeom>
          <a:solidFill>
            <a:srgbClr val="14213D"/>
          </a:solidFill>
          <a:ln w="12700">
            <a:solidFill>
              <a:srgbClr val="14213D"/>
            </a:solidFill>
            <a:prstDash val="solid"/>
          </a:ln>
        </p:spPr>
      </p:sp>
      <p:pic>
        <p:nvPicPr>
          <p:cNvPr id="19" name="T2 icon" descr="preencoded.png">    </p:cNvPr>
          <p:cNvPicPr>
            <a:picLocks noChangeAspect="1"/>
          </p:cNvPicPr>
          <p:nvPr/>
        </p:nvPicPr>
        <p:blipFill>
          <a:blip r:embed="rId3"/>
          <a:stretch>
            <a:fillRect/>
          </a:stretch>
        </p:blipFill>
        <p:spPr>
          <a:xfrm>
            <a:off x="6629400" y="1920240"/>
            <a:ext cx="365760" cy="365760"/>
          </a:xfrm>
          <a:prstGeom prst="rect">
            <a:avLst/>
          </a:prstGeom>
        </p:spPr>
      </p:pic>
      <p:sp>
        <p:nvSpPr>
          <p:cNvPr id="20" name="T2 label"/>
          <p:cNvSpPr txBox="1"/>
          <p:nvPr/>
        </p:nvSpPr>
        <p:spPr>
          <a:xfrm>
            <a:off x="7315200" y="1847088"/>
            <a:ext cx="1280160" cy="502920"/>
          </a:xfrm>
          <a:prstGeom prst="rect">
            <a:avLst/>
          </a:prstGeom>
          <a:noFill/>
          <a:ln/>
        </p:spPr>
        <p:txBody>
          <a:bodyPr wrap="square" lIns="0" tIns="0" rIns="0" bIns="0" rtlCol="0" anchor="t"/>
          <a:lstStyle/>
          <a:p>
            <a:pPr indent="0" marL="0">
              <a:buNone/>
            </a:pPr>
            <a:r>
              <a:rPr lang="en-US" sz="2600" b="1" dirty="0">
                <a:solidFill>
                  <a:schemeClr val="tx1"/>
                </a:solidFill>
                <a:latin typeface="Cambria" pitchFamily="34" charset="0"/>
                <a:ea typeface="Cambria" pitchFamily="34" charset="-122"/>
                <a:cs typeface="Cambria" pitchFamily="34" charset="-120"/>
              </a:rPr>
              <a:t>T2</a:t>
            </a:r>
            <a:endParaRPr lang="en-US" sz="2600" dirty="0"/>
          </a:p>
        </p:txBody>
      </p:sp>
      <p:sp>
        <p:nvSpPr>
          <p:cNvPr id="21" name="T2 event"/>
          <p:cNvSpPr txBox="1"/>
          <p:nvPr/>
        </p:nvSpPr>
        <p:spPr>
          <a:xfrm>
            <a:off x="6446520" y="2697480"/>
            <a:ext cx="2103120" cy="1188720"/>
          </a:xfrm>
          <a:prstGeom prst="rect">
            <a:avLst/>
          </a:prstGeom>
          <a:noFill/>
          <a:ln/>
        </p:spPr>
        <p:txBody>
          <a:bodyPr wrap="square" lIns="0" tIns="0" rIns="0" bIns="0" rtlCol="0" anchor="t"/>
          <a:lstStyle/>
          <a:p>
            <a:pPr indent="0" marL="0">
              <a:buNone/>
            </a:pPr>
            <a:r>
              <a:rPr lang="en-US" sz="1600" b="1" dirty="0">
                <a:solidFill>
                  <a:schemeClr val="tx1"/>
                </a:solidFill>
              </a:rPr>
              <a:t>The slice carries ICU patient telemetry</a:t>
            </a:r>
            <a:endParaRPr lang="en-US" sz="1600" dirty="0"/>
          </a:p>
        </p:txBody>
      </p:sp>
      <p:sp>
        <p:nvSpPr>
          <p:cNvPr id="22" name="T2 legal effect"/>
          <p:cNvSpPr txBox="1"/>
          <p:nvPr/>
        </p:nvSpPr>
        <p:spPr>
          <a:xfrm>
            <a:off x="6446520" y="3794760"/>
            <a:ext cx="2103120" cy="1280160"/>
          </a:xfrm>
          <a:prstGeom prst="rect">
            <a:avLst/>
          </a:prstGeom>
          <a:noFill/>
          <a:ln/>
        </p:spPr>
        <p:txBody>
          <a:bodyPr wrap="square" lIns="0" tIns="0" rIns="0" bIns="0" rtlCol="0" anchor="t"/>
          <a:lstStyle/>
          <a:p>
            <a:pPr indent="0" marL="0">
              <a:buNone/>
            </a:pPr>
            <a:r>
              <a:rPr lang="en-US" sz="1400" dirty="0">
                <a:solidFill>
                  <a:schemeClr val="tx2"/>
                </a:solidFill>
              </a:rPr>
              <a:t>Personal data (DPDP Act and Rules) and a possibly critical service</a:t>
            </a:r>
            <a:endParaRPr lang="en-US" sz="1400" dirty="0"/>
          </a:p>
        </p:txBody>
      </p:sp>
      <p:sp>
        <p:nvSpPr>
          <p:cNvPr id="23" name="Arrow 3"/>
          <p:cNvSpPr/>
          <p:nvPr/>
        </p:nvSpPr>
        <p:spPr>
          <a:xfrm>
            <a:off x="8805672" y="3429000"/>
            <a:ext cx="219456" cy="274320"/>
          </a:xfrm>
          <a:prstGeom prst="rightArrow">
            <a:avLst/>
          </a:prstGeom>
          <a:solidFill>
            <a:srgbClr val="F29F05"/>
          </a:solidFill>
          <a:ln w="12700">
            <a:solidFill>
              <a:srgbClr val="F29F05"/>
            </a:solidFill>
            <a:prstDash val="solid"/>
          </a:ln>
        </p:spPr>
      </p:sp>
      <p:sp>
        <p:nvSpPr>
          <p:cNvPr id="24" name="T3 card"/>
          <p:cNvSpPr/>
          <p:nvPr/>
        </p:nvSpPr>
        <p:spPr>
          <a:xfrm>
            <a:off x="9052560" y="1463040"/>
            <a:ext cx="2560320" cy="3749040"/>
          </a:xfrm>
          <a:prstGeom prst="roundRect">
            <a:avLst>
              <a:gd name="adj" fmla="val 4286"/>
            </a:avLst>
          </a:prstGeom>
          <a:solidFill>
            <a:schemeClr val="bg2"/>
          </a:solidFill>
          <a:ln w="12700">
            <a:solidFill>
              <a:schemeClr val="bg2"/>
            </a:solidFill>
            <a:prstDash val="solid"/>
          </a:ln>
          <a:effectLst>
            <a:outerShdw sx="100000" sy="100000" kx="0" ky="0" algn="bl" rotWithShape="0" blurRad="76200" dist="25400" dir="5400000">
              <a:srgbClr val="14213D">
                <a:alpha val="12000"/>
              </a:srgbClr>
            </a:outerShdw>
          </a:effectLst>
        </p:spPr>
      </p:sp>
      <p:sp>
        <p:nvSpPr>
          <p:cNvPr id="25" name="T3 circle"/>
          <p:cNvSpPr/>
          <p:nvPr/>
        </p:nvSpPr>
        <p:spPr>
          <a:xfrm>
            <a:off x="9281160" y="1737360"/>
            <a:ext cx="731520" cy="731520"/>
          </a:xfrm>
          <a:prstGeom prst="ellipse">
            <a:avLst/>
          </a:prstGeom>
          <a:solidFill>
            <a:srgbClr val="F29F05"/>
          </a:solidFill>
          <a:ln w="12700">
            <a:solidFill>
              <a:srgbClr val="F29F05"/>
            </a:solidFill>
            <a:prstDash val="solid"/>
          </a:ln>
        </p:spPr>
      </p:sp>
      <p:pic>
        <p:nvPicPr>
          <p:cNvPr id="26" name="T3 icon" descr="preencoded.png">    </p:cNvPr>
          <p:cNvPicPr>
            <a:picLocks noChangeAspect="1"/>
          </p:cNvPicPr>
          <p:nvPr/>
        </p:nvPicPr>
        <p:blipFill>
          <a:blip r:embed="rId4"/>
          <a:stretch>
            <a:fillRect/>
          </a:stretch>
        </p:blipFill>
        <p:spPr>
          <a:xfrm>
            <a:off x="9464040" y="1920240"/>
            <a:ext cx="365760" cy="365760"/>
          </a:xfrm>
          <a:prstGeom prst="rect">
            <a:avLst/>
          </a:prstGeom>
        </p:spPr>
      </p:pic>
      <p:sp>
        <p:nvSpPr>
          <p:cNvPr id="27" name="T3 label"/>
          <p:cNvSpPr txBox="1"/>
          <p:nvPr/>
        </p:nvSpPr>
        <p:spPr>
          <a:xfrm>
            <a:off x="10149840" y="1847088"/>
            <a:ext cx="1280160" cy="502920"/>
          </a:xfrm>
          <a:prstGeom prst="rect">
            <a:avLst/>
          </a:prstGeom>
          <a:noFill/>
          <a:ln/>
        </p:spPr>
        <p:txBody>
          <a:bodyPr wrap="square" lIns="0" tIns="0" rIns="0" bIns="0" rtlCol="0" anchor="t"/>
          <a:lstStyle/>
          <a:p>
            <a:pPr indent="0" marL="0">
              <a:buNone/>
            </a:pPr>
            <a:r>
              <a:rPr lang="en-US" sz="2600" b="1" dirty="0">
                <a:solidFill>
                  <a:schemeClr val="tx1"/>
                </a:solidFill>
                <a:latin typeface="Cambria" pitchFamily="34" charset="0"/>
                <a:ea typeface="Cambria" pitchFamily="34" charset="-122"/>
                <a:cs typeface="Cambria" pitchFamily="34" charset="-120"/>
              </a:rPr>
              <a:t>T3</a:t>
            </a:r>
            <a:endParaRPr lang="en-US" sz="2600" dirty="0"/>
          </a:p>
        </p:txBody>
      </p:sp>
      <p:sp>
        <p:nvSpPr>
          <p:cNvPr id="28" name="T3 event"/>
          <p:cNvSpPr txBox="1"/>
          <p:nvPr/>
        </p:nvSpPr>
        <p:spPr>
          <a:xfrm>
            <a:off x="9281160" y="2697480"/>
            <a:ext cx="2103120" cy="1188720"/>
          </a:xfrm>
          <a:prstGeom prst="rect">
            <a:avLst/>
          </a:prstGeom>
          <a:noFill/>
          <a:ln/>
        </p:spPr>
        <p:txBody>
          <a:bodyPr wrap="square" lIns="0" tIns="0" rIns="0" bIns="0" rtlCol="0" anchor="t"/>
          <a:lstStyle/>
          <a:p>
            <a:pPr indent="0" marL="0">
              <a:buNone/>
            </a:pPr>
            <a:r>
              <a:rPr lang="en-US" sz="1600" b="1" dirty="0">
                <a:solidFill>
                  <a:schemeClr val="tx1"/>
                </a:solidFill>
              </a:rPr>
              <a:t>Management: what is due, to whom, by when?</a:t>
            </a:r>
            <a:endParaRPr lang="en-US" sz="1600" dirty="0"/>
          </a:p>
        </p:txBody>
      </p:sp>
      <p:sp>
        <p:nvSpPr>
          <p:cNvPr id="29" name="T3 legal effect"/>
          <p:cNvSpPr txBox="1"/>
          <p:nvPr/>
        </p:nvSpPr>
        <p:spPr>
          <a:xfrm>
            <a:off x="9281160" y="3794760"/>
            <a:ext cx="2103120" cy="1280160"/>
          </a:xfrm>
          <a:prstGeom prst="rect">
            <a:avLst/>
          </a:prstGeom>
          <a:noFill/>
          <a:ln/>
        </p:spPr>
        <p:txBody>
          <a:bodyPr wrap="square" lIns="0" tIns="0" rIns="0" bIns="0" rtlCol="0" anchor="t"/>
          <a:lstStyle/>
          <a:p>
            <a:pPr indent="0" marL="0">
              <a:buNone/>
            </a:pPr>
            <a:r>
              <a:rPr lang="en-US" sz="1400" dirty="0">
                <a:solidFill>
                  <a:schemeClr val="tx2"/>
                </a:solidFill>
              </a:rPr>
              <a:t>One answer needed within hours, across four or more instruments</a:t>
            </a:r>
            <a:endParaRPr lang="en-US" sz="1400" dirty="0"/>
          </a:p>
        </p:txBody>
      </p:sp>
      <p:sp>
        <p:nvSpPr>
          <p:cNvPr id="30" name="Takeaway"/>
          <p:cNvSpPr txBox="1"/>
          <p:nvPr/>
        </p:nvSpPr>
        <p:spPr>
          <a:xfrm>
            <a:off x="548640" y="5486400"/>
            <a:ext cx="11064240" cy="365760"/>
          </a:xfrm>
          <a:prstGeom prst="rect">
            <a:avLst/>
          </a:prstGeom>
          <a:noFill/>
          <a:ln/>
        </p:spPr>
        <p:txBody>
          <a:bodyPr wrap="square" lIns="0" tIns="0" rIns="0" bIns="0" rtlCol="0" anchor="t"/>
          <a:lstStyle/>
          <a:p>
            <a:pPr indent="0" marL="0">
              <a:buNone/>
            </a:pPr>
            <a:r>
              <a:rPr lang="en-US" sz="1600" i="1" dirty="0">
                <a:solidFill>
                  <a:schemeClr val="accent2"/>
                </a:solidFill>
              </a:rPr>
              <a:t>One answer given at the start cannot follow this. The adviser reassesses at every step.</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What we built, at a glance</a:t>
            </a:r>
            <a:endParaRPr lang="en-US" sz="2800" dirty="0"/>
          </a:p>
        </p:txBody>
      </p:sp>
      <p:sp>
        <p:nvSpPr>
          <p:cNvPr id="3" name="Stat 1"/>
          <p:cNvSpPr/>
          <p:nvPr/>
        </p:nvSpPr>
        <p:spPr>
          <a:xfrm>
            <a:off x="548640" y="1463040"/>
            <a:ext cx="2560320" cy="2651760"/>
          </a:xfrm>
          <a:prstGeom prst="roundRect">
            <a:avLst>
              <a:gd name="adj" fmla="val 4286"/>
            </a:avLst>
          </a:prstGeom>
          <a:solidFill>
            <a:schemeClr val="tx1"/>
          </a:solidFill>
          <a:ln w="12700">
            <a:solidFill>
              <a:schemeClr val="tx1"/>
            </a:solidFill>
            <a:prstDash val="solid"/>
          </a:ln>
          <a:effectLst>
            <a:outerShdw sx="100000" sy="100000" kx="0" ky="0" algn="bl" rotWithShape="0" blurRad="76200" dist="25400" dir="5400000">
              <a:srgbClr val="14213D">
                <a:alpha val="12000"/>
              </a:srgbClr>
            </a:outerShdw>
          </a:effectLst>
        </p:spPr>
      </p:sp>
      <p:sp>
        <p:nvSpPr>
          <p:cNvPr id="4" name="Stat 1 number"/>
          <p:cNvSpPr txBox="1"/>
          <p:nvPr/>
        </p:nvSpPr>
        <p:spPr>
          <a:xfrm>
            <a:off x="777240" y="1645920"/>
            <a:ext cx="2103120" cy="1005840"/>
          </a:xfrm>
          <a:prstGeom prst="rect">
            <a:avLst/>
          </a:prstGeom>
          <a:noFill/>
          <a:ln/>
        </p:spPr>
        <p:txBody>
          <a:bodyPr wrap="square" lIns="0" tIns="0" rIns="0" bIns="0" rtlCol="0" anchor="t"/>
          <a:lstStyle/>
          <a:p>
            <a:pPr indent="0" marL="0">
              <a:buNone/>
            </a:pPr>
            <a:r>
              <a:rPr lang="en-US" sz="6000" b="1" dirty="0">
                <a:solidFill>
                  <a:schemeClr val="accent1"/>
                </a:solidFill>
                <a:latin typeface="Cambria" pitchFamily="34" charset="0"/>
                <a:ea typeface="Cambria" pitchFamily="34" charset="-122"/>
                <a:cs typeface="Cambria" pitchFamily="34" charset="-120"/>
              </a:rPr>
              <a:t>7</a:t>
            </a:r>
            <a:endParaRPr lang="en-US" sz="6000" dirty="0"/>
          </a:p>
        </p:txBody>
      </p:sp>
      <p:sp>
        <p:nvSpPr>
          <p:cNvPr id="5" name="Stat 1 label"/>
          <p:cNvSpPr txBox="1"/>
          <p:nvPr/>
        </p:nvSpPr>
        <p:spPr>
          <a:xfrm>
            <a:off x="777240" y="2743200"/>
            <a:ext cx="2103120" cy="1280160"/>
          </a:xfrm>
          <a:prstGeom prst="rect">
            <a:avLst/>
          </a:prstGeom>
          <a:noFill/>
          <a:ln/>
        </p:spPr>
        <p:txBody>
          <a:bodyPr wrap="square" lIns="0" tIns="0" rIns="0" bIns="0" rtlCol="0" anchor="t"/>
          <a:lstStyle/>
          <a:p>
            <a:pPr indent="0" marL="0">
              <a:buNone/>
            </a:pPr>
            <a:r>
              <a:rPr lang="en-US" sz="1400" dirty="0">
                <a:solidFill>
                  <a:schemeClr val="bg2"/>
                </a:solidFill>
              </a:rPr>
              <a:t>specialist AI agents, each with its own knowledge base and mandate</a:t>
            </a:r>
            <a:endParaRPr lang="en-US" sz="1400" dirty="0"/>
          </a:p>
        </p:txBody>
      </p:sp>
      <p:sp>
        <p:nvSpPr>
          <p:cNvPr id="6" name="Stat 2"/>
          <p:cNvSpPr/>
          <p:nvPr/>
        </p:nvSpPr>
        <p:spPr>
          <a:xfrm>
            <a:off x="3383280" y="1463040"/>
            <a:ext cx="2560320" cy="2651760"/>
          </a:xfrm>
          <a:prstGeom prst="roundRect">
            <a:avLst>
              <a:gd name="adj" fmla="val 4286"/>
            </a:avLst>
          </a:prstGeom>
          <a:solidFill>
            <a:schemeClr val="bg2"/>
          </a:solidFill>
          <a:ln w="12700">
            <a:solidFill>
              <a:schemeClr val="bg2"/>
            </a:solidFill>
            <a:prstDash val="solid"/>
          </a:ln>
          <a:effectLst>
            <a:outerShdw sx="100000" sy="100000" kx="0" ky="0" algn="bl" rotWithShape="0" blurRad="76200" dist="25400" dir="5400000">
              <a:srgbClr val="14213D">
                <a:alpha val="12000"/>
              </a:srgbClr>
            </a:outerShdw>
          </a:effectLst>
        </p:spPr>
      </p:sp>
      <p:sp>
        <p:nvSpPr>
          <p:cNvPr id="7" name="Stat 2 number"/>
          <p:cNvSpPr txBox="1"/>
          <p:nvPr/>
        </p:nvSpPr>
        <p:spPr>
          <a:xfrm>
            <a:off x="3611880" y="1645920"/>
            <a:ext cx="2103120" cy="1005840"/>
          </a:xfrm>
          <a:prstGeom prst="rect">
            <a:avLst/>
          </a:prstGeom>
          <a:noFill/>
          <a:ln/>
        </p:spPr>
        <p:txBody>
          <a:bodyPr wrap="square" lIns="0" tIns="0" rIns="0" bIns="0" rtlCol="0" anchor="t"/>
          <a:lstStyle/>
          <a:p>
            <a:pPr indent="0" marL="0">
              <a:buNone/>
            </a:pPr>
            <a:r>
              <a:rPr lang="en-US" sz="6000" b="1" dirty="0">
                <a:solidFill>
                  <a:schemeClr val="tx1"/>
                </a:solidFill>
                <a:latin typeface="Cambria" pitchFamily="34" charset="0"/>
                <a:ea typeface="Cambria" pitchFamily="34" charset="-122"/>
                <a:cs typeface="Cambria" pitchFamily="34" charset="-120"/>
              </a:rPr>
              <a:t>23</a:t>
            </a:r>
            <a:endParaRPr lang="en-US" sz="6000" dirty="0"/>
          </a:p>
        </p:txBody>
      </p:sp>
      <p:sp>
        <p:nvSpPr>
          <p:cNvPr id="8" name="Stat 2 label"/>
          <p:cNvSpPr txBox="1"/>
          <p:nvPr/>
        </p:nvSpPr>
        <p:spPr>
          <a:xfrm>
            <a:off x="3611880" y="2743200"/>
            <a:ext cx="2103120" cy="1280160"/>
          </a:xfrm>
          <a:prstGeom prst="rect">
            <a:avLst/>
          </a:prstGeom>
          <a:noFill/>
          <a:ln/>
        </p:spPr>
        <p:txBody>
          <a:bodyPr wrap="square" lIns="0" tIns="0" rIns="0" bIns="0" rtlCol="0" anchor="t"/>
          <a:lstStyle/>
          <a:p>
            <a:pPr indent="0" marL="0">
              <a:buNone/>
            </a:pPr>
            <a:r>
              <a:rPr lang="en-US" sz="1400" dirty="0">
                <a:solidFill>
                  <a:schemeClr val="tx2"/>
                </a:solidFill>
              </a:rPr>
              <a:t>official sources in 8 knowledge bases, quoted with document, section and page</a:t>
            </a:r>
            <a:endParaRPr lang="en-US" sz="1400" dirty="0"/>
          </a:p>
        </p:txBody>
      </p:sp>
      <p:sp>
        <p:nvSpPr>
          <p:cNvPr id="9" name="Stat 3"/>
          <p:cNvSpPr/>
          <p:nvPr/>
        </p:nvSpPr>
        <p:spPr>
          <a:xfrm>
            <a:off x="6217920" y="1463040"/>
            <a:ext cx="2560320" cy="2651760"/>
          </a:xfrm>
          <a:prstGeom prst="roundRect">
            <a:avLst>
              <a:gd name="adj" fmla="val 4286"/>
            </a:avLst>
          </a:prstGeom>
          <a:solidFill>
            <a:schemeClr val="bg2"/>
          </a:solidFill>
          <a:ln w="12700">
            <a:solidFill>
              <a:schemeClr val="bg2"/>
            </a:solidFill>
            <a:prstDash val="solid"/>
          </a:ln>
          <a:effectLst>
            <a:outerShdw sx="100000" sy="100000" kx="0" ky="0" algn="bl" rotWithShape="0" blurRad="76200" dist="25400" dir="5400000">
              <a:srgbClr val="14213D">
                <a:alpha val="12000"/>
              </a:srgbClr>
            </a:outerShdw>
          </a:effectLst>
        </p:spPr>
      </p:sp>
      <p:sp>
        <p:nvSpPr>
          <p:cNvPr id="10" name="Stat 3 number"/>
          <p:cNvSpPr txBox="1"/>
          <p:nvPr/>
        </p:nvSpPr>
        <p:spPr>
          <a:xfrm>
            <a:off x="6446520" y="1645920"/>
            <a:ext cx="2103120" cy="1005840"/>
          </a:xfrm>
          <a:prstGeom prst="rect">
            <a:avLst/>
          </a:prstGeom>
          <a:noFill/>
          <a:ln/>
        </p:spPr>
        <p:txBody>
          <a:bodyPr wrap="square" lIns="0" tIns="0" rIns="0" bIns="0" rtlCol="0" anchor="t"/>
          <a:lstStyle/>
          <a:p>
            <a:pPr indent="0" marL="0">
              <a:buNone/>
            </a:pPr>
            <a:r>
              <a:rPr lang="en-US" sz="6000" b="1" dirty="0">
                <a:solidFill>
                  <a:schemeClr val="tx1"/>
                </a:solidFill>
                <a:latin typeface="Cambria" pitchFamily="34" charset="0"/>
                <a:ea typeface="Cambria" pitchFamily="34" charset="-122"/>
                <a:cs typeface="Cambria" pitchFamily="34" charset="-120"/>
              </a:rPr>
              <a:t>4</a:t>
            </a:r>
            <a:endParaRPr lang="en-US" sz="6000" dirty="0"/>
          </a:p>
        </p:txBody>
      </p:sp>
      <p:sp>
        <p:nvSpPr>
          <p:cNvPr id="11" name="Stat 3 label"/>
          <p:cNvSpPr txBox="1"/>
          <p:nvPr/>
        </p:nvSpPr>
        <p:spPr>
          <a:xfrm>
            <a:off x="6446520" y="2743200"/>
            <a:ext cx="2103120" cy="1280160"/>
          </a:xfrm>
          <a:prstGeom prst="rect">
            <a:avLst/>
          </a:prstGeom>
          <a:noFill/>
          <a:ln/>
        </p:spPr>
        <p:txBody>
          <a:bodyPr wrap="square" lIns="0" tIns="0" rIns="0" bIns="0" rtlCol="0" anchor="t"/>
          <a:lstStyle/>
          <a:p>
            <a:pPr indent="0" marL="0">
              <a:buNone/>
            </a:pPr>
            <a:r>
              <a:rPr lang="en-US" sz="1400" dirty="0">
                <a:solidFill>
                  <a:schemeClr val="tx2"/>
                </a:solidFill>
              </a:rPr>
              <a:t>Verifier outcomes for every claim, checked against a separate Canonical KB</a:t>
            </a:r>
            <a:endParaRPr lang="en-US" sz="1400" dirty="0"/>
          </a:p>
        </p:txBody>
      </p:sp>
      <p:sp>
        <p:nvSpPr>
          <p:cNvPr id="12" name="Stat 4"/>
          <p:cNvSpPr/>
          <p:nvPr/>
        </p:nvSpPr>
        <p:spPr>
          <a:xfrm>
            <a:off x="9052560" y="1463040"/>
            <a:ext cx="2560320" cy="2651760"/>
          </a:xfrm>
          <a:prstGeom prst="roundRect">
            <a:avLst>
              <a:gd name="adj" fmla="val 4286"/>
            </a:avLst>
          </a:prstGeom>
          <a:solidFill>
            <a:schemeClr val="bg2"/>
          </a:solidFill>
          <a:ln w="12700">
            <a:solidFill>
              <a:schemeClr val="bg2"/>
            </a:solidFill>
            <a:prstDash val="solid"/>
          </a:ln>
          <a:effectLst>
            <a:outerShdw sx="100000" sy="100000" kx="0" ky="0" algn="bl" rotWithShape="0" blurRad="76200" dist="25400" dir="5400000">
              <a:srgbClr val="14213D">
                <a:alpha val="12000"/>
              </a:srgbClr>
            </a:outerShdw>
          </a:effectLst>
        </p:spPr>
      </p:sp>
      <p:sp>
        <p:nvSpPr>
          <p:cNvPr id="13" name="Stat 4 number"/>
          <p:cNvSpPr txBox="1"/>
          <p:nvPr/>
        </p:nvSpPr>
        <p:spPr>
          <a:xfrm>
            <a:off x="9281160" y="1645920"/>
            <a:ext cx="2103120" cy="1005840"/>
          </a:xfrm>
          <a:prstGeom prst="rect">
            <a:avLst/>
          </a:prstGeom>
          <a:noFill/>
          <a:ln/>
        </p:spPr>
        <p:txBody>
          <a:bodyPr wrap="square" lIns="0" tIns="0" rIns="0" bIns="0" rtlCol="0" anchor="t"/>
          <a:lstStyle/>
          <a:p>
            <a:pPr indent="0" marL="0">
              <a:buNone/>
            </a:pPr>
            <a:r>
              <a:rPr lang="en-US" sz="6000" b="1" dirty="0">
                <a:solidFill>
                  <a:schemeClr val="tx1"/>
                </a:solidFill>
                <a:latin typeface="Cambria" pitchFamily="34" charset="0"/>
                <a:ea typeface="Cambria" pitchFamily="34" charset="-122"/>
                <a:cs typeface="Cambria" pitchFamily="34" charset="-120"/>
              </a:rPr>
              <a:t>13</a:t>
            </a:r>
            <a:endParaRPr lang="en-US" sz="6000" dirty="0"/>
          </a:p>
        </p:txBody>
      </p:sp>
      <p:sp>
        <p:nvSpPr>
          <p:cNvPr id="14" name="Stat 4 label"/>
          <p:cNvSpPr txBox="1"/>
          <p:nvPr/>
        </p:nvSpPr>
        <p:spPr>
          <a:xfrm>
            <a:off x="9281160" y="2743200"/>
            <a:ext cx="2103120" cy="1280160"/>
          </a:xfrm>
          <a:prstGeom prst="rect">
            <a:avLst/>
          </a:prstGeom>
          <a:noFill/>
          <a:ln/>
        </p:spPr>
        <p:txBody>
          <a:bodyPr wrap="square" lIns="0" tIns="0" rIns="0" bIns="0" rtlCol="0" anchor="t"/>
          <a:lstStyle/>
          <a:p>
            <a:pPr indent="0" marL="0">
              <a:buNone/>
            </a:pPr>
            <a:r>
              <a:rPr lang="en-US" sz="1400" dirty="0">
                <a:solidFill>
                  <a:schemeClr val="tx2"/>
                </a:solidFill>
              </a:rPr>
              <a:t>contained 5G attacks in the incident-response lab</a:t>
            </a:r>
            <a:endParaRPr lang="en-US" sz="1400" dirty="0"/>
          </a:p>
        </p:txBody>
      </p:sp>
      <p:sp>
        <p:nvSpPr>
          <p:cNvPr id="15" name="Plus 1 circle"/>
          <p:cNvSpPr/>
          <p:nvPr/>
        </p:nvSpPr>
        <p:spPr>
          <a:xfrm>
            <a:off x="548640" y="4526280"/>
            <a:ext cx="548640" cy="548640"/>
          </a:xfrm>
          <a:prstGeom prst="ellipse">
            <a:avLst/>
          </a:prstGeom>
          <a:solidFill>
            <a:srgbClr val="0F7B6C"/>
          </a:solidFill>
          <a:ln w="12700">
            <a:solidFill>
              <a:srgbClr val="0F7B6C"/>
            </a:solidFill>
            <a:prstDash val="solid"/>
          </a:ln>
        </p:spPr>
      </p:sp>
      <p:pic>
        <p:nvPicPr>
          <p:cNvPr id="16" name="Plus 1 icon" descr="preencoded.png">    </p:cNvPr>
          <p:cNvPicPr>
            <a:picLocks noChangeAspect="1"/>
          </p:cNvPicPr>
          <p:nvPr/>
        </p:nvPicPr>
        <p:blipFill>
          <a:blip r:embed="rId1"/>
          <a:stretch>
            <a:fillRect/>
          </a:stretch>
        </p:blipFill>
        <p:spPr>
          <a:xfrm>
            <a:off x="685800" y="4663440"/>
            <a:ext cx="274320" cy="274320"/>
          </a:xfrm>
          <a:prstGeom prst="rect">
            <a:avLst/>
          </a:prstGeom>
        </p:spPr>
      </p:pic>
      <p:sp>
        <p:nvSpPr>
          <p:cNvPr id="17" name="Plus 1 text"/>
          <p:cNvSpPr txBox="1"/>
          <p:nvPr/>
        </p:nvSpPr>
        <p:spPr>
          <a:xfrm>
            <a:off x="1234440" y="4526280"/>
            <a:ext cx="2926080" cy="822960"/>
          </a:xfrm>
          <a:prstGeom prst="rect">
            <a:avLst/>
          </a:prstGeom>
          <a:noFill/>
          <a:ln/>
        </p:spPr>
        <p:txBody>
          <a:bodyPr wrap="square" lIns="0" tIns="0" rIns="0" bIns="0" rtlCol="0" anchor="ctr"/>
          <a:lstStyle/>
          <a:p>
            <a:pPr indent="0" marL="0">
              <a:buNone/>
            </a:pPr>
            <a:r>
              <a:rPr lang="en-US" sz="1400" dirty="0">
                <a:solidFill>
                  <a:schemeClr val="tx1"/>
                </a:solidFill>
              </a:rPr>
              <a:t>ITU-T Y.3172 ML pipeline, with the adviser as the policy (P) node</a:t>
            </a:r>
            <a:endParaRPr lang="en-US" sz="1400" dirty="0"/>
          </a:p>
        </p:txBody>
      </p:sp>
      <p:sp>
        <p:nvSpPr>
          <p:cNvPr id="18" name="Plus 2 circle"/>
          <p:cNvSpPr/>
          <p:nvPr/>
        </p:nvSpPr>
        <p:spPr>
          <a:xfrm>
            <a:off x="4325112" y="4526280"/>
            <a:ext cx="548640" cy="548640"/>
          </a:xfrm>
          <a:prstGeom prst="ellipse">
            <a:avLst/>
          </a:prstGeom>
          <a:solidFill>
            <a:srgbClr val="0F7B6C"/>
          </a:solidFill>
          <a:ln w="12700">
            <a:solidFill>
              <a:srgbClr val="0F7B6C"/>
            </a:solidFill>
            <a:prstDash val="solid"/>
          </a:ln>
        </p:spPr>
      </p:sp>
      <p:pic>
        <p:nvPicPr>
          <p:cNvPr id="19" name="Plus 2 icon" descr="preencoded.png">    </p:cNvPr>
          <p:cNvPicPr>
            <a:picLocks noChangeAspect="1"/>
          </p:cNvPicPr>
          <p:nvPr/>
        </p:nvPicPr>
        <p:blipFill>
          <a:blip r:embed="rId2"/>
          <a:stretch>
            <a:fillRect/>
          </a:stretch>
        </p:blipFill>
        <p:spPr>
          <a:xfrm>
            <a:off x="4462272" y="4663440"/>
            <a:ext cx="274320" cy="274320"/>
          </a:xfrm>
          <a:prstGeom prst="rect">
            <a:avLst/>
          </a:prstGeom>
        </p:spPr>
      </p:pic>
      <p:sp>
        <p:nvSpPr>
          <p:cNvPr id="20" name="Plus 2 text"/>
          <p:cNvSpPr txBox="1"/>
          <p:nvPr/>
        </p:nvSpPr>
        <p:spPr>
          <a:xfrm>
            <a:off x="5010912" y="4526280"/>
            <a:ext cx="2926080" cy="822960"/>
          </a:xfrm>
          <a:prstGeom prst="rect">
            <a:avLst/>
          </a:prstGeom>
          <a:noFill/>
          <a:ln/>
        </p:spPr>
        <p:txBody>
          <a:bodyPr wrap="square" lIns="0" tIns="0" rIns="0" bIns="0" rtlCol="0" anchor="ctr"/>
          <a:lstStyle/>
          <a:p>
            <a:pPr indent="0" marL="0">
              <a:buNone/>
            </a:pPr>
            <a:r>
              <a:rPr lang="en-US" sz="1400" dirty="0">
                <a:solidFill>
                  <a:schemeClr val="tx1"/>
                </a:solidFill>
              </a:rPr>
              <a:t>Policy-gap register with global and neighbouring-region examples</a:t>
            </a:r>
            <a:endParaRPr lang="en-US" sz="1400" dirty="0"/>
          </a:p>
        </p:txBody>
      </p:sp>
      <p:sp>
        <p:nvSpPr>
          <p:cNvPr id="21" name="Plus 3 circle"/>
          <p:cNvSpPr/>
          <p:nvPr/>
        </p:nvSpPr>
        <p:spPr>
          <a:xfrm>
            <a:off x="8101584" y="4526280"/>
            <a:ext cx="548640" cy="548640"/>
          </a:xfrm>
          <a:prstGeom prst="ellipse">
            <a:avLst/>
          </a:prstGeom>
          <a:solidFill>
            <a:srgbClr val="0F7B6C"/>
          </a:solidFill>
          <a:ln w="12700">
            <a:solidFill>
              <a:srgbClr val="0F7B6C"/>
            </a:solidFill>
            <a:prstDash val="solid"/>
          </a:ln>
        </p:spPr>
      </p:sp>
      <p:pic>
        <p:nvPicPr>
          <p:cNvPr id="22" name="Plus 3 icon" descr="preencoded.png">    </p:cNvPr>
          <p:cNvPicPr>
            <a:picLocks noChangeAspect="1"/>
          </p:cNvPicPr>
          <p:nvPr/>
        </p:nvPicPr>
        <p:blipFill>
          <a:blip r:embed="rId3"/>
          <a:stretch>
            <a:fillRect/>
          </a:stretch>
        </p:blipFill>
        <p:spPr>
          <a:xfrm>
            <a:off x="8238744" y="4663440"/>
            <a:ext cx="274320" cy="274320"/>
          </a:xfrm>
          <a:prstGeom prst="rect">
            <a:avLst/>
          </a:prstGeom>
        </p:spPr>
      </p:pic>
      <p:sp>
        <p:nvSpPr>
          <p:cNvPr id="23" name="Plus 3 text"/>
          <p:cNvSpPr txBox="1"/>
          <p:nvPr/>
        </p:nvSpPr>
        <p:spPr>
          <a:xfrm>
            <a:off x="8787384" y="4526280"/>
            <a:ext cx="2926080" cy="822960"/>
          </a:xfrm>
          <a:prstGeom prst="rect">
            <a:avLst/>
          </a:prstGeom>
          <a:noFill/>
          <a:ln/>
        </p:spPr>
        <p:txBody>
          <a:bodyPr wrap="square" lIns="0" tIns="0" rIns="0" bIns="0" rtlCol="0" anchor="ctr"/>
          <a:lstStyle/>
          <a:p>
            <a:pPr indent="0" marL="0">
              <a:buNone/>
            </a:pPr>
            <a:r>
              <a:rPr lang="en-US" sz="1400" dirty="0">
                <a:solidFill>
                  <a:schemeClr val="tx1"/>
                </a:solidFill>
              </a:rPr>
              <a:t>Hash-chained audit trail, replay and re-execution</a:t>
            </a:r>
            <a:endParaRPr lang="en-US" sz="1400" dirty="0"/>
          </a:p>
        </p:txBody>
      </p:sp>
      <p:sp>
        <p:nvSpPr>
          <p:cNvPr id="24" name="Cost note"/>
          <p:cNvSpPr txBox="1"/>
          <p:nvPr/>
        </p:nvSpPr>
        <p:spPr>
          <a:xfrm>
            <a:off x="548640" y="5669280"/>
            <a:ext cx="11064240" cy="365760"/>
          </a:xfrm>
          <a:prstGeom prst="rect">
            <a:avLst/>
          </a:prstGeom>
          <a:noFill/>
          <a:ln/>
        </p:spPr>
        <p:txBody>
          <a:bodyPr wrap="square" lIns="0" tIns="0" rIns="0" bIns="0" rtlCol="0" anchor="t"/>
          <a:lstStyle/>
          <a:p>
            <a:pPr indent="0" marL="0">
              <a:buNone/>
            </a:pPr>
            <a:r>
              <a:rPr lang="en-US" sz="1400" i="1" dirty="0">
                <a:solidFill>
                  <a:schemeClr val="accent4"/>
                </a:solidFill>
              </a:rPr>
              <a:t>Runs locally and free of cost: Python, open embeddings (BAAI bge-small), optional local LLM via Ollama.</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Agents quote, a separate Verifier checks, the Coordinator assembles</a:t>
            </a:r>
            <a:endParaRPr lang="en-US" sz="2800" dirty="0"/>
          </a:p>
        </p:txBody>
      </p:sp>
      <p:sp>
        <p:nvSpPr>
          <p:cNvPr id="3" name="Scenario chunk box"/>
          <p:cNvSpPr/>
          <p:nvPr/>
        </p:nvSpPr>
        <p:spPr>
          <a:xfrm>
            <a:off x="548640" y="1508760"/>
            <a:ext cx="2011680" cy="2743200"/>
          </a:xfrm>
          <a:prstGeom prst="roundRect">
            <a:avLst>
              <a:gd name="adj" fmla="val 5455"/>
            </a:avLst>
          </a:prstGeom>
          <a:solidFill>
            <a:schemeClr val="bg2"/>
          </a:solidFill>
          <a:ln w="12700">
            <a:solidFill>
              <a:schemeClr val="bg2"/>
            </a:solidFill>
            <a:prstDash val="solid"/>
          </a:ln>
          <a:effectLst>
            <a:outerShdw sx="100000" sy="100000" kx="0" ky="0" algn="bl" rotWithShape="0" blurRad="76200" dist="25400" dir="5400000">
              <a:srgbClr val="14213D">
                <a:alpha val="12000"/>
              </a:srgbClr>
            </a:outerShdw>
          </a:effectLst>
        </p:spPr>
      </p:sp>
      <p:sp>
        <p:nvSpPr>
          <p:cNvPr id="4" name="Scenario chunk circle"/>
          <p:cNvSpPr/>
          <p:nvPr/>
        </p:nvSpPr>
        <p:spPr>
          <a:xfrm>
            <a:off x="1234440" y="1691640"/>
            <a:ext cx="640080" cy="640080"/>
          </a:xfrm>
          <a:prstGeom prst="ellipse">
            <a:avLst/>
          </a:prstGeom>
          <a:solidFill>
            <a:srgbClr val="14213D"/>
          </a:solidFill>
          <a:ln w="12700">
            <a:solidFill>
              <a:srgbClr val="14213D"/>
            </a:solidFill>
            <a:prstDash val="solid"/>
          </a:ln>
        </p:spPr>
      </p:sp>
      <p:pic>
        <p:nvPicPr>
          <p:cNvPr id="5" name="Scenario chunk icon" descr="preencoded.png">    </p:cNvPr>
          <p:cNvPicPr>
            <a:picLocks noChangeAspect="1"/>
          </p:cNvPicPr>
          <p:nvPr/>
        </p:nvPicPr>
        <p:blipFill>
          <a:blip r:embed="rId1"/>
          <a:stretch>
            <a:fillRect/>
          </a:stretch>
        </p:blipFill>
        <p:spPr>
          <a:xfrm>
            <a:off x="1394460" y="1851660"/>
            <a:ext cx="320040" cy="320040"/>
          </a:xfrm>
          <a:prstGeom prst="rect">
            <a:avLst/>
          </a:prstGeom>
        </p:spPr>
      </p:pic>
      <p:sp>
        <p:nvSpPr>
          <p:cNvPr id="6" name="Scenario chunk title"/>
          <p:cNvSpPr txBox="1"/>
          <p:nvPr/>
        </p:nvSpPr>
        <p:spPr>
          <a:xfrm>
            <a:off x="685800" y="2468880"/>
            <a:ext cx="1737360" cy="548640"/>
          </a:xfrm>
          <a:prstGeom prst="rect">
            <a:avLst/>
          </a:prstGeom>
          <a:noFill/>
          <a:ln/>
        </p:spPr>
        <p:txBody>
          <a:bodyPr wrap="square" lIns="0" tIns="0" rIns="0" bIns="0" rtlCol="0" anchor="t"/>
          <a:lstStyle/>
          <a:p>
            <a:pPr algn="ctr" indent="0" marL="0">
              <a:buNone/>
            </a:pPr>
            <a:r>
              <a:rPr lang="en-US" sz="1600" b="1" dirty="0">
                <a:solidFill>
                  <a:schemeClr val="tx1"/>
                </a:solidFill>
              </a:rPr>
              <a:t>Scenario chunk</a:t>
            </a:r>
            <a:endParaRPr lang="en-US" sz="1600" dirty="0"/>
          </a:p>
        </p:txBody>
      </p:sp>
      <p:sp>
        <p:nvSpPr>
          <p:cNvPr id="7" name="Scenario chunk text"/>
          <p:cNvSpPr txBox="1"/>
          <p:nvPr/>
        </p:nvSpPr>
        <p:spPr>
          <a:xfrm>
            <a:off x="685800" y="3017520"/>
            <a:ext cx="1737360" cy="1143000"/>
          </a:xfrm>
          <a:prstGeom prst="rect">
            <a:avLst/>
          </a:prstGeom>
          <a:noFill/>
          <a:ln/>
        </p:spPr>
        <p:txBody>
          <a:bodyPr wrap="square" lIns="0" tIns="0" rIns="0" bIns="0" rtlCol="0" anchor="t"/>
          <a:lstStyle/>
          <a:p>
            <a:pPr algn="ctr" indent="0" marL="0">
              <a:buNone/>
            </a:pPr>
            <a:r>
              <a:rPr lang="en-US" sz="1200" dirty="0">
                <a:solidFill>
                  <a:schemeClr val="tx2"/>
                </a:solidFill>
              </a:rPr>
              <a:t>T0 → T3, released one at a time; some facts go to one agent only</a:t>
            </a:r>
            <a:endParaRPr lang="en-US" sz="1200" dirty="0"/>
          </a:p>
        </p:txBody>
      </p:sp>
      <p:sp>
        <p:nvSpPr>
          <p:cNvPr id="8" name="Flow arrow 1"/>
          <p:cNvSpPr/>
          <p:nvPr/>
        </p:nvSpPr>
        <p:spPr>
          <a:xfrm>
            <a:off x="2578608" y="2743200"/>
            <a:ext cx="237744" cy="274320"/>
          </a:xfrm>
          <a:prstGeom prst="rightArrow">
            <a:avLst/>
          </a:prstGeom>
          <a:solidFill>
            <a:srgbClr val="F29F05"/>
          </a:solidFill>
          <a:ln w="12700">
            <a:solidFill>
              <a:srgbClr val="F29F05"/>
            </a:solidFill>
            <a:prstDash val="solid"/>
          </a:ln>
        </p:spPr>
      </p:sp>
      <p:sp>
        <p:nvSpPr>
          <p:cNvPr id="9" name="Swarm Orchestrator box"/>
          <p:cNvSpPr/>
          <p:nvPr/>
        </p:nvSpPr>
        <p:spPr>
          <a:xfrm>
            <a:off x="2834640" y="1508760"/>
            <a:ext cx="2011680" cy="2743200"/>
          </a:xfrm>
          <a:prstGeom prst="roundRect">
            <a:avLst>
              <a:gd name="adj" fmla="val 5455"/>
            </a:avLst>
          </a:prstGeom>
          <a:solidFill>
            <a:schemeClr val="bg2"/>
          </a:solidFill>
          <a:ln w="12700">
            <a:solidFill>
              <a:schemeClr val="bg2"/>
            </a:solidFill>
            <a:prstDash val="solid"/>
          </a:ln>
          <a:effectLst>
            <a:outerShdw sx="100000" sy="100000" kx="0" ky="0" algn="bl" rotWithShape="0" blurRad="76200" dist="25400" dir="5400000">
              <a:srgbClr val="14213D">
                <a:alpha val="12000"/>
              </a:srgbClr>
            </a:outerShdw>
          </a:effectLst>
        </p:spPr>
      </p:sp>
      <p:sp>
        <p:nvSpPr>
          <p:cNvPr id="10" name="Swarm Orchestrator circle"/>
          <p:cNvSpPr/>
          <p:nvPr/>
        </p:nvSpPr>
        <p:spPr>
          <a:xfrm>
            <a:off x="3520440" y="1691640"/>
            <a:ext cx="640080" cy="640080"/>
          </a:xfrm>
          <a:prstGeom prst="ellipse">
            <a:avLst/>
          </a:prstGeom>
          <a:solidFill>
            <a:srgbClr val="14213D"/>
          </a:solidFill>
          <a:ln w="12700">
            <a:solidFill>
              <a:srgbClr val="14213D"/>
            </a:solidFill>
            <a:prstDash val="solid"/>
          </a:ln>
        </p:spPr>
      </p:sp>
      <p:pic>
        <p:nvPicPr>
          <p:cNvPr id="11" name="Swarm Orchestrator icon" descr="preencoded.png">    </p:cNvPr>
          <p:cNvPicPr>
            <a:picLocks noChangeAspect="1"/>
          </p:cNvPicPr>
          <p:nvPr/>
        </p:nvPicPr>
        <p:blipFill>
          <a:blip r:embed="rId2"/>
          <a:stretch>
            <a:fillRect/>
          </a:stretch>
        </p:blipFill>
        <p:spPr>
          <a:xfrm>
            <a:off x="3680460" y="1851660"/>
            <a:ext cx="320040" cy="320040"/>
          </a:xfrm>
          <a:prstGeom prst="rect">
            <a:avLst/>
          </a:prstGeom>
        </p:spPr>
      </p:pic>
      <p:sp>
        <p:nvSpPr>
          <p:cNvPr id="12" name="Swarm Orchestrator title"/>
          <p:cNvSpPr txBox="1"/>
          <p:nvPr/>
        </p:nvSpPr>
        <p:spPr>
          <a:xfrm>
            <a:off x="2971800" y="2468880"/>
            <a:ext cx="1737360" cy="548640"/>
          </a:xfrm>
          <a:prstGeom prst="rect">
            <a:avLst/>
          </a:prstGeom>
          <a:noFill/>
          <a:ln/>
        </p:spPr>
        <p:txBody>
          <a:bodyPr wrap="square" lIns="0" tIns="0" rIns="0" bIns="0" rtlCol="0" anchor="t"/>
          <a:lstStyle/>
          <a:p>
            <a:pPr algn="ctr" indent="0" marL="0">
              <a:buNone/>
            </a:pPr>
            <a:r>
              <a:rPr lang="en-US" sz="1600" b="1" dirty="0">
                <a:solidFill>
                  <a:schemeClr val="tx1"/>
                </a:solidFill>
              </a:rPr>
              <a:t>Swarm Orchestrator</a:t>
            </a:r>
            <a:endParaRPr lang="en-US" sz="1600" dirty="0"/>
          </a:p>
        </p:txBody>
      </p:sp>
      <p:sp>
        <p:nvSpPr>
          <p:cNvPr id="13" name="Swarm Orchestrator text"/>
          <p:cNvSpPr txBox="1"/>
          <p:nvPr/>
        </p:nvSpPr>
        <p:spPr>
          <a:xfrm>
            <a:off x="2971800" y="3017520"/>
            <a:ext cx="1737360" cy="1143000"/>
          </a:xfrm>
          <a:prstGeom prst="rect">
            <a:avLst/>
          </a:prstGeom>
          <a:noFill/>
          <a:ln/>
        </p:spPr>
        <p:txBody>
          <a:bodyPr wrap="square" lIns="0" tIns="0" rIns="0" bIns="0" rtlCol="0" anchor="t"/>
          <a:lstStyle/>
          <a:p>
            <a:pPr algn="ctr" indent="0" marL="0">
              <a:buNone/>
            </a:pPr>
            <a:r>
              <a:rPr lang="en-US" sz="1200" dirty="0">
                <a:solidFill>
                  <a:schemeClr val="tx2"/>
                </a:solidFill>
              </a:rPr>
              <a:t>Wakes the agents the revealed facts call for</a:t>
            </a:r>
            <a:endParaRPr lang="en-US" sz="1200" dirty="0"/>
          </a:p>
        </p:txBody>
      </p:sp>
      <p:sp>
        <p:nvSpPr>
          <p:cNvPr id="14" name="Flow arrow 2"/>
          <p:cNvSpPr/>
          <p:nvPr/>
        </p:nvSpPr>
        <p:spPr>
          <a:xfrm>
            <a:off x="4864608" y="2743200"/>
            <a:ext cx="237744" cy="274320"/>
          </a:xfrm>
          <a:prstGeom prst="rightArrow">
            <a:avLst/>
          </a:prstGeom>
          <a:solidFill>
            <a:srgbClr val="F29F05"/>
          </a:solidFill>
          <a:ln w="12700">
            <a:solidFill>
              <a:srgbClr val="F29F05"/>
            </a:solidFill>
            <a:prstDash val="solid"/>
          </a:ln>
        </p:spPr>
      </p:sp>
      <p:sp>
        <p:nvSpPr>
          <p:cNvPr id="15" name="7 specialist agents box"/>
          <p:cNvSpPr/>
          <p:nvPr/>
        </p:nvSpPr>
        <p:spPr>
          <a:xfrm>
            <a:off x="5120640" y="1508760"/>
            <a:ext cx="2011680" cy="2743200"/>
          </a:xfrm>
          <a:prstGeom prst="roundRect">
            <a:avLst>
              <a:gd name="adj" fmla="val 5455"/>
            </a:avLst>
          </a:prstGeom>
          <a:solidFill>
            <a:schemeClr val="tx1"/>
          </a:solidFill>
          <a:ln w="12700">
            <a:solidFill>
              <a:schemeClr val="tx1"/>
            </a:solidFill>
            <a:prstDash val="solid"/>
          </a:ln>
          <a:effectLst>
            <a:outerShdw sx="100000" sy="100000" kx="0" ky="0" algn="bl" rotWithShape="0" blurRad="76200" dist="25400" dir="5400000">
              <a:srgbClr val="14213D">
                <a:alpha val="12000"/>
              </a:srgbClr>
            </a:outerShdw>
          </a:effectLst>
        </p:spPr>
      </p:sp>
      <p:sp>
        <p:nvSpPr>
          <p:cNvPr id="16" name="7 specialist agents circle"/>
          <p:cNvSpPr/>
          <p:nvPr/>
        </p:nvSpPr>
        <p:spPr>
          <a:xfrm>
            <a:off x="5806440" y="1691640"/>
            <a:ext cx="640080" cy="640080"/>
          </a:xfrm>
          <a:prstGeom prst="ellipse">
            <a:avLst/>
          </a:prstGeom>
          <a:solidFill>
            <a:srgbClr val="F29F05"/>
          </a:solidFill>
          <a:ln w="12700">
            <a:solidFill>
              <a:srgbClr val="F29F05"/>
            </a:solidFill>
            <a:prstDash val="solid"/>
          </a:ln>
        </p:spPr>
      </p:sp>
      <p:pic>
        <p:nvPicPr>
          <p:cNvPr id="17" name="7 specialist agents icon" descr="preencoded.png">    </p:cNvPr>
          <p:cNvPicPr>
            <a:picLocks noChangeAspect="1"/>
          </p:cNvPicPr>
          <p:nvPr/>
        </p:nvPicPr>
        <p:blipFill>
          <a:blip r:embed="rId3"/>
          <a:stretch>
            <a:fillRect/>
          </a:stretch>
        </p:blipFill>
        <p:spPr>
          <a:xfrm>
            <a:off x="5966460" y="1851660"/>
            <a:ext cx="320040" cy="320040"/>
          </a:xfrm>
          <a:prstGeom prst="rect">
            <a:avLst/>
          </a:prstGeom>
        </p:spPr>
      </p:pic>
      <p:sp>
        <p:nvSpPr>
          <p:cNvPr id="18" name="7 specialist agents title"/>
          <p:cNvSpPr txBox="1"/>
          <p:nvPr/>
        </p:nvSpPr>
        <p:spPr>
          <a:xfrm>
            <a:off x="5257800" y="2468880"/>
            <a:ext cx="1737360" cy="548640"/>
          </a:xfrm>
          <a:prstGeom prst="rect">
            <a:avLst/>
          </a:prstGeom>
          <a:noFill/>
          <a:ln/>
        </p:spPr>
        <p:txBody>
          <a:bodyPr wrap="square" lIns="0" tIns="0" rIns="0" bIns="0" rtlCol="0" anchor="t"/>
          <a:lstStyle/>
          <a:p>
            <a:pPr algn="ctr" indent="0" marL="0">
              <a:buNone/>
            </a:pPr>
            <a:r>
              <a:rPr lang="en-US" sz="1600" b="1" dirty="0">
                <a:solidFill>
                  <a:schemeClr val="bg1"/>
                </a:solidFill>
              </a:rPr>
              <a:t>7 specialist agents</a:t>
            </a:r>
            <a:endParaRPr lang="en-US" sz="1600" dirty="0"/>
          </a:p>
        </p:txBody>
      </p:sp>
      <p:sp>
        <p:nvSpPr>
          <p:cNvPr id="19" name="7 specialist agents text"/>
          <p:cNvSpPr txBox="1"/>
          <p:nvPr/>
        </p:nvSpPr>
        <p:spPr>
          <a:xfrm>
            <a:off x="5257800" y="3017520"/>
            <a:ext cx="1737360" cy="1143000"/>
          </a:xfrm>
          <a:prstGeom prst="rect">
            <a:avLst/>
          </a:prstGeom>
          <a:noFill/>
          <a:ln/>
        </p:spPr>
        <p:txBody>
          <a:bodyPr wrap="square" lIns="0" tIns="0" rIns="0" bIns="0" rtlCol="0" anchor="t"/>
          <a:lstStyle/>
          <a:p>
            <a:pPr algn="ctr" indent="0" marL="0">
              <a:buNone/>
            </a:pPr>
            <a:r>
              <a:rPr lang="en-US" sz="1200" dirty="0">
                <a:solidFill>
                  <a:schemeClr val="bg2"/>
                </a:solidFill>
              </a:rPr>
              <a:t>RAG over their own KB; quote document, section, page</a:t>
            </a:r>
            <a:endParaRPr lang="en-US" sz="1200" dirty="0"/>
          </a:p>
        </p:txBody>
      </p:sp>
      <p:sp>
        <p:nvSpPr>
          <p:cNvPr id="20" name="Flow arrow 3"/>
          <p:cNvSpPr/>
          <p:nvPr/>
        </p:nvSpPr>
        <p:spPr>
          <a:xfrm>
            <a:off x="7150608" y="2743200"/>
            <a:ext cx="237744" cy="274320"/>
          </a:xfrm>
          <a:prstGeom prst="rightArrow">
            <a:avLst/>
          </a:prstGeom>
          <a:solidFill>
            <a:srgbClr val="F29F05"/>
          </a:solidFill>
          <a:ln w="12700">
            <a:solidFill>
              <a:srgbClr val="F29F05"/>
            </a:solidFill>
            <a:prstDash val="solid"/>
          </a:ln>
        </p:spPr>
      </p:sp>
      <p:sp>
        <p:nvSpPr>
          <p:cNvPr id="21" name="Verifier box"/>
          <p:cNvSpPr/>
          <p:nvPr/>
        </p:nvSpPr>
        <p:spPr>
          <a:xfrm>
            <a:off x="7406640" y="1508760"/>
            <a:ext cx="2011680" cy="2743200"/>
          </a:xfrm>
          <a:prstGeom prst="roundRect">
            <a:avLst>
              <a:gd name="adj" fmla="val 5455"/>
            </a:avLst>
          </a:prstGeom>
          <a:solidFill>
            <a:schemeClr val="bg2"/>
          </a:solidFill>
          <a:ln w="12700">
            <a:solidFill>
              <a:schemeClr val="bg2"/>
            </a:solidFill>
            <a:prstDash val="solid"/>
          </a:ln>
          <a:effectLst>
            <a:outerShdw sx="100000" sy="100000" kx="0" ky="0" algn="bl" rotWithShape="0" blurRad="76200" dist="25400" dir="5400000">
              <a:srgbClr val="14213D">
                <a:alpha val="12000"/>
              </a:srgbClr>
            </a:outerShdw>
          </a:effectLst>
        </p:spPr>
      </p:sp>
      <p:sp>
        <p:nvSpPr>
          <p:cNvPr id="22" name="Verifier circle"/>
          <p:cNvSpPr/>
          <p:nvPr/>
        </p:nvSpPr>
        <p:spPr>
          <a:xfrm>
            <a:off x="8092440" y="1691640"/>
            <a:ext cx="640080" cy="640080"/>
          </a:xfrm>
          <a:prstGeom prst="ellipse">
            <a:avLst/>
          </a:prstGeom>
          <a:solidFill>
            <a:srgbClr val="14213D"/>
          </a:solidFill>
          <a:ln w="12700">
            <a:solidFill>
              <a:srgbClr val="14213D"/>
            </a:solidFill>
            <a:prstDash val="solid"/>
          </a:ln>
        </p:spPr>
      </p:sp>
      <p:pic>
        <p:nvPicPr>
          <p:cNvPr id="23" name="Verifier icon" descr="preencoded.png">    </p:cNvPr>
          <p:cNvPicPr>
            <a:picLocks noChangeAspect="1"/>
          </p:cNvPicPr>
          <p:nvPr/>
        </p:nvPicPr>
        <p:blipFill>
          <a:blip r:embed="rId4"/>
          <a:stretch>
            <a:fillRect/>
          </a:stretch>
        </p:blipFill>
        <p:spPr>
          <a:xfrm>
            <a:off x="8252460" y="1851660"/>
            <a:ext cx="320040" cy="320040"/>
          </a:xfrm>
          <a:prstGeom prst="rect">
            <a:avLst/>
          </a:prstGeom>
        </p:spPr>
      </p:pic>
      <p:sp>
        <p:nvSpPr>
          <p:cNvPr id="24" name="Verifier title"/>
          <p:cNvSpPr txBox="1"/>
          <p:nvPr/>
        </p:nvSpPr>
        <p:spPr>
          <a:xfrm>
            <a:off x="7543800" y="2468880"/>
            <a:ext cx="1737360" cy="548640"/>
          </a:xfrm>
          <a:prstGeom prst="rect">
            <a:avLst/>
          </a:prstGeom>
          <a:noFill/>
          <a:ln/>
        </p:spPr>
        <p:txBody>
          <a:bodyPr wrap="square" lIns="0" tIns="0" rIns="0" bIns="0" rtlCol="0" anchor="t"/>
          <a:lstStyle/>
          <a:p>
            <a:pPr algn="ctr" indent="0" marL="0">
              <a:buNone/>
            </a:pPr>
            <a:r>
              <a:rPr lang="en-US" sz="1600" b="1" dirty="0">
                <a:solidFill>
                  <a:schemeClr val="tx1"/>
                </a:solidFill>
              </a:rPr>
              <a:t>Verifier</a:t>
            </a:r>
            <a:endParaRPr lang="en-US" sz="1600" dirty="0"/>
          </a:p>
        </p:txBody>
      </p:sp>
      <p:sp>
        <p:nvSpPr>
          <p:cNvPr id="25" name="Verifier text"/>
          <p:cNvSpPr txBox="1"/>
          <p:nvPr/>
        </p:nvSpPr>
        <p:spPr>
          <a:xfrm>
            <a:off x="7543800" y="3017520"/>
            <a:ext cx="1737360" cy="1143000"/>
          </a:xfrm>
          <a:prstGeom prst="rect">
            <a:avLst/>
          </a:prstGeom>
          <a:noFill/>
          <a:ln/>
        </p:spPr>
        <p:txBody>
          <a:bodyPr wrap="square" lIns="0" tIns="0" rIns="0" bIns="0" rtlCol="0" anchor="t"/>
          <a:lstStyle/>
          <a:p>
            <a:pPr algn="ctr" indent="0" marL="0">
              <a:buNone/>
            </a:pPr>
            <a:r>
              <a:rPr lang="en-US" sz="1200" dirty="0">
                <a:solidFill>
                  <a:schemeClr val="tx2"/>
                </a:solidFill>
              </a:rPr>
              <a:t>Checks each claim against the separate Canonical KB</a:t>
            </a:r>
            <a:endParaRPr lang="en-US" sz="1200" dirty="0"/>
          </a:p>
        </p:txBody>
      </p:sp>
      <p:sp>
        <p:nvSpPr>
          <p:cNvPr id="26" name="Flow arrow 4"/>
          <p:cNvSpPr/>
          <p:nvPr/>
        </p:nvSpPr>
        <p:spPr>
          <a:xfrm>
            <a:off x="9436608" y="2743200"/>
            <a:ext cx="237744" cy="274320"/>
          </a:xfrm>
          <a:prstGeom prst="rightArrow">
            <a:avLst/>
          </a:prstGeom>
          <a:solidFill>
            <a:srgbClr val="F29F05"/>
          </a:solidFill>
          <a:ln w="12700">
            <a:solidFill>
              <a:srgbClr val="F29F05"/>
            </a:solidFill>
            <a:prstDash val="solid"/>
          </a:ln>
        </p:spPr>
      </p:sp>
      <p:sp>
        <p:nvSpPr>
          <p:cNvPr id="27" name="Coordinator box"/>
          <p:cNvSpPr/>
          <p:nvPr/>
        </p:nvSpPr>
        <p:spPr>
          <a:xfrm>
            <a:off x="9692640" y="1508760"/>
            <a:ext cx="2011680" cy="2743200"/>
          </a:xfrm>
          <a:prstGeom prst="roundRect">
            <a:avLst>
              <a:gd name="adj" fmla="val 5455"/>
            </a:avLst>
          </a:prstGeom>
          <a:solidFill>
            <a:schemeClr val="bg2"/>
          </a:solidFill>
          <a:ln w="12700">
            <a:solidFill>
              <a:schemeClr val="bg2"/>
            </a:solidFill>
            <a:prstDash val="solid"/>
          </a:ln>
          <a:effectLst>
            <a:outerShdw sx="100000" sy="100000" kx="0" ky="0" algn="bl" rotWithShape="0" blurRad="76200" dist="25400" dir="5400000">
              <a:srgbClr val="14213D">
                <a:alpha val="12000"/>
              </a:srgbClr>
            </a:outerShdw>
          </a:effectLst>
        </p:spPr>
      </p:sp>
      <p:sp>
        <p:nvSpPr>
          <p:cNvPr id="28" name="Coordinator circle"/>
          <p:cNvSpPr/>
          <p:nvPr/>
        </p:nvSpPr>
        <p:spPr>
          <a:xfrm>
            <a:off x="10378440" y="1691640"/>
            <a:ext cx="640080" cy="640080"/>
          </a:xfrm>
          <a:prstGeom prst="ellipse">
            <a:avLst/>
          </a:prstGeom>
          <a:solidFill>
            <a:srgbClr val="14213D"/>
          </a:solidFill>
          <a:ln w="12700">
            <a:solidFill>
              <a:srgbClr val="14213D"/>
            </a:solidFill>
            <a:prstDash val="solid"/>
          </a:ln>
        </p:spPr>
      </p:sp>
      <p:pic>
        <p:nvPicPr>
          <p:cNvPr id="29" name="Coordinator icon" descr="preencoded.png">    </p:cNvPr>
          <p:cNvPicPr>
            <a:picLocks noChangeAspect="1"/>
          </p:cNvPicPr>
          <p:nvPr/>
        </p:nvPicPr>
        <p:blipFill>
          <a:blip r:embed="rId5"/>
          <a:stretch>
            <a:fillRect/>
          </a:stretch>
        </p:blipFill>
        <p:spPr>
          <a:xfrm>
            <a:off x="10538460" y="1851660"/>
            <a:ext cx="320040" cy="320040"/>
          </a:xfrm>
          <a:prstGeom prst="rect">
            <a:avLst/>
          </a:prstGeom>
        </p:spPr>
      </p:pic>
      <p:sp>
        <p:nvSpPr>
          <p:cNvPr id="30" name="Coordinator title"/>
          <p:cNvSpPr txBox="1"/>
          <p:nvPr/>
        </p:nvSpPr>
        <p:spPr>
          <a:xfrm>
            <a:off x="9829800" y="2468880"/>
            <a:ext cx="1737360" cy="548640"/>
          </a:xfrm>
          <a:prstGeom prst="rect">
            <a:avLst/>
          </a:prstGeom>
          <a:noFill/>
          <a:ln/>
        </p:spPr>
        <p:txBody>
          <a:bodyPr wrap="square" lIns="0" tIns="0" rIns="0" bIns="0" rtlCol="0" anchor="t"/>
          <a:lstStyle/>
          <a:p>
            <a:pPr algn="ctr" indent="0" marL="0">
              <a:buNone/>
            </a:pPr>
            <a:r>
              <a:rPr lang="en-US" sz="1600" b="1" dirty="0">
                <a:solidFill>
                  <a:schemeClr val="tx1"/>
                </a:solidFill>
              </a:rPr>
              <a:t>Coordinator</a:t>
            </a:r>
            <a:endParaRPr lang="en-US" sz="1600" dirty="0"/>
          </a:p>
        </p:txBody>
      </p:sp>
      <p:sp>
        <p:nvSpPr>
          <p:cNvPr id="31" name="Coordinator text"/>
          <p:cNvSpPr txBox="1"/>
          <p:nvPr/>
        </p:nvSpPr>
        <p:spPr>
          <a:xfrm>
            <a:off x="9829800" y="3017520"/>
            <a:ext cx="1737360" cy="1143000"/>
          </a:xfrm>
          <a:prstGeom prst="rect">
            <a:avLst/>
          </a:prstGeom>
          <a:noFill/>
          <a:ln/>
        </p:spPr>
        <p:txBody>
          <a:bodyPr wrap="square" lIns="0" tIns="0" rIns="0" bIns="0" rtlCol="0" anchor="t"/>
          <a:lstStyle/>
          <a:p>
            <a:pPr algn="ctr" indent="0" marL="0">
              <a:buNone/>
            </a:pPr>
            <a:r>
              <a:rPr lang="en-US" sz="1200" dirty="0">
                <a:solidFill>
                  <a:schemeClr val="tx2"/>
                </a:solidFill>
              </a:rPr>
              <a:t>Facts · uncertain · conflicts · gaps · cross-domain links</a:t>
            </a:r>
            <a:endParaRPr lang="en-US" sz="1200" dirty="0"/>
          </a:p>
        </p:txBody>
      </p:sp>
      <p:sp>
        <p:nvSpPr>
          <p:cNvPr id="32" name="Agents heading"/>
          <p:cNvSpPr txBox="1"/>
          <p:nvPr/>
        </p:nvSpPr>
        <p:spPr>
          <a:xfrm>
            <a:off x="548640" y="4526280"/>
            <a:ext cx="3657600" cy="320040"/>
          </a:xfrm>
          <a:prstGeom prst="rect">
            <a:avLst/>
          </a:prstGeom>
          <a:noFill/>
          <a:ln/>
        </p:spPr>
        <p:txBody>
          <a:bodyPr wrap="square" lIns="0" tIns="0" rIns="0" bIns="0" rtlCol="0" anchor="t"/>
          <a:lstStyle/>
          <a:p>
            <a:pPr indent="0" marL="0">
              <a:buNone/>
            </a:pPr>
            <a:r>
              <a:rPr lang="en-US" sz="1400" b="1" dirty="0">
                <a:solidFill>
                  <a:schemeClr val="tx1"/>
                </a:solidFill>
              </a:rPr>
              <a:t>The seven agents</a:t>
            </a:r>
            <a:endParaRPr lang="en-US" sz="1400" dirty="0"/>
          </a:p>
        </p:txBody>
      </p:sp>
      <p:sp>
        <p:nvSpPr>
          <p:cNvPr id="33" name="Agent chip Technical"/>
          <p:cNvSpPr/>
          <p:nvPr/>
        </p:nvSpPr>
        <p:spPr>
          <a:xfrm>
            <a:off x="548640" y="4892040"/>
            <a:ext cx="1184148" cy="411480"/>
          </a:xfrm>
          <a:prstGeom prst="roundRect">
            <a:avLst>
              <a:gd name="adj" fmla="val 44444"/>
            </a:avLst>
          </a:prstGeom>
          <a:solidFill>
            <a:schemeClr val="accent2"/>
          </a:solidFill>
          <a:ln w="12700">
            <a:solidFill>
              <a:schemeClr val="accent2"/>
            </a:solidFill>
            <a:prstDash val="solid"/>
          </a:ln>
        </p:spPr>
      </p:sp>
      <p:sp>
        <p:nvSpPr>
          <p:cNvPr id="34" name="Agent Technical"/>
          <p:cNvSpPr txBox="1"/>
          <p:nvPr/>
        </p:nvSpPr>
        <p:spPr>
          <a:xfrm>
            <a:off x="548640" y="4892040"/>
            <a:ext cx="1184148" cy="411480"/>
          </a:xfrm>
          <a:prstGeom prst="rect">
            <a:avLst/>
          </a:prstGeom>
          <a:noFill/>
          <a:ln/>
        </p:spPr>
        <p:txBody>
          <a:bodyPr wrap="square" lIns="0" tIns="0" rIns="0" bIns="0" rtlCol="0" anchor="ctr"/>
          <a:lstStyle/>
          <a:p>
            <a:pPr algn="ctr" indent="0" marL="0">
              <a:buNone/>
            </a:pPr>
            <a:r>
              <a:rPr lang="en-US" sz="1300" dirty="0">
                <a:solidFill>
                  <a:schemeClr val="bg1"/>
                </a:solidFill>
              </a:rPr>
              <a:t>Technical</a:t>
            </a:r>
            <a:endParaRPr lang="en-US" sz="1300" dirty="0"/>
          </a:p>
        </p:txBody>
      </p:sp>
      <p:sp>
        <p:nvSpPr>
          <p:cNvPr id="35" name="Agent chip Policy &amp; Legal"/>
          <p:cNvSpPr/>
          <p:nvPr/>
        </p:nvSpPr>
        <p:spPr>
          <a:xfrm>
            <a:off x="1869948" y="4892040"/>
            <a:ext cx="1664208" cy="411480"/>
          </a:xfrm>
          <a:prstGeom prst="roundRect">
            <a:avLst>
              <a:gd name="adj" fmla="val 44444"/>
            </a:avLst>
          </a:prstGeom>
          <a:solidFill>
            <a:schemeClr val="accent2"/>
          </a:solidFill>
          <a:ln w="12700">
            <a:solidFill>
              <a:schemeClr val="accent2"/>
            </a:solidFill>
            <a:prstDash val="solid"/>
          </a:ln>
        </p:spPr>
      </p:sp>
      <p:sp>
        <p:nvSpPr>
          <p:cNvPr id="36" name="Agent Policy &amp;amp; Legal"/>
          <p:cNvSpPr txBox="1"/>
          <p:nvPr/>
        </p:nvSpPr>
        <p:spPr>
          <a:xfrm>
            <a:off x="1869948" y="4892040"/>
            <a:ext cx="1664208" cy="411480"/>
          </a:xfrm>
          <a:prstGeom prst="rect">
            <a:avLst/>
          </a:prstGeom>
          <a:noFill/>
          <a:ln/>
        </p:spPr>
        <p:txBody>
          <a:bodyPr wrap="square" lIns="0" tIns="0" rIns="0" bIns="0" rtlCol="0" anchor="ctr"/>
          <a:lstStyle/>
          <a:p>
            <a:pPr algn="ctr" indent="0" marL="0">
              <a:buNone/>
            </a:pPr>
            <a:r>
              <a:rPr lang="en-US" sz="1300" dirty="0">
                <a:solidFill>
                  <a:schemeClr val="bg1"/>
                </a:solidFill>
              </a:rPr>
              <a:t>Policy &amp; Legal</a:t>
            </a:r>
            <a:endParaRPr lang="en-US" sz="1300" dirty="0"/>
          </a:p>
        </p:txBody>
      </p:sp>
      <p:sp>
        <p:nvSpPr>
          <p:cNvPr id="37" name="Agent chip Cybersecurity"/>
          <p:cNvSpPr/>
          <p:nvPr/>
        </p:nvSpPr>
        <p:spPr>
          <a:xfrm>
            <a:off x="3671316" y="4892040"/>
            <a:ext cx="1568196" cy="411480"/>
          </a:xfrm>
          <a:prstGeom prst="roundRect">
            <a:avLst>
              <a:gd name="adj" fmla="val 44444"/>
            </a:avLst>
          </a:prstGeom>
          <a:solidFill>
            <a:schemeClr val="accent2"/>
          </a:solidFill>
          <a:ln w="12700">
            <a:solidFill>
              <a:schemeClr val="accent2"/>
            </a:solidFill>
            <a:prstDash val="solid"/>
          </a:ln>
        </p:spPr>
      </p:sp>
      <p:sp>
        <p:nvSpPr>
          <p:cNvPr id="38" name="Agent Cybersecurity"/>
          <p:cNvSpPr txBox="1"/>
          <p:nvPr/>
        </p:nvSpPr>
        <p:spPr>
          <a:xfrm>
            <a:off x="3671316" y="4892040"/>
            <a:ext cx="1568196" cy="411480"/>
          </a:xfrm>
          <a:prstGeom prst="rect">
            <a:avLst/>
          </a:prstGeom>
          <a:noFill/>
          <a:ln/>
        </p:spPr>
        <p:txBody>
          <a:bodyPr wrap="square" lIns="0" tIns="0" rIns="0" bIns="0" rtlCol="0" anchor="ctr"/>
          <a:lstStyle/>
          <a:p>
            <a:pPr algn="ctr" indent="0" marL="0">
              <a:buNone/>
            </a:pPr>
            <a:r>
              <a:rPr lang="en-US" sz="1300" dirty="0">
                <a:solidFill>
                  <a:schemeClr val="bg1"/>
                </a:solidFill>
              </a:rPr>
              <a:t>Cybersecurity</a:t>
            </a:r>
            <a:endParaRPr lang="en-US" sz="1300" dirty="0"/>
          </a:p>
        </p:txBody>
      </p:sp>
      <p:sp>
        <p:nvSpPr>
          <p:cNvPr id="39" name="Agent chip Privacy"/>
          <p:cNvSpPr/>
          <p:nvPr/>
        </p:nvSpPr>
        <p:spPr>
          <a:xfrm>
            <a:off x="5376672" y="4892040"/>
            <a:ext cx="992124" cy="411480"/>
          </a:xfrm>
          <a:prstGeom prst="roundRect">
            <a:avLst>
              <a:gd name="adj" fmla="val 44444"/>
            </a:avLst>
          </a:prstGeom>
          <a:solidFill>
            <a:schemeClr val="accent2"/>
          </a:solidFill>
          <a:ln w="12700">
            <a:solidFill>
              <a:schemeClr val="accent2"/>
            </a:solidFill>
            <a:prstDash val="solid"/>
          </a:ln>
        </p:spPr>
      </p:sp>
      <p:sp>
        <p:nvSpPr>
          <p:cNvPr id="40" name="Agent Privacy"/>
          <p:cNvSpPr txBox="1"/>
          <p:nvPr/>
        </p:nvSpPr>
        <p:spPr>
          <a:xfrm>
            <a:off x="5376672" y="4892040"/>
            <a:ext cx="992124" cy="411480"/>
          </a:xfrm>
          <a:prstGeom prst="rect">
            <a:avLst/>
          </a:prstGeom>
          <a:noFill/>
          <a:ln/>
        </p:spPr>
        <p:txBody>
          <a:bodyPr wrap="square" lIns="0" tIns="0" rIns="0" bIns="0" rtlCol="0" anchor="ctr"/>
          <a:lstStyle/>
          <a:p>
            <a:pPr algn="ctr" indent="0" marL="0">
              <a:buNone/>
            </a:pPr>
            <a:r>
              <a:rPr lang="en-US" sz="1300" dirty="0">
                <a:solidFill>
                  <a:schemeClr val="bg1"/>
                </a:solidFill>
              </a:rPr>
              <a:t>Privacy</a:t>
            </a:r>
            <a:endParaRPr lang="en-US" sz="1300" dirty="0"/>
          </a:p>
        </p:txBody>
      </p:sp>
      <p:sp>
        <p:nvSpPr>
          <p:cNvPr id="41" name="Agent chip Critical Infrastructure"/>
          <p:cNvSpPr/>
          <p:nvPr/>
        </p:nvSpPr>
        <p:spPr>
          <a:xfrm>
            <a:off x="6505956" y="4892040"/>
            <a:ext cx="2528316" cy="411480"/>
          </a:xfrm>
          <a:prstGeom prst="roundRect">
            <a:avLst>
              <a:gd name="adj" fmla="val 44444"/>
            </a:avLst>
          </a:prstGeom>
          <a:solidFill>
            <a:schemeClr val="accent2"/>
          </a:solidFill>
          <a:ln w="12700">
            <a:solidFill>
              <a:schemeClr val="accent2"/>
            </a:solidFill>
            <a:prstDash val="solid"/>
          </a:ln>
        </p:spPr>
      </p:sp>
      <p:sp>
        <p:nvSpPr>
          <p:cNvPr id="42" name="Agent Critical Infrastructure"/>
          <p:cNvSpPr txBox="1"/>
          <p:nvPr/>
        </p:nvSpPr>
        <p:spPr>
          <a:xfrm>
            <a:off x="6505956" y="4892040"/>
            <a:ext cx="2528316" cy="411480"/>
          </a:xfrm>
          <a:prstGeom prst="rect">
            <a:avLst/>
          </a:prstGeom>
          <a:noFill/>
          <a:ln/>
        </p:spPr>
        <p:txBody>
          <a:bodyPr wrap="square" lIns="0" tIns="0" rIns="0" bIns="0" rtlCol="0" anchor="ctr"/>
          <a:lstStyle/>
          <a:p>
            <a:pPr algn="ctr" indent="0" marL="0">
              <a:buNone/>
            </a:pPr>
            <a:r>
              <a:rPr lang="en-US" sz="1300" dirty="0">
                <a:solidFill>
                  <a:schemeClr val="bg1"/>
                </a:solidFill>
              </a:rPr>
              <a:t>Critical Infrastructure</a:t>
            </a:r>
            <a:endParaRPr lang="en-US" sz="1300" dirty="0"/>
          </a:p>
        </p:txBody>
      </p:sp>
      <p:sp>
        <p:nvSpPr>
          <p:cNvPr id="43" name="Agent chip Standards"/>
          <p:cNvSpPr/>
          <p:nvPr/>
        </p:nvSpPr>
        <p:spPr>
          <a:xfrm>
            <a:off x="9171432" y="4892040"/>
            <a:ext cx="1184148" cy="411480"/>
          </a:xfrm>
          <a:prstGeom prst="roundRect">
            <a:avLst>
              <a:gd name="adj" fmla="val 44444"/>
            </a:avLst>
          </a:prstGeom>
          <a:solidFill>
            <a:schemeClr val="accent2"/>
          </a:solidFill>
          <a:ln w="12700">
            <a:solidFill>
              <a:schemeClr val="accent2"/>
            </a:solidFill>
            <a:prstDash val="solid"/>
          </a:ln>
        </p:spPr>
      </p:sp>
      <p:sp>
        <p:nvSpPr>
          <p:cNvPr id="44" name="Agent Standards"/>
          <p:cNvSpPr txBox="1"/>
          <p:nvPr/>
        </p:nvSpPr>
        <p:spPr>
          <a:xfrm>
            <a:off x="9171432" y="4892040"/>
            <a:ext cx="1184148" cy="411480"/>
          </a:xfrm>
          <a:prstGeom prst="rect">
            <a:avLst/>
          </a:prstGeom>
          <a:noFill/>
          <a:ln/>
        </p:spPr>
        <p:txBody>
          <a:bodyPr wrap="square" lIns="0" tIns="0" rIns="0" bIns="0" rtlCol="0" anchor="ctr"/>
          <a:lstStyle/>
          <a:p>
            <a:pPr algn="ctr" indent="0" marL="0">
              <a:buNone/>
            </a:pPr>
            <a:r>
              <a:rPr lang="en-US" sz="1300" dirty="0">
                <a:solidFill>
                  <a:schemeClr val="bg1"/>
                </a:solidFill>
              </a:rPr>
              <a:t>Standards</a:t>
            </a:r>
            <a:endParaRPr lang="en-US" sz="1300" dirty="0"/>
          </a:p>
        </p:txBody>
      </p:sp>
      <p:sp>
        <p:nvSpPr>
          <p:cNvPr id="45" name="Agent chip Policy Gap"/>
          <p:cNvSpPr/>
          <p:nvPr/>
        </p:nvSpPr>
        <p:spPr>
          <a:xfrm>
            <a:off x="10492740" y="4892040"/>
            <a:ext cx="1280160" cy="411480"/>
          </a:xfrm>
          <a:prstGeom prst="roundRect">
            <a:avLst>
              <a:gd name="adj" fmla="val 44444"/>
            </a:avLst>
          </a:prstGeom>
          <a:solidFill>
            <a:schemeClr val="accent2"/>
          </a:solidFill>
          <a:ln w="12700">
            <a:solidFill>
              <a:schemeClr val="accent2"/>
            </a:solidFill>
            <a:prstDash val="solid"/>
          </a:ln>
        </p:spPr>
      </p:sp>
      <p:sp>
        <p:nvSpPr>
          <p:cNvPr id="46" name="Agent Policy Gap"/>
          <p:cNvSpPr txBox="1"/>
          <p:nvPr/>
        </p:nvSpPr>
        <p:spPr>
          <a:xfrm>
            <a:off x="10492740" y="4892040"/>
            <a:ext cx="1280160" cy="411480"/>
          </a:xfrm>
          <a:prstGeom prst="rect">
            <a:avLst/>
          </a:prstGeom>
          <a:noFill/>
          <a:ln/>
        </p:spPr>
        <p:txBody>
          <a:bodyPr wrap="square" lIns="0" tIns="0" rIns="0" bIns="0" rtlCol="0" anchor="ctr"/>
          <a:lstStyle/>
          <a:p>
            <a:pPr algn="ctr" indent="0" marL="0">
              <a:buNone/>
            </a:pPr>
            <a:r>
              <a:rPr lang="en-US" sz="1300" dirty="0">
                <a:solidFill>
                  <a:schemeClr val="bg1"/>
                </a:solidFill>
              </a:rPr>
              <a:t>Policy Gap</a:t>
            </a:r>
            <a:endParaRPr lang="en-US" sz="1300" dirty="0"/>
          </a:p>
        </p:txBody>
      </p:sp>
      <p:sp>
        <p:nvSpPr>
          <p:cNvPr id="47" name="Output note"/>
          <p:cNvSpPr txBox="1"/>
          <p:nvPr/>
        </p:nvSpPr>
        <p:spPr>
          <a:xfrm>
            <a:off x="548640" y="5577840"/>
            <a:ext cx="11064240" cy="457200"/>
          </a:xfrm>
          <a:prstGeom prst="rect">
            <a:avLst/>
          </a:prstGeom>
          <a:noFill/>
          <a:ln/>
        </p:spPr>
        <p:txBody>
          <a:bodyPr wrap="square" lIns="0" tIns="0" rIns="0" bIns="0" rtlCol="0" anchor="t"/>
          <a:lstStyle/>
          <a:p>
            <a:pPr indent="0" marL="0">
              <a:buNone/>
            </a:pPr>
            <a:r>
              <a:rPr lang="en-US" sz="1400" i="1" dirty="0">
                <a:solidFill>
                  <a:schemeClr val="accent4"/>
                </a:solidFill>
              </a:rPr>
              <a:t>Output: an assessment per stage + an append-only audit entry. Standards are always labelled “reference only — not Indian law”.</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Every claim is checked against a separate authoritative source</a:t>
            </a:r>
            <a:endParaRPr lang="en-US" sz="2800" dirty="0"/>
          </a:p>
        </p:txBody>
      </p:sp>
      <p:sp>
        <p:nvSpPr>
          <p:cNvPr id="3" name="VERIFIED card"/>
          <p:cNvSpPr/>
          <p:nvPr/>
        </p:nvSpPr>
        <p:spPr>
          <a:xfrm>
            <a:off x="548640" y="1417320"/>
            <a:ext cx="6949440" cy="868680"/>
          </a:xfrm>
          <a:prstGeom prst="roundRect">
            <a:avLst>
              <a:gd name="adj" fmla="val 12632"/>
            </a:avLst>
          </a:prstGeom>
          <a:solidFill>
            <a:schemeClr val="bg2"/>
          </a:solidFill>
          <a:ln w="12700">
            <a:solidFill>
              <a:schemeClr val="bg2"/>
            </a:solidFill>
            <a:prstDash val="solid"/>
          </a:ln>
          <a:effectLst>
            <a:outerShdw sx="100000" sy="100000" kx="0" ky="0" algn="bl" rotWithShape="0" blurRad="76200" dist="25400" dir="5400000">
              <a:srgbClr val="14213D">
                <a:alpha val="12000"/>
              </a:srgbClr>
            </a:outerShdw>
          </a:effectLst>
        </p:spPr>
      </p:sp>
      <p:sp>
        <p:nvSpPr>
          <p:cNvPr id="4" name="VERIFIED circle"/>
          <p:cNvSpPr/>
          <p:nvPr/>
        </p:nvSpPr>
        <p:spPr>
          <a:xfrm>
            <a:off x="731520" y="1554480"/>
            <a:ext cx="594360" cy="594360"/>
          </a:xfrm>
          <a:prstGeom prst="ellipse">
            <a:avLst/>
          </a:prstGeom>
          <a:solidFill>
            <a:srgbClr val="2E7D32"/>
          </a:solidFill>
          <a:ln w="12700">
            <a:solidFill>
              <a:srgbClr val="2E7D32"/>
            </a:solidFill>
            <a:prstDash val="solid"/>
          </a:ln>
        </p:spPr>
      </p:sp>
      <p:pic>
        <p:nvPicPr>
          <p:cNvPr id="5" name="VERIFIED icon" descr="preencoded.png">    </p:cNvPr>
          <p:cNvPicPr>
            <a:picLocks noChangeAspect="1"/>
          </p:cNvPicPr>
          <p:nvPr/>
        </p:nvPicPr>
        <p:blipFill>
          <a:blip r:embed="rId1"/>
          <a:stretch>
            <a:fillRect/>
          </a:stretch>
        </p:blipFill>
        <p:spPr>
          <a:xfrm>
            <a:off x="880110" y="1703070"/>
            <a:ext cx="297180" cy="297180"/>
          </a:xfrm>
          <a:prstGeom prst="rect">
            <a:avLst/>
          </a:prstGeom>
        </p:spPr>
      </p:pic>
      <p:sp>
        <p:nvSpPr>
          <p:cNvPr id="6" name="VERIFIED name"/>
          <p:cNvSpPr txBox="1"/>
          <p:nvPr/>
        </p:nvSpPr>
        <p:spPr>
          <a:xfrm>
            <a:off x="1508760" y="1545336"/>
            <a:ext cx="2011680" cy="594360"/>
          </a:xfrm>
          <a:prstGeom prst="rect">
            <a:avLst/>
          </a:prstGeom>
          <a:noFill/>
          <a:ln/>
        </p:spPr>
        <p:txBody>
          <a:bodyPr wrap="square" lIns="0" tIns="0" rIns="0" bIns="0" rtlCol="0" anchor="ctr"/>
          <a:lstStyle/>
          <a:p>
            <a:pPr indent="0" marL="0">
              <a:buNone/>
            </a:pPr>
            <a:r>
              <a:rPr lang="en-US" sz="1800" b="1" dirty="0">
                <a:solidFill>
                  <a:schemeClr val="accent5"/>
                </a:solidFill>
              </a:rPr>
              <a:t>VERIFIED</a:t>
            </a:r>
            <a:endParaRPr lang="en-US" sz="1800" dirty="0"/>
          </a:p>
        </p:txBody>
      </p:sp>
      <p:sp>
        <p:nvSpPr>
          <p:cNvPr id="7" name="VERIFIED meaning"/>
          <p:cNvSpPr txBox="1"/>
          <p:nvPr/>
        </p:nvSpPr>
        <p:spPr>
          <a:xfrm>
            <a:off x="3520440" y="1545336"/>
            <a:ext cx="3840480" cy="640080"/>
          </a:xfrm>
          <a:prstGeom prst="rect">
            <a:avLst/>
          </a:prstGeom>
          <a:noFill/>
          <a:ln/>
        </p:spPr>
        <p:txBody>
          <a:bodyPr wrap="square" lIns="0" tIns="0" rIns="0" bIns="0" rtlCol="0" anchor="ctr"/>
          <a:lstStyle/>
          <a:p>
            <a:pPr indent="0" marL="0">
              <a:buNone/>
            </a:pPr>
            <a:r>
              <a:rPr lang="en-US" sz="1300" dirty="0">
                <a:solidFill>
                  <a:schemeClr val="tx2"/>
                </a:solidFill>
              </a:rPr>
              <a:t>The text supports it, the provision is in force, and amendments were checked</a:t>
            </a:r>
            <a:endParaRPr lang="en-US" sz="1300" dirty="0"/>
          </a:p>
        </p:txBody>
      </p:sp>
      <p:sp>
        <p:nvSpPr>
          <p:cNvPr id="8" name="INCOMPLETE card"/>
          <p:cNvSpPr/>
          <p:nvPr/>
        </p:nvSpPr>
        <p:spPr>
          <a:xfrm>
            <a:off x="548640" y="2441448"/>
            <a:ext cx="6949440" cy="868680"/>
          </a:xfrm>
          <a:prstGeom prst="roundRect">
            <a:avLst>
              <a:gd name="adj" fmla="val 12632"/>
            </a:avLst>
          </a:prstGeom>
          <a:solidFill>
            <a:schemeClr val="bg2"/>
          </a:solidFill>
          <a:ln w="12700">
            <a:solidFill>
              <a:schemeClr val="bg2"/>
            </a:solidFill>
            <a:prstDash val="solid"/>
          </a:ln>
          <a:effectLst>
            <a:outerShdw sx="100000" sy="100000" kx="0" ky="0" algn="bl" rotWithShape="0" blurRad="76200" dist="25400" dir="5400000">
              <a:srgbClr val="14213D">
                <a:alpha val="12000"/>
              </a:srgbClr>
            </a:outerShdw>
          </a:effectLst>
        </p:spPr>
      </p:sp>
      <p:sp>
        <p:nvSpPr>
          <p:cNvPr id="9" name="INCOMPLETE circle"/>
          <p:cNvSpPr/>
          <p:nvPr/>
        </p:nvSpPr>
        <p:spPr>
          <a:xfrm>
            <a:off x="731520" y="2578608"/>
            <a:ext cx="594360" cy="594360"/>
          </a:xfrm>
          <a:prstGeom prst="ellipse">
            <a:avLst/>
          </a:prstGeom>
          <a:solidFill>
            <a:srgbClr val="8A5A00"/>
          </a:solidFill>
          <a:ln w="12700">
            <a:solidFill>
              <a:srgbClr val="8A5A00"/>
            </a:solidFill>
            <a:prstDash val="solid"/>
          </a:ln>
        </p:spPr>
      </p:sp>
      <p:pic>
        <p:nvPicPr>
          <p:cNvPr id="10" name="INCOMPLETE icon" descr="preencoded.png">    </p:cNvPr>
          <p:cNvPicPr>
            <a:picLocks noChangeAspect="1"/>
          </p:cNvPicPr>
          <p:nvPr/>
        </p:nvPicPr>
        <p:blipFill>
          <a:blip r:embed="rId2"/>
          <a:stretch>
            <a:fillRect/>
          </a:stretch>
        </p:blipFill>
        <p:spPr>
          <a:xfrm>
            <a:off x="880110" y="2727198"/>
            <a:ext cx="297180" cy="297180"/>
          </a:xfrm>
          <a:prstGeom prst="rect">
            <a:avLst/>
          </a:prstGeom>
        </p:spPr>
      </p:pic>
      <p:sp>
        <p:nvSpPr>
          <p:cNvPr id="11" name="INCOMPLETE name"/>
          <p:cNvSpPr txBox="1"/>
          <p:nvPr/>
        </p:nvSpPr>
        <p:spPr>
          <a:xfrm>
            <a:off x="1508760" y="2569464"/>
            <a:ext cx="2011680" cy="594360"/>
          </a:xfrm>
          <a:prstGeom prst="rect">
            <a:avLst/>
          </a:prstGeom>
          <a:noFill/>
          <a:ln/>
        </p:spPr>
        <p:txBody>
          <a:bodyPr wrap="square" lIns="0" tIns="0" rIns="0" bIns="0" rtlCol="0" anchor="ctr"/>
          <a:lstStyle/>
          <a:p>
            <a:pPr indent="0" marL="0">
              <a:buNone/>
            </a:pPr>
            <a:r>
              <a:rPr lang="en-US" sz="1800" b="1" dirty="0">
                <a:solidFill>
                  <a:schemeClr val="accent6"/>
                </a:solidFill>
              </a:rPr>
              <a:t>INCOMPLETE</a:t>
            </a:r>
            <a:endParaRPr lang="en-US" sz="1800" dirty="0"/>
          </a:p>
        </p:txBody>
      </p:sp>
      <p:sp>
        <p:nvSpPr>
          <p:cNvPr id="12" name="INCOMPLETE meaning"/>
          <p:cNvSpPr txBox="1"/>
          <p:nvPr/>
        </p:nvSpPr>
        <p:spPr>
          <a:xfrm>
            <a:off x="3520440" y="2569464"/>
            <a:ext cx="3840480" cy="640080"/>
          </a:xfrm>
          <a:prstGeom prst="rect">
            <a:avLst/>
          </a:prstGeom>
          <a:noFill/>
          <a:ln/>
        </p:spPr>
        <p:txBody>
          <a:bodyPr wrap="square" lIns="0" tIns="0" rIns="0" bIns="0" rtlCol="0" anchor="ctr"/>
          <a:lstStyle/>
          <a:p>
            <a:pPr indent="0" marL="0">
              <a:buNone/>
            </a:pPr>
            <a:r>
              <a:rPr lang="en-US" sz="1300" dirty="0">
                <a:solidFill>
                  <a:schemeClr val="tx2"/>
                </a:solidFill>
              </a:rPr>
              <a:t>The text supports it, but in-force or amendment status is not confirmed</a:t>
            </a:r>
            <a:endParaRPr lang="en-US" sz="1300" dirty="0"/>
          </a:p>
        </p:txBody>
      </p:sp>
      <p:sp>
        <p:nvSpPr>
          <p:cNvPr id="13" name="UNSUPPORTED card"/>
          <p:cNvSpPr/>
          <p:nvPr/>
        </p:nvSpPr>
        <p:spPr>
          <a:xfrm>
            <a:off x="548640" y="3465576"/>
            <a:ext cx="6949440" cy="868680"/>
          </a:xfrm>
          <a:prstGeom prst="roundRect">
            <a:avLst>
              <a:gd name="adj" fmla="val 12632"/>
            </a:avLst>
          </a:prstGeom>
          <a:solidFill>
            <a:schemeClr val="bg2"/>
          </a:solidFill>
          <a:ln w="12700">
            <a:solidFill>
              <a:schemeClr val="bg2"/>
            </a:solidFill>
            <a:prstDash val="solid"/>
          </a:ln>
          <a:effectLst>
            <a:outerShdw sx="100000" sy="100000" kx="0" ky="0" algn="bl" rotWithShape="0" blurRad="76200" dist="25400" dir="5400000">
              <a:srgbClr val="14213D">
                <a:alpha val="12000"/>
              </a:srgbClr>
            </a:outerShdw>
          </a:effectLst>
        </p:spPr>
      </p:sp>
      <p:sp>
        <p:nvSpPr>
          <p:cNvPr id="14" name="UNSUPPORTED circle"/>
          <p:cNvSpPr/>
          <p:nvPr/>
        </p:nvSpPr>
        <p:spPr>
          <a:xfrm>
            <a:off x="731520" y="3602736"/>
            <a:ext cx="594360" cy="594360"/>
          </a:xfrm>
          <a:prstGeom prst="ellipse">
            <a:avLst/>
          </a:prstGeom>
          <a:solidFill>
            <a:srgbClr val="C2410C"/>
          </a:solidFill>
          <a:ln w="12700">
            <a:solidFill>
              <a:srgbClr val="C2410C"/>
            </a:solidFill>
            <a:prstDash val="solid"/>
          </a:ln>
        </p:spPr>
      </p:sp>
      <p:pic>
        <p:nvPicPr>
          <p:cNvPr id="15" name="UNSUPPORTED icon" descr="preencoded.png">    </p:cNvPr>
          <p:cNvPicPr>
            <a:picLocks noChangeAspect="1"/>
          </p:cNvPicPr>
          <p:nvPr/>
        </p:nvPicPr>
        <p:blipFill>
          <a:blip r:embed="rId3"/>
          <a:stretch>
            <a:fillRect/>
          </a:stretch>
        </p:blipFill>
        <p:spPr>
          <a:xfrm>
            <a:off x="880110" y="3751326"/>
            <a:ext cx="297180" cy="297180"/>
          </a:xfrm>
          <a:prstGeom prst="rect">
            <a:avLst/>
          </a:prstGeom>
        </p:spPr>
      </p:pic>
      <p:sp>
        <p:nvSpPr>
          <p:cNvPr id="16" name="UNSUPPORTED name"/>
          <p:cNvSpPr txBox="1"/>
          <p:nvPr/>
        </p:nvSpPr>
        <p:spPr>
          <a:xfrm>
            <a:off x="1508760" y="3593592"/>
            <a:ext cx="2011680" cy="594360"/>
          </a:xfrm>
          <a:prstGeom prst="rect">
            <a:avLst/>
          </a:prstGeom>
          <a:noFill/>
          <a:ln/>
        </p:spPr>
        <p:txBody>
          <a:bodyPr wrap="square" lIns="0" tIns="0" rIns="0" bIns="0" rtlCol="0" anchor="ctr"/>
          <a:lstStyle/>
          <a:p>
            <a:pPr indent="0" marL="0">
              <a:buNone/>
            </a:pPr>
            <a:r>
              <a:rPr lang="en-US" sz="1800" b="1" dirty="0">
                <a:solidFill>
                  <a:schemeClr val="accent3"/>
                </a:solidFill>
              </a:rPr>
              <a:t>UNSUPPORTED</a:t>
            </a:r>
            <a:endParaRPr lang="en-US" sz="1800" dirty="0"/>
          </a:p>
        </p:txBody>
      </p:sp>
      <p:sp>
        <p:nvSpPr>
          <p:cNvPr id="17" name="UNSUPPORTED meaning"/>
          <p:cNvSpPr txBox="1"/>
          <p:nvPr/>
        </p:nvSpPr>
        <p:spPr>
          <a:xfrm>
            <a:off x="3520440" y="3593592"/>
            <a:ext cx="3840480" cy="640080"/>
          </a:xfrm>
          <a:prstGeom prst="rect">
            <a:avLst/>
          </a:prstGeom>
          <a:noFill/>
          <a:ln/>
        </p:spPr>
        <p:txBody>
          <a:bodyPr wrap="square" lIns="0" tIns="0" rIns="0" bIns="0" rtlCol="0" anchor="ctr"/>
          <a:lstStyle/>
          <a:p>
            <a:pPr indent="0" marL="0">
              <a:buNone/>
            </a:pPr>
            <a:r>
              <a:rPr lang="en-US" sz="1300" dirty="0">
                <a:solidFill>
                  <a:schemeClr val="tx2"/>
                </a:solidFill>
              </a:rPr>
              <a:t>No authoritative passage states it; shown as preliminary only</a:t>
            </a:r>
            <a:endParaRPr lang="en-US" sz="1300" dirty="0"/>
          </a:p>
        </p:txBody>
      </p:sp>
      <p:sp>
        <p:nvSpPr>
          <p:cNvPr id="18" name="CONFLICTING card"/>
          <p:cNvSpPr/>
          <p:nvPr/>
        </p:nvSpPr>
        <p:spPr>
          <a:xfrm>
            <a:off x="548640" y="4489704"/>
            <a:ext cx="6949440" cy="868680"/>
          </a:xfrm>
          <a:prstGeom prst="roundRect">
            <a:avLst>
              <a:gd name="adj" fmla="val 12632"/>
            </a:avLst>
          </a:prstGeom>
          <a:solidFill>
            <a:schemeClr val="bg2"/>
          </a:solidFill>
          <a:ln w="12700">
            <a:solidFill>
              <a:schemeClr val="bg2"/>
            </a:solidFill>
            <a:prstDash val="solid"/>
          </a:ln>
          <a:effectLst>
            <a:outerShdw sx="100000" sy="100000" kx="0" ky="0" algn="bl" rotWithShape="0" blurRad="76200" dist="25400" dir="5400000">
              <a:srgbClr val="14213D">
                <a:alpha val="12000"/>
              </a:srgbClr>
            </a:outerShdw>
          </a:effectLst>
        </p:spPr>
      </p:sp>
      <p:sp>
        <p:nvSpPr>
          <p:cNvPr id="19" name="CONFLICTING circle"/>
          <p:cNvSpPr/>
          <p:nvPr/>
        </p:nvSpPr>
        <p:spPr>
          <a:xfrm>
            <a:off x="731520" y="4626864"/>
            <a:ext cx="594360" cy="594360"/>
          </a:xfrm>
          <a:prstGeom prst="ellipse">
            <a:avLst/>
          </a:prstGeom>
          <a:solidFill>
            <a:srgbClr val="3A4A63"/>
          </a:solidFill>
          <a:ln w="12700">
            <a:solidFill>
              <a:srgbClr val="3A4A63"/>
            </a:solidFill>
            <a:prstDash val="solid"/>
          </a:ln>
        </p:spPr>
      </p:sp>
      <p:pic>
        <p:nvPicPr>
          <p:cNvPr id="20" name="CONFLICTING icon" descr="preencoded.png">    </p:cNvPr>
          <p:cNvPicPr>
            <a:picLocks noChangeAspect="1"/>
          </p:cNvPicPr>
          <p:nvPr/>
        </p:nvPicPr>
        <p:blipFill>
          <a:blip r:embed="rId4"/>
          <a:stretch>
            <a:fillRect/>
          </a:stretch>
        </p:blipFill>
        <p:spPr>
          <a:xfrm>
            <a:off x="880110" y="4775454"/>
            <a:ext cx="297180" cy="297180"/>
          </a:xfrm>
          <a:prstGeom prst="rect">
            <a:avLst/>
          </a:prstGeom>
        </p:spPr>
      </p:pic>
      <p:sp>
        <p:nvSpPr>
          <p:cNvPr id="21" name="CONFLICTING name"/>
          <p:cNvSpPr txBox="1"/>
          <p:nvPr/>
        </p:nvSpPr>
        <p:spPr>
          <a:xfrm>
            <a:off x="1508760" y="4617720"/>
            <a:ext cx="2011680" cy="594360"/>
          </a:xfrm>
          <a:prstGeom prst="rect">
            <a:avLst/>
          </a:prstGeom>
          <a:noFill/>
          <a:ln/>
        </p:spPr>
        <p:txBody>
          <a:bodyPr wrap="square" lIns="0" tIns="0" rIns="0" bIns="0" rtlCol="0" anchor="ctr"/>
          <a:lstStyle/>
          <a:p>
            <a:pPr indent="0" marL="0">
              <a:buNone/>
            </a:pPr>
            <a:r>
              <a:rPr lang="en-US" sz="1800" b="1" dirty="0">
                <a:solidFill>
                  <a:schemeClr val="tx2"/>
                </a:solidFill>
              </a:rPr>
              <a:t>CONFLICTING</a:t>
            </a:r>
            <a:endParaRPr lang="en-US" sz="1800" dirty="0"/>
          </a:p>
        </p:txBody>
      </p:sp>
      <p:sp>
        <p:nvSpPr>
          <p:cNvPr id="22" name="CONFLICTING meaning"/>
          <p:cNvSpPr txBox="1"/>
          <p:nvPr/>
        </p:nvSpPr>
        <p:spPr>
          <a:xfrm>
            <a:off x="3520440" y="4617720"/>
            <a:ext cx="3840480" cy="640080"/>
          </a:xfrm>
          <a:prstGeom prst="rect">
            <a:avLst/>
          </a:prstGeom>
          <a:noFill/>
          <a:ln/>
        </p:spPr>
        <p:txBody>
          <a:bodyPr wrap="square" lIns="0" tIns="0" rIns="0" bIns="0" rtlCol="0" anchor="ctr"/>
          <a:lstStyle/>
          <a:p>
            <a:pPr indent="0" marL="0">
              <a:buNone/>
            </a:pPr>
            <a:r>
              <a:rPr lang="en-US" sz="1300" dirty="0">
                <a:solidFill>
                  <a:schemeClr val="tx2"/>
                </a:solidFill>
              </a:rPr>
              <a:t>Two sources disagree: both kept, with evidence, for a human to decide</a:t>
            </a:r>
            <a:endParaRPr lang="en-US" sz="1300" dirty="0"/>
          </a:p>
        </p:txBody>
      </p:sp>
      <p:sp>
        <p:nvSpPr>
          <p:cNvPr id="23" name="Retrieval quality card"/>
          <p:cNvSpPr/>
          <p:nvPr/>
        </p:nvSpPr>
        <p:spPr>
          <a:xfrm>
            <a:off x="7863840" y="1417320"/>
            <a:ext cx="3749040" cy="3931920"/>
          </a:xfrm>
          <a:prstGeom prst="roundRect">
            <a:avLst>
              <a:gd name="adj" fmla="val 2927"/>
            </a:avLst>
          </a:prstGeom>
          <a:solidFill>
            <a:schemeClr val="tx1"/>
          </a:solidFill>
          <a:ln w="12700">
            <a:solidFill>
              <a:schemeClr val="tx1"/>
            </a:solidFill>
            <a:prstDash val="solid"/>
          </a:ln>
          <a:effectLst>
            <a:outerShdw sx="100000" sy="100000" kx="0" ky="0" algn="bl" rotWithShape="0" blurRad="76200" dist="25400" dir="5400000">
              <a:srgbClr val="14213D">
                <a:alpha val="12000"/>
              </a:srgbClr>
            </a:outerShdw>
          </a:effectLst>
        </p:spPr>
      </p:sp>
      <p:sp>
        <p:nvSpPr>
          <p:cNvPr id="24" name="RQ heading"/>
          <p:cNvSpPr txBox="1"/>
          <p:nvPr/>
        </p:nvSpPr>
        <p:spPr>
          <a:xfrm>
            <a:off x="8092440" y="1600200"/>
            <a:ext cx="3291840" cy="365760"/>
          </a:xfrm>
          <a:prstGeom prst="rect">
            <a:avLst/>
          </a:prstGeom>
          <a:noFill/>
          <a:ln/>
        </p:spPr>
        <p:txBody>
          <a:bodyPr wrap="square" lIns="0" tIns="0" rIns="0" bIns="0" rtlCol="0" anchor="t"/>
          <a:lstStyle/>
          <a:p>
            <a:pPr indent="0" marL="0">
              <a:buNone/>
            </a:pPr>
            <a:r>
              <a:rPr lang="en-US" sz="1600" b="1" dirty="0">
                <a:solidFill>
                  <a:schemeClr val="accent1"/>
                </a:solidFill>
              </a:rPr>
              <a:t>Retrieval, measured</a:t>
            </a:r>
            <a:endParaRPr lang="en-US" sz="1600" dirty="0"/>
          </a:p>
        </p:txBody>
      </p:sp>
      <p:sp>
        <p:nvSpPr>
          <p:cNvPr id="25" name="RQ top5"/>
          <p:cNvSpPr txBox="1"/>
          <p:nvPr/>
        </p:nvSpPr>
        <p:spPr>
          <a:xfrm>
            <a:off x="8092440" y="2011680"/>
            <a:ext cx="3291840" cy="731520"/>
          </a:xfrm>
          <a:prstGeom prst="rect">
            <a:avLst/>
          </a:prstGeom>
          <a:noFill/>
          <a:ln/>
        </p:spPr>
        <p:txBody>
          <a:bodyPr wrap="square" lIns="0" tIns="0" rIns="0" bIns="0" rtlCol="0" anchor="t"/>
          <a:lstStyle/>
          <a:p>
            <a:pPr indent="0" marL="0">
              <a:buNone/>
            </a:pPr>
            <a:r>
              <a:rPr lang="en-US" sz="4400" b="1" dirty="0">
                <a:solidFill>
                  <a:schemeClr val="bg1"/>
                </a:solidFill>
                <a:latin typeface="Cambria" pitchFamily="34" charset="0"/>
                <a:ea typeface="Cambria" pitchFamily="34" charset="-122"/>
                <a:cs typeface="Cambria" pitchFamily="34" charset="-120"/>
              </a:rPr>
              <a:t>12/12</a:t>
            </a:r>
            <a:endParaRPr lang="en-US" sz="4400" dirty="0"/>
          </a:p>
        </p:txBody>
      </p:sp>
      <p:sp>
        <p:nvSpPr>
          <p:cNvPr id="26" name="RQ top5 label"/>
          <p:cNvSpPr txBox="1"/>
          <p:nvPr/>
        </p:nvSpPr>
        <p:spPr>
          <a:xfrm>
            <a:off x="8092440" y="2743200"/>
            <a:ext cx="3291840" cy="457200"/>
          </a:xfrm>
          <a:prstGeom prst="rect">
            <a:avLst/>
          </a:prstGeom>
          <a:noFill/>
          <a:ln/>
        </p:spPr>
        <p:txBody>
          <a:bodyPr wrap="square" lIns="0" tIns="0" rIns="0" bIns="0" rtlCol="0" anchor="t"/>
          <a:lstStyle/>
          <a:p>
            <a:pPr indent="0" marL="0">
              <a:buNone/>
            </a:pPr>
            <a:r>
              <a:rPr lang="en-US" sz="1300" dirty="0">
                <a:solidFill>
                  <a:schemeClr val="bg2"/>
                </a:solidFill>
              </a:rPr>
              <a:t>test queries: right section in top 5</a:t>
            </a:r>
            <a:endParaRPr lang="en-US" sz="1300" dirty="0"/>
          </a:p>
        </p:txBody>
      </p:sp>
      <p:sp>
        <p:nvSpPr>
          <p:cNvPr id="27" name="RQ top1"/>
          <p:cNvSpPr txBox="1"/>
          <p:nvPr/>
        </p:nvSpPr>
        <p:spPr>
          <a:xfrm>
            <a:off x="8092440" y="3291840"/>
            <a:ext cx="3291840" cy="731520"/>
          </a:xfrm>
          <a:prstGeom prst="rect">
            <a:avLst/>
          </a:prstGeom>
          <a:noFill/>
          <a:ln/>
        </p:spPr>
        <p:txBody>
          <a:bodyPr wrap="square" lIns="0" tIns="0" rIns="0" bIns="0" rtlCol="0" anchor="t"/>
          <a:lstStyle/>
          <a:p>
            <a:pPr indent="0" marL="0">
              <a:buNone/>
            </a:pPr>
            <a:r>
              <a:rPr lang="en-US" sz="4400" b="1" dirty="0">
                <a:solidFill>
                  <a:schemeClr val="bg1"/>
                </a:solidFill>
                <a:latin typeface="Cambria" pitchFamily="34" charset="0"/>
                <a:ea typeface="Cambria" pitchFamily="34" charset="-122"/>
                <a:cs typeface="Cambria" pitchFamily="34" charset="-120"/>
              </a:rPr>
              <a:t>8/12</a:t>
            </a:r>
            <a:endParaRPr lang="en-US" sz="4400" dirty="0"/>
          </a:p>
        </p:txBody>
      </p:sp>
      <p:sp>
        <p:nvSpPr>
          <p:cNvPr id="28" name="RQ top1 label"/>
          <p:cNvSpPr txBox="1"/>
          <p:nvPr/>
        </p:nvSpPr>
        <p:spPr>
          <a:xfrm>
            <a:off x="8092440" y="4023360"/>
            <a:ext cx="3291840" cy="457200"/>
          </a:xfrm>
          <a:prstGeom prst="rect">
            <a:avLst/>
          </a:prstGeom>
          <a:noFill/>
          <a:ln/>
        </p:spPr>
        <p:txBody>
          <a:bodyPr wrap="square" lIns="0" tIns="0" rIns="0" bIns="0" rtlCol="0" anchor="t"/>
          <a:lstStyle/>
          <a:p>
            <a:pPr indent="0" marL="0">
              <a:buNone/>
            </a:pPr>
            <a:r>
              <a:rPr lang="en-US" sz="1300" dirty="0">
                <a:solidFill>
                  <a:schemeClr val="bg2"/>
                </a:solidFill>
              </a:rPr>
              <a:t>right section ranked first</a:t>
            </a:r>
            <a:endParaRPr lang="en-US" sz="1300" dirty="0"/>
          </a:p>
        </p:txBody>
      </p:sp>
      <p:sp>
        <p:nvSpPr>
          <p:cNvPr id="29" name="Honesty note"/>
          <p:cNvSpPr txBox="1"/>
          <p:nvPr/>
        </p:nvSpPr>
        <p:spPr>
          <a:xfrm>
            <a:off x="548640" y="5577840"/>
            <a:ext cx="11064240" cy="548640"/>
          </a:xfrm>
          <a:prstGeom prst="rect">
            <a:avLst/>
          </a:prstGeom>
          <a:noFill/>
          <a:ln/>
        </p:spPr>
        <p:txBody>
          <a:bodyPr wrap="square" lIns="0" tIns="0" rIns="0" bIns="0" rtlCol="0" anchor="t"/>
          <a:lstStyle/>
          <a:p>
            <a:pPr indent="0" marL="0">
              <a:buNone/>
            </a:pPr>
            <a:r>
              <a:rPr lang="en-US" sz="1400" i="1" dirty="0">
                <a:solidFill>
                  <a:schemeClr val="accent2"/>
                </a:solidFill>
              </a:rPr>
              <a:t>Why most claims read INCOMPLETE today: we quote the law exactly, but have not confirmed every amendment, so we say so rather than pretend.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2800" b="1" dirty="0">
                <a:solidFill>
                  <a:schemeClr val="bg1"/>
                </a:solidFill>
                <a:latin typeface="Cambria" pitchFamily="34" charset="0"/>
                <a:ea typeface="Cambria" pitchFamily="34" charset="-122"/>
                <a:cs typeface="Cambria" pitchFamily="34" charset="-120"/>
              </a:rPr>
              <a:t>Demo 1 — The incident unfolds, chunk by chunk</a:t>
            </a:r>
            <a:endParaRPr lang="en-US" sz="2800" dirty="0"/>
          </a:p>
        </p:txBody>
      </p:sp>
      <p:sp>
        <p:nvSpPr>
          <p:cNvPr id="3" name="Video frame"/>
          <p:cNvSpPr/>
          <p:nvPr/>
        </p:nvSpPr>
        <p:spPr>
          <a:xfrm>
            <a:off x="548640" y="1325880"/>
            <a:ext cx="7498080" cy="4215384"/>
          </a:xfrm>
          <a:prstGeom prst="roundRect">
            <a:avLst>
              <a:gd name="adj" fmla="val 2169"/>
            </a:avLst>
          </a:prstGeom>
          <a:solidFill>
            <a:schemeClr val="tx2"/>
          </a:solidFill>
          <a:ln w="19050">
            <a:solidFill>
              <a:schemeClr val="accent1"/>
            </a:solidFill>
            <a:prstDash val="dash"/>
          </a:ln>
        </p:spPr>
      </p:sp>
      <p:sp>
        <p:nvSpPr>
          <p:cNvPr id="4" name="Play circle"/>
          <p:cNvSpPr/>
          <p:nvPr/>
        </p:nvSpPr>
        <p:spPr>
          <a:xfrm>
            <a:off x="3749040" y="2880360"/>
            <a:ext cx="1097280" cy="1097280"/>
          </a:xfrm>
          <a:prstGeom prst="ellipse">
            <a:avLst/>
          </a:prstGeom>
          <a:solidFill>
            <a:srgbClr val="F29F05"/>
          </a:solidFill>
          <a:ln w="12700">
            <a:solidFill>
              <a:srgbClr val="F29F05"/>
            </a:solidFill>
            <a:prstDash val="solid"/>
          </a:ln>
        </p:spPr>
      </p:sp>
      <p:pic>
        <p:nvPicPr>
          <p:cNvPr id="5" name="Play icon" descr="preencoded.png">    </p:cNvPr>
          <p:cNvPicPr>
            <a:picLocks noChangeAspect="1"/>
          </p:cNvPicPr>
          <p:nvPr/>
        </p:nvPicPr>
        <p:blipFill>
          <a:blip r:embed="rId1"/>
          <a:stretch>
            <a:fillRect/>
          </a:stretch>
        </p:blipFill>
        <p:spPr>
          <a:xfrm>
            <a:off x="4023360" y="3154680"/>
            <a:ext cx="548640" cy="548640"/>
          </a:xfrm>
          <a:prstGeom prst="rect">
            <a:avLst/>
          </a:prstGeom>
        </p:spPr>
      </p:pic>
      <p:sp>
        <p:nvSpPr>
          <p:cNvPr id="6" name="Video hint"/>
          <p:cNvSpPr txBox="1"/>
          <p:nvPr/>
        </p:nvSpPr>
        <p:spPr>
          <a:xfrm>
            <a:off x="548640" y="4160520"/>
            <a:ext cx="7498080" cy="365760"/>
          </a:xfrm>
          <a:prstGeom prst="rect">
            <a:avLst/>
          </a:prstGeom>
          <a:noFill/>
          <a:ln/>
        </p:spPr>
        <p:txBody>
          <a:bodyPr wrap="square" lIns="0" tIns="0" rIns="0" bIns="0" rtlCol="0" anchor="t"/>
          <a:lstStyle/>
          <a:p>
            <a:pPr algn="ctr" indent="0" marL="0">
              <a:buNone/>
            </a:pPr>
            <a:r>
              <a:rPr lang="en-US" sz="1400" dirty="0">
                <a:solidFill>
                  <a:schemeClr val="bg2"/>
                </a:solidFill>
              </a:rPr>
              <a:t>Place the Live run video here (T0 → T3)</a:t>
            </a:r>
            <a:endParaRPr lang="en-US" sz="1400" dirty="0"/>
          </a:p>
        </p:txBody>
      </p:sp>
      <p:sp>
        <p:nvSpPr>
          <p:cNvPr id="7" name="Watch heading"/>
          <p:cNvSpPr txBox="1"/>
          <p:nvPr/>
        </p:nvSpPr>
        <p:spPr>
          <a:xfrm>
            <a:off x="8412480" y="1325880"/>
            <a:ext cx="3200400" cy="365760"/>
          </a:xfrm>
          <a:prstGeom prst="rect">
            <a:avLst/>
          </a:prstGeom>
          <a:noFill/>
          <a:ln/>
        </p:spPr>
        <p:txBody>
          <a:bodyPr wrap="square" lIns="0" tIns="0" rIns="0" bIns="0" rtlCol="0" anchor="t"/>
          <a:lstStyle/>
          <a:p>
            <a:pPr indent="0" marL="0">
              <a:buNone/>
            </a:pPr>
            <a:r>
              <a:rPr lang="en-US" sz="1800" b="1" dirty="0">
                <a:solidFill>
                  <a:schemeClr val="accent1"/>
                </a:solidFill>
              </a:rPr>
              <a:t>What to watch</a:t>
            </a:r>
            <a:endParaRPr lang="en-US" sz="1800" dirty="0"/>
          </a:p>
        </p:txBody>
      </p:sp>
      <p:sp>
        <p:nvSpPr>
          <p:cNvPr id="8" name="Watch list"/>
          <p:cNvSpPr txBox="1"/>
          <p:nvPr/>
        </p:nvSpPr>
        <p:spPr>
          <a:xfrm>
            <a:off x="8412480" y="1783080"/>
            <a:ext cx="3200400" cy="37490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Agents wake as each fact is revealed; selection matches the official stage table</a:t>
            </a:r>
            <a:endParaRPr lang="en-US" sz="1400" dirty="0"/>
          </a:p>
          <a:p>
            <a:pPr marL="342900" indent="-342900">
              <a:spcAft>
                <a:spcPts val="800"/>
              </a:spcAft>
              <a:buSzPct val="100000"/>
              <a:buChar char="•"/>
            </a:pPr>
            <a:r>
              <a:rPr lang="en-US" sz="1400" dirty="0">
                <a:solidFill>
                  <a:schemeClr val="bg1"/>
                </a:solidFill>
              </a:rPr>
              <a:t>“Released to this agent only”: each agent sees different information</a:t>
            </a:r>
            <a:endParaRPr lang="en-US" sz="1400" dirty="0"/>
          </a:p>
          <a:p>
            <a:pPr marL="342900" indent="-342900">
              <a:spcAft>
                <a:spcPts val="800"/>
              </a:spcAft>
              <a:buSzPct val="100000"/>
              <a:buChar char="•"/>
            </a:pPr>
            <a:r>
              <a:rPr lang="en-US" sz="1400" dirty="0">
                <a:solidFill>
                  <a:schemeClr val="bg1"/>
                </a:solidFill>
              </a:rPr>
              <a:t>Quotes with document, section and page; Verifier outcome on every claim</a:t>
            </a:r>
            <a:endParaRPr lang="en-US" sz="1400" dirty="0"/>
          </a:p>
          <a:p>
            <a:pPr marL="342900" indent="-342900">
              <a:spcAft>
                <a:spcPts val="800"/>
              </a:spcAft>
              <a:buSzPct val="100000"/>
              <a:buChar char="•"/>
            </a:pPr>
            <a:r>
              <a:rPr lang="en-US" sz="1400" dirty="0">
                <a:solidFill>
                  <a:schemeClr val="bg1"/>
                </a:solidFill>
              </a:rPr>
              <a:t>Ends with a Summary, the notifications that may be due, and a Conclusion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One answer from four instruments: who must be told, and by when</a:t>
            </a:r>
            <a:endParaRPr lang="en-US" sz="2800" dirty="0"/>
          </a:p>
        </p:txBody>
      </p:sp>
      <p:graphicFrame>
        <p:nvGraphicFramePr>
          <p:cNvPr id="8" name="Notifications table"/>
          <p:cNvGraphicFramePr>
            <a:graphicFrameLocks noGrp="1"/>
          </p:cNvGraphicFramePr>
          <p:nvPr>
            <p:extLst>
              <p:ext uri="{D42A27DB-BD31-4B8C-83A1-F6EECF244321}">
                <p14:modId xmlns:p14="http://schemas.microsoft.com/office/powerpoint/2010/main" val="1579011935"/>
              </p:ext>
            </p:extLst>
          </p:nvPr>
        </p:nvGraphicFramePr>
        <p:xfrm>
          <a:off x="548640" y="1417320"/>
          <a:ext cx="7315200" cy="914400"/>
        </p:xfrm>
        <a:graphic>
          <a:graphicData uri="http://schemas.openxmlformats.org/drawingml/2006/table">
            <a:tbl>
              <a:tblPr/>
              <a:tblGrid>
                <a:gridCol w="1737360"/>
                <a:gridCol w="1737360"/>
                <a:gridCol w="2103120"/>
                <a:gridCol w="1737360"/>
              </a:tblGrid>
              <a:tr h="566928">
                <a:tc>
                  <a:txBody>
                    <a:bodyPr/>
                    <a:lstStyle/>
                    <a:p>
                      <a:pPr indent="0" marL="0">
                        <a:buNone/>
                      </a:pPr>
                      <a:r>
                        <a:rPr lang="en-US" sz="1300" b="1" dirty="0">
                          <a:solidFill>
                            <a:schemeClr val="bg1"/>
                          </a:solidFill>
                        </a:rPr>
                        <a:t>Recipient</a:t>
                      </a:r>
                      <a:endParaRPr lang="en-US" sz="13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Time limit</a:t>
                      </a:r>
                      <a:endParaRPr lang="en-US" sz="13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Source</a:t>
                      </a:r>
                      <a:endParaRPr lang="en-US" sz="13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Applies</a:t>
                      </a:r>
                      <a:endParaRPr lang="en-US" sz="13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tx1"/>
                    </a:solidFill>
                  </a:tcPr>
                </a:tc>
              </a:tr>
              <a:tr h="566928">
                <a:tc>
                  <a:txBody>
                    <a:bodyPr/>
                    <a:lstStyle/>
                    <a:p>
                      <a:pPr indent="0" marL="0">
                        <a:buNone/>
                      </a:pPr>
                      <a:r>
                        <a:rPr lang="en-US" sz="1200" b="1" dirty="0">
                          <a:solidFill>
                            <a:schemeClr val="tx1"/>
                          </a:solidFill>
                        </a:rPr>
                        <a:t>CERT-In</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within 6 hours</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CERT-In Directions (2022), Direction (ii)</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cyber incident of an Annexure I type</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r>
              <a:tr h="566928">
                <a:tc>
                  <a:txBody>
                    <a:bodyPr/>
                    <a:lstStyle/>
                    <a:p>
                      <a:pPr indent="0" marL="0">
                        <a:buNone/>
                      </a:pPr>
                      <a:r>
                        <a:rPr lang="en-US" sz="1200" b="1" dirty="0">
                          <a:solidFill>
                            <a:schemeClr val="tx1"/>
                          </a:solidFill>
                        </a:rPr>
                        <a:t>Central Government (DoT)</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within 6 hours, then 24 hours</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Telecom Cyber Security Rules 2024, Rule 7</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security incident on the network</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r>
              <a:tr h="566928">
                <a:tc>
                  <a:txBody>
                    <a:bodyPr/>
                    <a:lstStyle/>
                    <a:p>
                      <a:pPr indent="0" marL="0">
                        <a:buNone/>
                      </a:pPr>
                      <a:r>
                        <a:rPr lang="en-US" sz="1200" b="1" dirty="0">
                          <a:solidFill>
                            <a:schemeClr val="tx1"/>
                          </a:solidFill>
                        </a:rPr>
                        <a:t>Data Protection Board</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without delay; details within 72 hours</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DPDP Rules 2025, Rule 7</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3"/>
                          </a:solidFill>
                        </a:rPr>
                        <a:t>only if a personal-data breach is confirmed</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r>
              <a:tr h="566928">
                <a:tc>
                  <a:txBody>
                    <a:bodyPr/>
                    <a:lstStyle/>
                    <a:p>
                      <a:pPr indent="0" marL="0">
                        <a:buNone/>
                      </a:pPr>
                      <a:r>
                        <a:rPr lang="en-US" sz="1200" b="1" dirty="0">
                          <a:solidFill>
                            <a:schemeClr val="tx1"/>
                          </a:solidFill>
                        </a:rPr>
                        <a:t>Affected patients</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without delay</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DPDP Rules 2025, Rule 7</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3"/>
                          </a:solidFill>
                        </a:rPr>
                        <a:t>only if a personal-data breach is confirmed</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r>
            </a:tbl>
          </a:graphicData>
        </a:graphic>
      </p:graphicFrame>
      <p:sp>
        <p:nvSpPr>
          <p:cNvPr id="4" name="Cross-domain card"/>
          <p:cNvSpPr/>
          <p:nvPr/>
        </p:nvSpPr>
        <p:spPr>
          <a:xfrm>
            <a:off x="8183880" y="1417320"/>
            <a:ext cx="3429000" cy="3063240"/>
          </a:xfrm>
          <a:prstGeom prst="roundRect">
            <a:avLst>
              <a:gd name="adj" fmla="val 3582"/>
            </a:avLst>
          </a:prstGeom>
          <a:solidFill>
            <a:schemeClr val="tx1"/>
          </a:solidFill>
          <a:ln w="12700">
            <a:solidFill>
              <a:schemeClr val="tx1"/>
            </a:solidFill>
            <a:prstDash val="solid"/>
          </a:ln>
          <a:effectLst>
            <a:outerShdw sx="100000" sy="100000" kx="0" ky="0" algn="bl" rotWithShape="0" blurRad="76200" dist="25400" dir="5400000">
              <a:srgbClr val="14213D">
                <a:alpha val="12000"/>
              </a:srgbClr>
            </a:outerShdw>
          </a:effectLst>
        </p:spPr>
      </p:sp>
      <p:sp>
        <p:nvSpPr>
          <p:cNvPr id="5" name="Cross-domain circle"/>
          <p:cNvSpPr/>
          <p:nvPr/>
        </p:nvSpPr>
        <p:spPr>
          <a:xfrm>
            <a:off x="8412480" y="1645920"/>
            <a:ext cx="594360" cy="594360"/>
          </a:xfrm>
          <a:prstGeom prst="ellipse">
            <a:avLst/>
          </a:prstGeom>
          <a:solidFill>
            <a:srgbClr val="F29F05"/>
          </a:solidFill>
          <a:ln w="12700">
            <a:solidFill>
              <a:srgbClr val="F29F05"/>
            </a:solidFill>
            <a:prstDash val="solid"/>
          </a:ln>
        </p:spPr>
      </p:sp>
      <p:pic>
        <p:nvPicPr>
          <p:cNvPr id="6" name="Cross-domain icon" descr="preencoded.png">    </p:cNvPr>
          <p:cNvPicPr>
            <a:picLocks noChangeAspect="1"/>
          </p:cNvPicPr>
          <p:nvPr/>
        </p:nvPicPr>
        <p:blipFill>
          <a:blip r:embed="rId1"/>
          <a:stretch>
            <a:fillRect/>
          </a:stretch>
        </p:blipFill>
        <p:spPr>
          <a:xfrm>
            <a:off x="8561070" y="1794510"/>
            <a:ext cx="297180" cy="297180"/>
          </a:xfrm>
          <a:prstGeom prst="rect">
            <a:avLst/>
          </a:prstGeom>
        </p:spPr>
      </p:pic>
      <p:sp>
        <p:nvSpPr>
          <p:cNvPr id="7" name="Cross-domain heading"/>
          <p:cNvSpPr txBox="1"/>
          <p:nvPr/>
        </p:nvSpPr>
        <p:spPr>
          <a:xfrm>
            <a:off x="9144000" y="1645920"/>
            <a:ext cx="2331720" cy="640080"/>
          </a:xfrm>
          <a:prstGeom prst="rect">
            <a:avLst/>
          </a:prstGeom>
          <a:noFill/>
          <a:ln/>
        </p:spPr>
        <p:txBody>
          <a:bodyPr wrap="square" lIns="0" tIns="0" rIns="0" bIns="0" rtlCol="0" anchor="ctr"/>
          <a:lstStyle/>
          <a:p>
            <a:pPr indent="0" marL="0">
              <a:buNone/>
            </a:pPr>
            <a:r>
              <a:rPr lang="en-US" sz="1500" b="1" dirty="0">
                <a:solidFill>
                  <a:schemeClr val="bg1"/>
                </a:solidFill>
              </a:rPr>
              <a:t>Cross-domain links, found in the text</a:t>
            </a:r>
            <a:endParaRPr lang="en-US" sz="1500" dirty="0"/>
          </a:p>
        </p:txBody>
      </p:sp>
      <p:sp>
        <p:nvSpPr>
          <p:cNvPr id="8" name="Cross-domain list"/>
          <p:cNvSpPr txBox="1"/>
          <p:nvPr/>
        </p:nvSpPr>
        <p:spPr>
          <a:xfrm>
            <a:off x="8412480" y="2468880"/>
            <a:ext cx="3017520" cy="192024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chemeClr val="bg2"/>
                </a:solidFill>
              </a:rPr>
              <a:t>The Telecom Cyber Security Rules are made under Section 22 of the Telecommunications Act, which Critical Infrastructure cites</a:t>
            </a:r>
            <a:endParaRPr lang="en-US" sz="1300" dirty="0"/>
          </a:p>
          <a:p>
            <a:pPr marL="342900" indent="-342900">
              <a:spcAft>
                <a:spcPts val="1000"/>
              </a:spcAft>
              <a:buSzPct val="100000"/>
              <a:buChar char="•"/>
            </a:pPr>
            <a:r>
              <a:rPr lang="en-US" sz="1300" dirty="0">
                <a:solidFill>
                  <a:schemeClr val="bg2"/>
                </a:solidFill>
              </a:rPr>
              <a:t>Telecom incident reporting and DPDP breach notice run in parallel for the same incident</a:t>
            </a:r>
            <a:endParaRPr lang="en-US" sz="1300" dirty="0"/>
          </a:p>
        </p:txBody>
      </p:sp>
      <p:sp>
        <p:nvSpPr>
          <p:cNvPr id="9" name="Table caveat"/>
          <p:cNvSpPr txBox="1"/>
          <p:nvPr/>
        </p:nvSpPr>
        <p:spPr>
          <a:xfrm>
            <a:off x="548640" y="4572000"/>
            <a:ext cx="7315200" cy="640080"/>
          </a:xfrm>
          <a:prstGeom prst="rect">
            <a:avLst/>
          </a:prstGeom>
          <a:noFill/>
          <a:ln/>
        </p:spPr>
        <p:txBody>
          <a:bodyPr wrap="square" lIns="0" tIns="0" rIns="0" bIns="0" rtlCol="0" anchor="t"/>
          <a:lstStyle/>
          <a:p>
            <a:pPr indent="0" marL="0">
              <a:buNone/>
            </a:pPr>
            <a:r>
              <a:rPr lang="en-US" sz="1300" i="1" dirty="0">
                <a:solidFill>
                  <a:schemeClr val="accent4"/>
                </a:solidFill>
              </a:rPr>
              <a:t>Generated at T3 from the retrieved Indian provisions. Each duty is subject to its condition and to confirmation by a qualified person.</a:t>
            </a:r>
            <a:endParaRPr lang="en-US" sz="1300" dirty="0"/>
          </a:p>
        </p:txBody>
      </p:sp>
      <p:sp>
        <p:nvSpPr>
          <p:cNvPr id="10" name="Takeaway"/>
          <p:cNvSpPr txBox="1"/>
          <p:nvPr/>
        </p:nvSpPr>
        <p:spPr>
          <a:xfrm>
            <a:off x="548640" y="5669280"/>
            <a:ext cx="11064240" cy="365760"/>
          </a:xfrm>
          <a:prstGeom prst="rect">
            <a:avLst/>
          </a:prstGeom>
          <a:noFill/>
          <a:ln/>
        </p:spPr>
        <p:txBody>
          <a:bodyPr wrap="square" lIns="0" tIns="0" rIns="0" bIns="0" rtlCol="0" anchor="t"/>
          <a:lstStyle/>
          <a:p>
            <a:pPr indent="0" marL="0">
              <a:buNone/>
            </a:pPr>
            <a:r>
              <a:rPr lang="en-US" sz="1600" b="1" dirty="0">
                <a:solidFill>
                  <a:schemeClr val="accent2"/>
                </a:solidFill>
              </a:rPr>
              <a:t>The answer to management's question, in one table: what is due, to whom, by when.</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Potential policy gaps, with global and regional examples</a:t>
            </a:r>
            <a:endParaRPr lang="en-US" sz="2800" dirty="0"/>
          </a:p>
        </p:txBody>
      </p:sp>
      <p:sp>
        <p:nvSpPr>
          <p:cNvPr id="3" name="Live gaps heading"/>
          <p:cNvSpPr txBox="1"/>
          <p:nvPr/>
        </p:nvSpPr>
        <p:spPr>
          <a:xfrm>
            <a:off x="548640" y="1371600"/>
            <a:ext cx="5120640" cy="365760"/>
          </a:xfrm>
          <a:prstGeom prst="rect">
            <a:avLst/>
          </a:prstGeom>
          <a:noFill/>
          <a:ln/>
        </p:spPr>
        <p:txBody>
          <a:bodyPr wrap="square" lIns="0" tIns="0" rIns="0" bIns="0" rtlCol="0" anchor="t"/>
          <a:lstStyle/>
          <a:p>
            <a:pPr indent="0" marL="0">
              <a:buNone/>
            </a:pPr>
            <a:r>
              <a:rPr lang="en-US" sz="1600" b="1" dirty="0">
                <a:solidFill>
                  <a:schemeClr val="tx1"/>
                </a:solidFill>
              </a:rPr>
              <a:t>Raised live by the Policy Gap agent</a:t>
            </a:r>
            <a:endParaRPr lang="en-US" sz="1600" dirty="0"/>
          </a:p>
        </p:txBody>
      </p:sp>
      <p:sp>
        <p:nvSpPr>
          <p:cNvPr id="4" name="Gap 1 circle"/>
          <p:cNvSpPr/>
          <p:nvPr/>
        </p:nvSpPr>
        <p:spPr>
          <a:xfrm>
            <a:off x="548640" y="1828800"/>
            <a:ext cx="594360" cy="594360"/>
          </a:xfrm>
          <a:prstGeom prst="ellipse">
            <a:avLst/>
          </a:prstGeom>
          <a:solidFill>
            <a:srgbClr val="F29F05"/>
          </a:solidFill>
          <a:ln w="12700">
            <a:solidFill>
              <a:srgbClr val="F29F05"/>
            </a:solidFill>
            <a:prstDash val="solid"/>
          </a:ln>
        </p:spPr>
      </p:sp>
      <p:pic>
        <p:nvPicPr>
          <p:cNvPr id="5" name="Gap 1 icon" descr="preencoded.png">    </p:cNvPr>
          <p:cNvPicPr>
            <a:picLocks noChangeAspect="1"/>
          </p:cNvPicPr>
          <p:nvPr/>
        </p:nvPicPr>
        <p:blipFill>
          <a:blip r:embed="rId1"/>
          <a:stretch>
            <a:fillRect/>
          </a:stretch>
        </p:blipFill>
        <p:spPr>
          <a:xfrm>
            <a:off x="697230" y="1977390"/>
            <a:ext cx="297180" cy="297180"/>
          </a:xfrm>
          <a:prstGeom prst="rect">
            <a:avLst/>
          </a:prstGeom>
        </p:spPr>
      </p:pic>
      <p:sp>
        <p:nvSpPr>
          <p:cNvPr id="6" name="Gap 1 title"/>
          <p:cNvSpPr txBox="1"/>
          <p:nvPr/>
        </p:nvSpPr>
        <p:spPr>
          <a:xfrm>
            <a:off x="1325880" y="1828800"/>
            <a:ext cx="4389120" cy="365760"/>
          </a:xfrm>
          <a:prstGeom prst="rect">
            <a:avLst/>
          </a:prstGeom>
          <a:noFill/>
          <a:ln/>
        </p:spPr>
        <p:txBody>
          <a:bodyPr wrap="square" lIns="0" tIns="0" rIns="0" bIns="0" rtlCol="0" anchor="t"/>
          <a:lstStyle/>
          <a:p>
            <a:pPr indent="0" marL="0">
              <a:buNone/>
            </a:pPr>
            <a:r>
              <a:rPr lang="en-US" sz="1500" b="1" dirty="0">
                <a:solidFill>
                  <a:schemeClr val="tx1"/>
                </a:solidFill>
              </a:rPr>
              <a:t>Emerging technology not explicitly addressed</a:t>
            </a:r>
            <a:endParaRPr lang="en-US" sz="1500" dirty="0"/>
          </a:p>
        </p:txBody>
      </p:sp>
      <p:sp>
        <p:nvSpPr>
          <p:cNvPr id="7" name="Gap 1 text"/>
          <p:cNvSpPr txBox="1"/>
          <p:nvPr/>
        </p:nvSpPr>
        <p:spPr>
          <a:xfrm>
            <a:off x="1325880" y="2212848"/>
            <a:ext cx="4389120" cy="685800"/>
          </a:xfrm>
          <a:prstGeom prst="rect">
            <a:avLst/>
          </a:prstGeom>
          <a:noFill/>
          <a:ln/>
        </p:spPr>
        <p:txBody>
          <a:bodyPr wrap="square" lIns="0" tIns="0" rIns="0" bIns="0" rtlCol="0" anchor="t"/>
          <a:lstStyle/>
          <a:p>
            <a:pPr indent="0" marL="0">
              <a:buNone/>
            </a:pPr>
            <a:r>
              <a:rPr lang="en-US" sz="1300" dirty="0">
                <a:solidFill>
                  <a:schemeClr val="tx2"/>
                </a:solidFill>
              </a:rPr>
              <a:t>Network slicing appears in none of the 886 Indian legal passages examined</a:t>
            </a:r>
            <a:endParaRPr lang="en-US" sz="1300" dirty="0"/>
          </a:p>
        </p:txBody>
      </p:sp>
      <p:sp>
        <p:nvSpPr>
          <p:cNvPr id="8" name="Gap 2 circle"/>
          <p:cNvSpPr/>
          <p:nvPr/>
        </p:nvSpPr>
        <p:spPr>
          <a:xfrm>
            <a:off x="548640" y="3017520"/>
            <a:ext cx="594360" cy="594360"/>
          </a:xfrm>
          <a:prstGeom prst="ellipse">
            <a:avLst/>
          </a:prstGeom>
          <a:solidFill>
            <a:srgbClr val="F29F05"/>
          </a:solidFill>
          <a:ln w="12700">
            <a:solidFill>
              <a:srgbClr val="F29F05"/>
            </a:solidFill>
            <a:prstDash val="solid"/>
          </a:ln>
        </p:spPr>
      </p:sp>
      <p:pic>
        <p:nvPicPr>
          <p:cNvPr id="9" name="Gap 2 icon" descr="preencoded.png">    </p:cNvPr>
          <p:cNvPicPr>
            <a:picLocks noChangeAspect="1"/>
          </p:cNvPicPr>
          <p:nvPr/>
        </p:nvPicPr>
        <p:blipFill>
          <a:blip r:embed="rId2"/>
          <a:stretch>
            <a:fillRect/>
          </a:stretch>
        </p:blipFill>
        <p:spPr>
          <a:xfrm>
            <a:off x="697230" y="3166110"/>
            <a:ext cx="297180" cy="297180"/>
          </a:xfrm>
          <a:prstGeom prst="rect">
            <a:avLst/>
          </a:prstGeom>
        </p:spPr>
      </p:pic>
      <p:sp>
        <p:nvSpPr>
          <p:cNvPr id="10" name="Gap 2 title"/>
          <p:cNvSpPr txBox="1"/>
          <p:nvPr/>
        </p:nvSpPr>
        <p:spPr>
          <a:xfrm>
            <a:off x="1325880" y="3017520"/>
            <a:ext cx="4389120" cy="365760"/>
          </a:xfrm>
          <a:prstGeom prst="rect">
            <a:avLst/>
          </a:prstGeom>
          <a:noFill/>
          <a:ln/>
        </p:spPr>
        <p:txBody>
          <a:bodyPr wrap="square" lIns="0" tIns="0" rIns="0" bIns="0" rtlCol="0" anchor="t"/>
          <a:lstStyle/>
          <a:p>
            <a:pPr indent="0" marL="0">
              <a:buNone/>
            </a:pPr>
            <a:r>
              <a:rPr lang="en-US" sz="1500" b="1" dirty="0">
                <a:solidFill>
                  <a:schemeClr val="tx1"/>
                </a:solidFill>
              </a:rPr>
              <a:t>Overlapping requirements</a:t>
            </a:r>
            <a:endParaRPr lang="en-US" sz="1500" dirty="0"/>
          </a:p>
        </p:txBody>
      </p:sp>
      <p:sp>
        <p:nvSpPr>
          <p:cNvPr id="11" name="Gap 2 text"/>
          <p:cNvSpPr txBox="1"/>
          <p:nvPr/>
        </p:nvSpPr>
        <p:spPr>
          <a:xfrm>
            <a:off x="1325880" y="3401568"/>
            <a:ext cx="4389120" cy="685800"/>
          </a:xfrm>
          <a:prstGeom prst="rect">
            <a:avLst/>
          </a:prstGeom>
          <a:noFill/>
          <a:ln/>
        </p:spPr>
        <p:txBody>
          <a:bodyPr wrap="square" lIns="0" tIns="0" rIns="0" bIns="0" rtlCol="0" anchor="t"/>
          <a:lstStyle/>
          <a:p>
            <a:pPr indent="0" marL="0">
              <a:buNone/>
            </a:pPr>
            <a:r>
              <a:rPr lang="en-US" sz="1300" dirty="0">
                <a:solidFill>
                  <a:schemeClr val="tx2"/>
                </a:solidFill>
              </a:rPr>
              <a:t>CERT-In and DPDP both require reporting; neither refers to the other</a:t>
            </a:r>
            <a:endParaRPr lang="en-US" sz="1300" dirty="0"/>
          </a:p>
        </p:txBody>
      </p:sp>
      <p:sp>
        <p:nvSpPr>
          <p:cNvPr id="12" name="Gap 3 circle"/>
          <p:cNvSpPr/>
          <p:nvPr/>
        </p:nvSpPr>
        <p:spPr>
          <a:xfrm>
            <a:off x="548640" y="4206240"/>
            <a:ext cx="594360" cy="594360"/>
          </a:xfrm>
          <a:prstGeom prst="ellipse">
            <a:avLst/>
          </a:prstGeom>
          <a:solidFill>
            <a:srgbClr val="F29F05"/>
          </a:solidFill>
          <a:ln w="12700">
            <a:solidFill>
              <a:srgbClr val="F29F05"/>
            </a:solidFill>
            <a:prstDash val="solid"/>
          </a:ln>
        </p:spPr>
      </p:sp>
      <p:pic>
        <p:nvPicPr>
          <p:cNvPr id="13" name="Gap 3 icon" descr="preencoded.png">    </p:cNvPr>
          <p:cNvPicPr>
            <a:picLocks noChangeAspect="1"/>
          </p:cNvPicPr>
          <p:nvPr/>
        </p:nvPicPr>
        <p:blipFill>
          <a:blip r:embed="rId3"/>
          <a:stretch>
            <a:fillRect/>
          </a:stretch>
        </p:blipFill>
        <p:spPr>
          <a:xfrm>
            <a:off x="697230" y="4354830"/>
            <a:ext cx="297180" cy="297180"/>
          </a:xfrm>
          <a:prstGeom prst="rect">
            <a:avLst/>
          </a:prstGeom>
        </p:spPr>
      </p:pic>
      <p:sp>
        <p:nvSpPr>
          <p:cNvPr id="14" name="Gap 3 title"/>
          <p:cNvSpPr txBox="1"/>
          <p:nvPr/>
        </p:nvSpPr>
        <p:spPr>
          <a:xfrm>
            <a:off x="1325880" y="4206240"/>
            <a:ext cx="4389120" cy="365760"/>
          </a:xfrm>
          <a:prstGeom prst="rect">
            <a:avLst/>
          </a:prstGeom>
          <a:noFill/>
          <a:ln/>
        </p:spPr>
        <p:txBody>
          <a:bodyPr wrap="square" lIns="0" tIns="0" rIns="0" bIns="0" rtlCol="0" anchor="t"/>
          <a:lstStyle/>
          <a:p>
            <a:pPr indent="0" marL="0">
              <a:buNone/>
            </a:pPr>
            <a:r>
              <a:rPr lang="en-US" sz="1500" b="1" dirty="0">
                <a:solidFill>
                  <a:schemeClr val="tx1"/>
                </a:solidFill>
              </a:rPr>
              <a:t>Missing institutional clarity</a:t>
            </a:r>
            <a:endParaRPr lang="en-US" sz="1500" dirty="0"/>
          </a:p>
        </p:txBody>
      </p:sp>
      <p:sp>
        <p:nvSpPr>
          <p:cNvPr id="15" name="Gap 3 text"/>
          <p:cNvSpPr txBox="1"/>
          <p:nvPr/>
        </p:nvSpPr>
        <p:spPr>
          <a:xfrm>
            <a:off x="1325880" y="4590288"/>
            <a:ext cx="4389120" cy="685800"/>
          </a:xfrm>
          <a:prstGeom prst="rect">
            <a:avLst/>
          </a:prstGeom>
          <a:noFill/>
          <a:ln/>
        </p:spPr>
        <p:txBody>
          <a:bodyPr wrap="square" lIns="0" tIns="0" rIns="0" bIns="0" rtlCol="0" anchor="t"/>
          <a:lstStyle/>
          <a:p>
            <a:pPr indent="0" marL="0">
              <a:buNone/>
            </a:pPr>
            <a:r>
              <a:rPr lang="en-US" sz="1300" dirty="0">
                <a:solidFill>
                  <a:schemeClr val="tx2"/>
                </a:solidFill>
              </a:rPr>
              <a:t>NCIIPC and CERT-In each addressed, never together: who leads?</a:t>
            </a:r>
            <a:endParaRPr lang="en-US" sz="1300" dirty="0"/>
          </a:p>
        </p:txBody>
      </p:sp>
      <p:sp>
        <p:nvSpPr>
          <p:cNvPr id="16" name="Register card"/>
          <p:cNvSpPr/>
          <p:nvPr/>
        </p:nvSpPr>
        <p:spPr>
          <a:xfrm>
            <a:off x="6035040" y="1371600"/>
            <a:ext cx="5577840" cy="4114800"/>
          </a:xfrm>
          <a:prstGeom prst="roundRect">
            <a:avLst>
              <a:gd name="adj" fmla="val 2667"/>
            </a:avLst>
          </a:prstGeom>
          <a:solidFill>
            <a:schemeClr val="bg2"/>
          </a:solidFill>
          <a:ln w="12700">
            <a:solidFill>
              <a:schemeClr val="bg2"/>
            </a:solidFill>
            <a:prstDash val="solid"/>
          </a:ln>
          <a:effectLst>
            <a:outerShdw sx="100000" sy="100000" kx="0" ky="0" algn="bl" rotWithShape="0" blurRad="76200" dist="25400" dir="5400000">
              <a:srgbClr val="14213D">
                <a:alpha val="12000"/>
              </a:srgbClr>
            </a:outerShdw>
          </a:effectLst>
        </p:spPr>
      </p:sp>
      <p:sp>
        <p:nvSpPr>
          <p:cNvPr id="17" name="Register heading"/>
          <p:cNvSpPr txBox="1"/>
          <p:nvPr/>
        </p:nvSpPr>
        <p:spPr>
          <a:xfrm>
            <a:off x="6263640" y="1554480"/>
            <a:ext cx="5120640" cy="365760"/>
          </a:xfrm>
          <a:prstGeom prst="rect">
            <a:avLst/>
          </a:prstGeom>
          <a:noFill/>
          <a:ln/>
        </p:spPr>
        <p:txBody>
          <a:bodyPr wrap="square" lIns="0" tIns="0" rIns="0" bIns="0" rtlCol="0" anchor="t"/>
          <a:lstStyle/>
          <a:p>
            <a:pPr indent="0" marL="0">
              <a:buNone/>
            </a:pPr>
            <a:r>
              <a:rPr lang="en-US" sz="1600" b="1" dirty="0">
                <a:solidFill>
                  <a:schemeClr val="tx1"/>
                </a:solidFill>
              </a:rPr>
              <a:t>Gap register: 5 domain themes</a:t>
            </a:r>
            <a:endParaRPr lang="en-US" sz="1600" dirty="0"/>
          </a:p>
        </p:txBody>
      </p:sp>
      <p:graphicFrame>
        <p:nvGraphicFramePr>
          <p:cNvPr id="9" name="Register table"/>
          <p:cNvGraphicFramePr>
            <a:graphicFrameLocks noGrp="1"/>
          </p:cNvGraphicFramePr>
          <p:nvPr>
            <p:extLst>
              <p:ext uri="{D42A27DB-BD31-4B8C-83A1-F6EECF244321}">
                <p14:modId xmlns:p14="http://schemas.microsoft.com/office/powerpoint/2010/main" val="1579011935"/>
              </p:ext>
            </p:extLst>
          </p:nvPr>
        </p:nvGraphicFramePr>
        <p:xfrm>
          <a:off x="6263640" y="2011680"/>
          <a:ext cx="5120640" cy="914400"/>
        </p:xfrm>
        <a:graphic>
          <a:graphicData uri="http://schemas.openxmlformats.org/drawingml/2006/table">
            <a:tbl>
              <a:tblPr/>
              <a:tblGrid>
                <a:gridCol w="1371600"/>
                <a:gridCol w="2011680"/>
                <a:gridCol w="1737360"/>
              </a:tblGrid>
              <a:tr h="457200">
                <a:tc>
                  <a:txBody>
                    <a:bodyPr/>
                    <a:lstStyle/>
                    <a:p>
                      <a:pPr indent="0" marL="0">
                        <a:buNone/>
                      </a:pPr>
                      <a:r>
                        <a:rPr lang="en-US" sz="1300" b="1" dirty="0">
                          <a:solidFill>
                            <a:schemeClr val="bg1"/>
                          </a:solidFill>
                        </a:rPr>
                        <a:t>Theme</a:t>
                      </a:r>
                      <a:endParaRPr lang="en-US" sz="13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India</a:t>
                      </a:r>
                      <a:endParaRPr lang="en-US" sz="13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Comparator (reference only)</a:t>
                      </a:r>
                      <a:endParaRPr lang="en-US" sz="13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tx1"/>
                    </a:solidFill>
                  </a:tcPr>
                </a:tc>
              </a:tr>
              <a:tr h="457200">
                <a:tc>
                  <a:txBody>
                    <a:bodyPr/>
                    <a:lstStyle/>
                    <a:p>
                      <a:pPr indent="0" marL="0">
                        <a:buNone/>
                      </a:pPr>
                      <a:r>
                        <a:rPr lang="en-US" sz="1200" dirty="0">
                          <a:solidFill>
                            <a:schemeClr val="tx1"/>
                          </a:solidFill>
                        </a:rPr>
                        <a:t>Reporting clocks</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6 hours: TCS Rules r.7, CERT-In (ii)</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EU GDPR: 72 hours</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r>
              <a:tr h="457200">
                <a:tc>
                  <a:txBody>
                    <a:bodyPr/>
                    <a:lstStyle/>
                    <a:p>
                      <a:pPr indent="0" marL="0">
                        <a:buNone/>
                      </a:pPr>
                      <a:r>
                        <a:rPr lang="en-US" sz="1200" dirty="0">
                          <a:solidFill>
                            <a:schemeClr val="tx1"/>
                          </a:solidFill>
                        </a:rPr>
                        <a:t>Log retention</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c gridSpan="2">
                  <a:txBody>
                    <a:bodyPr/>
                    <a:lstStyle/>
                    <a:p>
                      <a:pPr indent="0" marL="0">
                        <a:buNone/>
                      </a:pPr>
                      <a:r>
                        <a:rPr lang="en-US" sz="1200" dirty="0">
                          <a:solidFill>
                            <a:schemeClr val="tx1"/>
                          </a:solidFill>
                        </a:rPr>
                        <a:t>CERT-In: 180 days in India; DPDP Rules: at least 1 year</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c hMerge="1">
                  <a:tcPr/>
                </a:tc>
              </a:tr>
              <a:tr h="457200">
                <a:tc>
                  <a:txBody>
                    <a:bodyPr/>
                    <a:lstStyle/>
                    <a:p>
                      <a:pPr indent="0" marL="0">
                        <a:buNone/>
                      </a:pPr>
                      <a:r>
                        <a:rPr lang="en-US" sz="1200" dirty="0">
                          <a:solidFill>
                            <a:schemeClr val="tx1"/>
                          </a:solidFill>
                        </a:rPr>
                        <a:t>CTI vs NCIIPC</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Telecom Act s.22(3); CTI Rules</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EU NIS2, ENISA; Bangladesh</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r>
              <a:tr h="457200">
                <a:tc>
                  <a:txBody>
                    <a:bodyPr/>
                    <a:lstStyle/>
                    <a:p>
                      <a:pPr indent="0" marL="0">
                        <a:buNone/>
                      </a:pPr>
                      <a:r>
                        <a:rPr lang="en-US" sz="1200" dirty="0">
                          <a:solidFill>
                            <a:schemeClr val="tx1"/>
                          </a:solidFill>
                        </a:rPr>
                        <a:t>AI in network ops</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NITI Aayog; TRAI recommendations</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EU AI Act; NIST AI RMF</a:t>
                      </a:r>
                      <a:endParaRPr lang="en-US" sz="12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r>
            </a:tbl>
          </a:graphicData>
        </a:graphic>
      </p:graphicFrame>
      <p:sp>
        <p:nvSpPr>
          <p:cNvPr id="19" name="Register note"/>
          <p:cNvSpPr txBox="1"/>
          <p:nvPr/>
        </p:nvSpPr>
        <p:spPr>
          <a:xfrm>
            <a:off x="6263640" y="4709160"/>
            <a:ext cx="5120640" cy="640080"/>
          </a:xfrm>
          <a:prstGeom prst="rect">
            <a:avLst/>
          </a:prstGeom>
          <a:noFill/>
          <a:ln/>
        </p:spPr>
        <p:txBody>
          <a:bodyPr wrap="square" lIns="0" tIns="0" rIns="0" bIns="0" rtlCol="0" anchor="t"/>
          <a:lstStyle/>
          <a:p>
            <a:pPr indent="0" marL="0">
              <a:buNone/>
            </a:pPr>
            <a:r>
              <a:rPr lang="en-US" sz="1300" dirty="0">
                <a:solidFill>
                  <a:schemeClr val="tx2"/>
                </a:solidFill>
              </a:rPr>
              <a:t>17 Indian anchors verified word for word, with page. Neighbouring examples: Sri Lanka, Bangladesh.</a:t>
            </a:r>
            <a:endParaRPr lang="en-US" sz="1300" dirty="0"/>
          </a:p>
        </p:txBody>
      </p:sp>
      <p:sp>
        <p:nvSpPr>
          <p:cNvPr id="20" name="Takeaway"/>
          <p:cNvSpPr txBox="1"/>
          <p:nvPr/>
        </p:nvSpPr>
        <p:spPr>
          <a:xfrm>
            <a:off x="548640" y="5669280"/>
            <a:ext cx="11064240" cy="365760"/>
          </a:xfrm>
          <a:prstGeom prst="rect">
            <a:avLst/>
          </a:prstGeom>
          <a:noFill/>
          <a:ln/>
        </p:spPr>
        <p:txBody>
          <a:bodyPr wrap="square" lIns="0" tIns="0" rIns="0" bIns="0" rtlCol="0" anchor="t"/>
          <a:lstStyle/>
          <a:p>
            <a:pPr indent="0" marL="0">
              <a:buNone/>
            </a:pPr>
            <a:r>
              <a:rPr lang="en-US" sz="1600" i="1" dirty="0">
                <a:solidFill>
                  <a:schemeClr val="accent2"/>
                </a:solidFill>
              </a:rPr>
              <a:t>Always “potential gap for expert review”, never “the law fails”.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ITU-T Y.3172 end to end, with our adviser as the policy node</a:t>
            </a:r>
            <a:endParaRPr lang="en-US" sz="2800" dirty="0"/>
          </a:p>
        </p:txBody>
      </p:sp>
      <p:sp>
        <p:nvSpPr>
          <p:cNvPr id="3" name="Node SRC"/>
          <p:cNvSpPr/>
          <p:nvPr/>
        </p:nvSpPr>
        <p:spPr>
          <a:xfrm>
            <a:off x="685800" y="1417320"/>
            <a:ext cx="1051560" cy="1051560"/>
          </a:xfrm>
          <a:prstGeom prst="ellipse">
            <a:avLst/>
          </a:prstGeom>
          <a:solidFill>
            <a:schemeClr val="tx1"/>
          </a:solidFill>
          <a:ln w="12700">
            <a:solidFill>
              <a:schemeClr val="tx1"/>
            </a:solidFill>
            <a:prstDash val="solid"/>
          </a:ln>
        </p:spPr>
      </p:sp>
      <p:sp>
        <p:nvSpPr>
          <p:cNvPr id="4" name="Node SRC label"/>
          <p:cNvSpPr txBox="1"/>
          <p:nvPr/>
        </p:nvSpPr>
        <p:spPr>
          <a:xfrm>
            <a:off x="685800" y="1417320"/>
            <a:ext cx="1051560" cy="1051560"/>
          </a:xfrm>
          <a:prstGeom prst="rect">
            <a:avLst/>
          </a:prstGeom>
          <a:noFill/>
          <a:ln/>
        </p:spPr>
        <p:txBody>
          <a:bodyPr wrap="square" lIns="0" tIns="0" rIns="0" bIns="0" rtlCol="0" anchor="ctr"/>
          <a:lstStyle/>
          <a:p>
            <a:pPr algn="ctr" indent="0" marL="0">
              <a:buNone/>
            </a:pPr>
            <a:r>
              <a:rPr lang="en-US" sz="2000" b="1" dirty="0">
                <a:solidFill>
                  <a:schemeClr val="bg1"/>
                </a:solidFill>
              </a:rPr>
              <a:t>SRC</a:t>
            </a:r>
            <a:endParaRPr lang="en-US" sz="2000" dirty="0"/>
          </a:p>
        </p:txBody>
      </p:sp>
      <p:sp>
        <p:nvSpPr>
          <p:cNvPr id="5" name="Node SRC name"/>
          <p:cNvSpPr txBox="1"/>
          <p:nvPr/>
        </p:nvSpPr>
        <p:spPr>
          <a:xfrm>
            <a:off x="502920" y="2560320"/>
            <a:ext cx="1417320" cy="320040"/>
          </a:xfrm>
          <a:prstGeom prst="rect">
            <a:avLst/>
          </a:prstGeom>
          <a:noFill/>
          <a:ln/>
        </p:spPr>
        <p:txBody>
          <a:bodyPr wrap="square" lIns="0" tIns="0" rIns="0" bIns="0" rtlCol="0" anchor="t"/>
          <a:lstStyle/>
          <a:p>
            <a:pPr algn="ctr" indent="0" marL="0">
              <a:buNone/>
            </a:pPr>
            <a:r>
              <a:rPr lang="en-US" sz="1300" dirty="0">
                <a:solidFill>
                  <a:schemeClr val="tx2"/>
                </a:solidFill>
              </a:rPr>
              <a:t>Sources</a:t>
            </a:r>
            <a:endParaRPr lang="en-US" sz="1300" dirty="0"/>
          </a:p>
        </p:txBody>
      </p:sp>
      <p:sp>
        <p:nvSpPr>
          <p:cNvPr id="6" name="Pipe arrow 1"/>
          <p:cNvSpPr/>
          <p:nvPr/>
        </p:nvSpPr>
        <p:spPr>
          <a:xfrm>
            <a:off x="1801368" y="1828800"/>
            <a:ext cx="411480" cy="228600"/>
          </a:xfrm>
          <a:prstGeom prst="rightArrow">
            <a:avLst/>
          </a:prstGeom>
          <a:solidFill>
            <a:schemeClr val="accent4"/>
          </a:solidFill>
          <a:ln w="12700">
            <a:solidFill>
              <a:schemeClr val="accent4"/>
            </a:solidFill>
            <a:prstDash val="solid"/>
          </a:ln>
        </p:spPr>
      </p:sp>
      <p:sp>
        <p:nvSpPr>
          <p:cNvPr id="7" name="Node C"/>
          <p:cNvSpPr/>
          <p:nvPr/>
        </p:nvSpPr>
        <p:spPr>
          <a:xfrm>
            <a:off x="2286000" y="1417320"/>
            <a:ext cx="1051560" cy="1051560"/>
          </a:xfrm>
          <a:prstGeom prst="ellipse">
            <a:avLst/>
          </a:prstGeom>
          <a:solidFill>
            <a:schemeClr val="tx1"/>
          </a:solidFill>
          <a:ln w="12700">
            <a:solidFill>
              <a:schemeClr val="tx1"/>
            </a:solidFill>
            <a:prstDash val="solid"/>
          </a:ln>
        </p:spPr>
      </p:sp>
      <p:sp>
        <p:nvSpPr>
          <p:cNvPr id="8" name="Node C label"/>
          <p:cNvSpPr txBox="1"/>
          <p:nvPr/>
        </p:nvSpPr>
        <p:spPr>
          <a:xfrm>
            <a:off x="2286000" y="1417320"/>
            <a:ext cx="1051560" cy="1051560"/>
          </a:xfrm>
          <a:prstGeom prst="rect">
            <a:avLst/>
          </a:prstGeom>
          <a:no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9" name="Node C name"/>
          <p:cNvSpPr txBox="1"/>
          <p:nvPr/>
        </p:nvSpPr>
        <p:spPr>
          <a:xfrm>
            <a:off x="2103120" y="2560320"/>
            <a:ext cx="1417320" cy="320040"/>
          </a:xfrm>
          <a:prstGeom prst="rect">
            <a:avLst/>
          </a:prstGeom>
          <a:noFill/>
          <a:ln/>
        </p:spPr>
        <p:txBody>
          <a:bodyPr wrap="square" lIns="0" tIns="0" rIns="0" bIns="0" rtlCol="0" anchor="t"/>
          <a:lstStyle/>
          <a:p>
            <a:pPr algn="ctr" indent="0" marL="0">
              <a:buNone/>
            </a:pPr>
            <a:r>
              <a:rPr lang="en-US" sz="1300" dirty="0">
                <a:solidFill>
                  <a:schemeClr val="tx2"/>
                </a:solidFill>
              </a:rPr>
              <a:t>Collector</a:t>
            </a:r>
            <a:endParaRPr lang="en-US" sz="1300" dirty="0"/>
          </a:p>
        </p:txBody>
      </p:sp>
      <p:sp>
        <p:nvSpPr>
          <p:cNvPr id="10" name="Pipe arrow 2"/>
          <p:cNvSpPr/>
          <p:nvPr/>
        </p:nvSpPr>
        <p:spPr>
          <a:xfrm>
            <a:off x="3401568" y="1828800"/>
            <a:ext cx="411480" cy="228600"/>
          </a:xfrm>
          <a:prstGeom prst="rightArrow">
            <a:avLst/>
          </a:prstGeom>
          <a:solidFill>
            <a:schemeClr val="accent4"/>
          </a:solidFill>
          <a:ln w="12700">
            <a:solidFill>
              <a:schemeClr val="accent4"/>
            </a:solidFill>
            <a:prstDash val="solid"/>
          </a:ln>
        </p:spPr>
      </p:sp>
      <p:sp>
        <p:nvSpPr>
          <p:cNvPr id="11" name="Node PP"/>
          <p:cNvSpPr/>
          <p:nvPr/>
        </p:nvSpPr>
        <p:spPr>
          <a:xfrm>
            <a:off x="3886200" y="1417320"/>
            <a:ext cx="1051560" cy="1051560"/>
          </a:xfrm>
          <a:prstGeom prst="ellipse">
            <a:avLst/>
          </a:prstGeom>
          <a:solidFill>
            <a:schemeClr val="tx1"/>
          </a:solidFill>
          <a:ln w="12700">
            <a:solidFill>
              <a:schemeClr val="tx1"/>
            </a:solidFill>
            <a:prstDash val="solid"/>
          </a:ln>
        </p:spPr>
      </p:sp>
      <p:sp>
        <p:nvSpPr>
          <p:cNvPr id="12" name="Node PP label"/>
          <p:cNvSpPr txBox="1"/>
          <p:nvPr/>
        </p:nvSpPr>
        <p:spPr>
          <a:xfrm>
            <a:off x="3886200" y="1417320"/>
            <a:ext cx="1051560" cy="1051560"/>
          </a:xfrm>
          <a:prstGeom prst="rect">
            <a:avLst/>
          </a:prstGeom>
          <a:noFill/>
          <a:ln/>
        </p:spPr>
        <p:txBody>
          <a:bodyPr wrap="square" lIns="0" tIns="0" rIns="0" bIns="0" rtlCol="0" anchor="ctr"/>
          <a:lstStyle/>
          <a:p>
            <a:pPr algn="ctr" indent="0" marL="0">
              <a:buNone/>
            </a:pPr>
            <a:r>
              <a:rPr lang="en-US" sz="2000" b="1" dirty="0">
                <a:solidFill>
                  <a:schemeClr val="bg1"/>
                </a:solidFill>
              </a:rPr>
              <a:t>PP</a:t>
            </a:r>
            <a:endParaRPr lang="en-US" sz="2000" dirty="0"/>
          </a:p>
        </p:txBody>
      </p:sp>
      <p:sp>
        <p:nvSpPr>
          <p:cNvPr id="13" name="Node PP name"/>
          <p:cNvSpPr txBox="1"/>
          <p:nvPr/>
        </p:nvSpPr>
        <p:spPr>
          <a:xfrm>
            <a:off x="3703320" y="2560320"/>
            <a:ext cx="1417320" cy="320040"/>
          </a:xfrm>
          <a:prstGeom prst="rect">
            <a:avLst/>
          </a:prstGeom>
          <a:noFill/>
          <a:ln/>
        </p:spPr>
        <p:txBody>
          <a:bodyPr wrap="square" lIns="0" tIns="0" rIns="0" bIns="0" rtlCol="0" anchor="t"/>
          <a:lstStyle/>
          <a:p>
            <a:pPr algn="ctr" indent="0" marL="0">
              <a:buNone/>
            </a:pPr>
            <a:r>
              <a:rPr lang="en-US" sz="1300" dirty="0">
                <a:solidFill>
                  <a:schemeClr val="tx2"/>
                </a:solidFill>
              </a:rPr>
              <a:t>Pre-processor</a:t>
            </a:r>
            <a:endParaRPr lang="en-US" sz="1300" dirty="0"/>
          </a:p>
        </p:txBody>
      </p:sp>
      <p:sp>
        <p:nvSpPr>
          <p:cNvPr id="14" name="Pipe arrow 3"/>
          <p:cNvSpPr/>
          <p:nvPr/>
        </p:nvSpPr>
        <p:spPr>
          <a:xfrm>
            <a:off x="5001768" y="1828800"/>
            <a:ext cx="411480" cy="228600"/>
          </a:xfrm>
          <a:prstGeom prst="rightArrow">
            <a:avLst/>
          </a:prstGeom>
          <a:solidFill>
            <a:schemeClr val="accent4"/>
          </a:solidFill>
          <a:ln w="12700">
            <a:solidFill>
              <a:schemeClr val="accent4"/>
            </a:solidFill>
            <a:prstDash val="solid"/>
          </a:ln>
        </p:spPr>
      </p:sp>
      <p:sp>
        <p:nvSpPr>
          <p:cNvPr id="15" name="Node M"/>
          <p:cNvSpPr/>
          <p:nvPr/>
        </p:nvSpPr>
        <p:spPr>
          <a:xfrm>
            <a:off x="5486400" y="1417320"/>
            <a:ext cx="1051560" cy="1051560"/>
          </a:xfrm>
          <a:prstGeom prst="ellipse">
            <a:avLst/>
          </a:prstGeom>
          <a:solidFill>
            <a:schemeClr val="tx1"/>
          </a:solidFill>
          <a:ln w="12700">
            <a:solidFill>
              <a:schemeClr val="tx1"/>
            </a:solidFill>
            <a:prstDash val="solid"/>
          </a:ln>
        </p:spPr>
      </p:sp>
      <p:sp>
        <p:nvSpPr>
          <p:cNvPr id="16" name="Node M label"/>
          <p:cNvSpPr txBox="1"/>
          <p:nvPr/>
        </p:nvSpPr>
        <p:spPr>
          <a:xfrm>
            <a:off x="5486400" y="1417320"/>
            <a:ext cx="1051560" cy="1051560"/>
          </a:xfrm>
          <a:prstGeom prst="rect">
            <a:avLst/>
          </a:prstGeom>
          <a:noFill/>
          <a:ln/>
        </p:spPr>
        <p:txBody>
          <a:bodyPr wrap="square" lIns="0" tIns="0" rIns="0" bIns="0" rtlCol="0" anchor="ctr"/>
          <a:lstStyle/>
          <a:p>
            <a:pPr algn="ctr" indent="0" marL="0">
              <a:buNone/>
            </a:pPr>
            <a:r>
              <a:rPr lang="en-US" sz="2000" b="1" dirty="0">
                <a:solidFill>
                  <a:schemeClr val="bg1"/>
                </a:solidFill>
              </a:rPr>
              <a:t>M</a:t>
            </a:r>
            <a:endParaRPr lang="en-US" sz="2000" dirty="0"/>
          </a:p>
        </p:txBody>
      </p:sp>
      <p:sp>
        <p:nvSpPr>
          <p:cNvPr id="17" name="Node M name"/>
          <p:cNvSpPr txBox="1"/>
          <p:nvPr/>
        </p:nvSpPr>
        <p:spPr>
          <a:xfrm>
            <a:off x="5303520" y="2560320"/>
            <a:ext cx="1417320" cy="320040"/>
          </a:xfrm>
          <a:prstGeom prst="rect">
            <a:avLst/>
          </a:prstGeom>
          <a:noFill/>
          <a:ln/>
        </p:spPr>
        <p:txBody>
          <a:bodyPr wrap="square" lIns="0" tIns="0" rIns="0" bIns="0" rtlCol="0" anchor="t"/>
          <a:lstStyle/>
          <a:p>
            <a:pPr algn="ctr" indent="0" marL="0">
              <a:buNone/>
            </a:pPr>
            <a:r>
              <a:rPr lang="en-US" sz="1300" dirty="0">
                <a:solidFill>
                  <a:schemeClr val="tx2"/>
                </a:solidFill>
              </a:rPr>
              <a:t>Model</a:t>
            </a:r>
            <a:endParaRPr lang="en-US" sz="1300" dirty="0"/>
          </a:p>
        </p:txBody>
      </p:sp>
      <p:sp>
        <p:nvSpPr>
          <p:cNvPr id="18" name="Pipe arrow 4"/>
          <p:cNvSpPr/>
          <p:nvPr/>
        </p:nvSpPr>
        <p:spPr>
          <a:xfrm>
            <a:off x="6601968" y="1828800"/>
            <a:ext cx="411480" cy="228600"/>
          </a:xfrm>
          <a:prstGeom prst="rightArrow">
            <a:avLst/>
          </a:prstGeom>
          <a:solidFill>
            <a:schemeClr val="accent4"/>
          </a:solidFill>
          <a:ln w="12700">
            <a:solidFill>
              <a:schemeClr val="accent4"/>
            </a:solidFill>
            <a:prstDash val="solid"/>
          </a:ln>
        </p:spPr>
      </p:sp>
      <p:sp>
        <p:nvSpPr>
          <p:cNvPr id="19" name="Node P"/>
          <p:cNvSpPr/>
          <p:nvPr/>
        </p:nvSpPr>
        <p:spPr>
          <a:xfrm>
            <a:off x="7086600" y="1417320"/>
            <a:ext cx="1051560" cy="1051560"/>
          </a:xfrm>
          <a:prstGeom prst="ellipse">
            <a:avLst/>
          </a:prstGeom>
          <a:solidFill>
            <a:schemeClr val="accent1"/>
          </a:solidFill>
          <a:ln w="12700">
            <a:solidFill>
              <a:schemeClr val="accent1"/>
            </a:solidFill>
            <a:prstDash val="solid"/>
          </a:ln>
        </p:spPr>
      </p:sp>
      <p:sp>
        <p:nvSpPr>
          <p:cNvPr id="20" name="Node P label"/>
          <p:cNvSpPr txBox="1"/>
          <p:nvPr/>
        </p:nvSpPr>
        <p:spPr>
          <a:xfrm>
            <a:off x="7086600" y="1417320"/>
            <a:ext cx="1051560" cy="1051560"/>
          </a:xfrm>
          <a:prstGeom prst="rect">
            <a:avLst/>
          </a:prstGeom>
          <a:noFill/>
          <a:ln/>
        </p:spPr>
        <p:txBody>
          <a:bodyPr wrap="square" lIns="0" tIns="0" rIns="0" bIns="0" rtlCol="0" anchor="ctr"/>
          <a:lstStyle/>
          <a:p>
            <a:pPr algn="ctr" indent="0" marL="0">
              <a:buNone/>
            </a:pPr>
            <a:r>
              <a:rPr lang="en-US" sz="2000" b="1" dirty="0">
                <a:solidFill>
                  <a:schemeClr val="tx1"/>
                </a:solidFill>
              </a:rPr>
              <a:t>P</a:t>
            </a:r>
            <a:endParaRPr lang="en-US" sz="2000" dirty="0"/>
          </a:p>
        </p:txBody>
      </p:sp>
      <p:sp>
        <p:nvSpPr>
          <p:cNvPr id="21" name="Node P name"/>
          <p:cNvSpPr txBox="1"/>
          <p:nvPr/>
        </p:nvSpPr>
        <p:spPr>
          <a:xfrm>
            <a:off x="6903720" y="2560320"/>
            <a:ext cx="1417320" cy="320040"/>
          </a:xfrm>
          <a:prstGeom prst="rect">
            <a:avLst/>
          </a:prstGeom>
          <a:noFill/>
          <a:ln/>
        </p:spPr>
        <p:txBody>
          <a:bodyPr wrap="square" lIns="0" tIns="0" rIns="0" bIns="0" rtlCol="0" anchor="t"/>
          <a:lstStyle/>
          <a:p>
            <a:pPr algn="ctr" indent="0" marL="0">
              <a:buNone/>
            </a:pPr>
            <a:r>
              <a:rPr lang="en-US" sz="1300" dirty="0">
                <a:solidFill>
                  <a:schemeClr val="tx2"/>
                </a:solidFill>
              </a:rPr>
              <a:t>Policy</a:t>
            </a:r>
            <a:endParaRPr lang="en-US" sz="1300" dirty="0"/>
          </a:p>
        </p:txBody>
      </p:sp>
      <p:sp>
        <p:nvSpPr>
          <p:cNvPr id="22" name="Pipe arrow 5"/>
          <p:cNvSpPr/>
          <p:nvPr/>
        </p:nvSpPr>
        <p:spPr>
          <a:xfrm>
            <a:off x="8202168" y="1828800"/>
            <a:ext cx="411480" cy="228600"/>
          </a:xfrm>
          <a:prstGeom prst="rightArrow">
            <a:avLst/>
          </a:prstGeom>
          <a:solidFill>
            <a:schemeClr val="accent4"/>
          </a:solidFill>
          <a:ln w="12700">
            <a:solidFill>
              <a:schemeClr val="accent4"/>
            </a:solidFill>
            <a:prstDash val="solid"/>
          </a:ln>
        </p:spPr>
      </p:sp>
      <p:sp>
        <p:nvSpPr>
          <p:cNvPr id="23" name="Node D"/>
          <p:cNvSpPr/>
          <p:nvPr/>
        </p:nvSpPr>
        <p:spPr>
          <a:xfrm>
            <a:off x="8686800" y="1417320"/>
            <a:ext cx="1051560" cy="1051560"/>
          </a:xfrm>
          <a:prstGeom prst="ellipse">
            <a:avLst/>
          </a:prstGeom>
          <a:solidFill>
            <a:schemeClr val="tx1"/>
          </a:solidFill>
          <a:ln w="12700">
            <a:solidFill>
              <a:schemeClr val="tx1"/>
            </a:solidFill>
            <a:prstDash val="solid"/>
          </a:ln>
        </p:spPr>
      </p:sp>
      <p:sp>
        <p:nvSpPr>
          <p:cNvPr id="24" name="Node D label"/>
          <p:cNvSpPr txBox="1"/>
          <p:nvPr/>
        </p:nvSpPr>
        <p:spPr>
          <a:xfrm>
            <a:off x="8686800" y="1417320"/>
            <a:ext cx="1051560" cy="1051560"/>
          </a:xfrm>
          <a:prstGeom prst="rect">
            <a:avLst/>
          </a:prstGeom>
          <a:no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25" name="Node D name"/>
          <p:cNvSpPr txBox="1"/>
          <p:nvPr/>
        </p:nvSpPr>
        <p:spPr>
          <a:xfrm>
            <a:off x="8503920" y="2560320"/>
            <a:ext cx="1417320" cy="320040"/>
          </a:xfrm>
          <a:prstGeom prst="rect">
            <a:avLst/>
          </a:prstGeom>
          <a:noFill/>
          <a:ln/>
        </p:spPr>
        <p:txBody>
          <a:bodyPr wrap="square" lIns="0" tIns="0" rIns="0" bIns="0" rtlCol="0" anchor="t"/>
          <a:lstStyle/>
          <a:p>
            <a:pPr algn="ctr" indent="0" marL="0">
              <a:buNone/>
            </a:pPr>
            <a:r>
              <a:rPr lang="en-US" sz="1300" dirty="0">
                <a:solidFill>
                  <a:schemeClr val="tx2"/>
                </a:solidFill>
              </a:rPr>
              <a:t>Distributor</a:t>
            </a:r>
            <a:endParaRPr lang="en-US" sz="1300" dirty="0"/>
          </a:p>
        </p:txBody>
      </p:sp>
      <p:sp>
        <p:nvSpPr>
          <p:cNvPr id="26" name="Pipe arrow 6"/>
          <p:cNvSpPr/>
          <p:nvPr/>
        </p:nvSpPr>
        <p:spPr>
          <a:xfrm>
            <a:off x="9802368" y="1828800"/>
            <a:ext cx="411480" cy="228600"/>
          </a:xfrm>
          <a:prstGeom prst="rightArrow">
            <a:avLst/>
          </a:prstGeom>
          <a:solidFill>
            <a:schemeClr val="accent4"/>
          </a:solidFill>
          <a:ln w="12700">
            <a:solidFill>
              <a:schemeClr val="accent4"/>
            </a:solidFill>
            <a:prstDash val="solid"/>
          </a:ln>
        </p:spPr>
      </p:sp>
      <p:sp>
        <p:nvSpPr>
          <p:cNvPr id="27" name="Node SINK"/>
          <p:cNvSpPr/>
          <p:nvPr/>
        </p:nvSpPr>
        <p:spPr>
          <a:xfrm>
            <a:off x="10287000" y="1417320"/>
            <a:ext cx="1051560" cy="1051560"/>
          </a:xfrm>
          <a:prstGeom prst="ellipse">
            <a:avLst/>
          </a:prstGeom>
          <a:solidFill>
            <a:schemeClr val="tx1"/>
          </a:solidFill>
          <a:ln w="12700">
            <a:solidFill>
              <a:schemeClr val="tx1"/>
            </a:solidFill>
            <a:prstDash val="solid"/>
          </a:ln>
        </p:spPr>
      </p:sp>
      <p:sp>
        <p:nvSpPr>
          <p:cNvPr id="28" name="Node SINK label"/>
          <p:cNvSpPr txBox="1"/>
          <p:nvPr/>
        </p:nvSpPr>
        <p:spPr>
          <a:xfrm>
            <a:off x="10287000" y="1417320"/>
            <a:ext cx="1051560" cy="1051560"/>
          </a:xfrm>
          <a:prstGeom prst="rect">
            <a:avLst/>
          </a:prstGeom>
          <a:noFill/>
          <a:ln/>
        </p:spPr>
        <p:txBody>
          <a:bodyPr wrap="square" lIns="0" tIns="0" rIns="0" bIns="0" rtlCol="0" anchor="ctr"/>
          <a:lstStyle/>
          <a:p>
            <a:pPr algn="ctr" indent="0" marL="0">
              <a:buNone/>
            </a:pPr>
            <a:r>
              <a:rPr lang="en-US" sz="2000" b="1" dirty="0">
                <a:solidFill>
                  <a:schemeClr val="bg1"/>
                </a:solidFill>
              </a:rPr>
              <a:t>SINK</a:t>
            </a:r>
            <a:endParaRPr lang="en-US" sz="2000" dirty="0"/>
          </a:p>
        </p:txBody>
      </p:sp>
      <p:sp>
        <p:nvSpPr>
          <p:cNvPr id="29" name="Node SINK name"/>
          <p:cNvSpPr txBox="1"/>
          <p:nvPr/>
        </p:nvSpPr>
        <p:spPr>
          <a:xfrm>
            <a:off x="10104120" y="2560320"/>
            <a:ext cx="1417320" cy="320040"/>
          </a:xfrm>
          <a:prstGeom prst="rect">
            <a:avLst/>
          </a:prstGeom>
          <a:noFill/>
          <a:ln/>
        </p:spPr>
        <p:txBody>
          <a:bodyPr wrap="square" lIns="0" tIns="0" rIns="0" bIns="0" rtlCol="0" anchor="t"/>
          <a:lstStyle/>
          <a:p>
            <a:pPr algn="ctr" indent="0" marL="0">
              <a:buNone/>
            </a:pPr>
            <a:r>
              <a:rPr lang="en-US" sz="1300" dirty="0">
                <a:solidFill>
                  <a:schemeClr val="tx2"/>
                </a:solidFill>
              </a:rPr>
              <a:t>Actions</a:t>
            </a:r>
            <a:endParaRPr lang="en-US" sz="1300" dirty="0"/>
          </a:p>
        </p:txBody>
      </p:sp>
      <p:sp>
        <p:nvSpPr>
          <p:cNvPr id="30" name="P callout"/>
          <p:cNvSpPr txBox="1"/>
          <p:nvPr/>
        </p:nvSpPr>
        <p:spPr>
          <a:xfrm>
            <a:off x="6766560" y="2880360"/>
            <a:ext cx="1828800" cy="320040"/>
          </a:xfrm>
          <a:prstGeom prst="rect">
            <a:avLst/>
          </a:prstGeom>
          <a:noFill/>
          <a:ln/>
        </p:spPr>
        <p:txBody>
          <a:bodyPr wrap="square" lIns="0" tIns="0" rIns="0" bIns="0" rtlCol="0" anchor="t"/>
          <a:lstStyle/>
          <a:p>
            <a:pPr indent="0" marL="0">
              <a:buNone/>
            </a:pPr>
            <a:r>
              <a:rPr lang="en-US" sz="1300" b="1" dirty="0">
                <a:solidFill>
                  <a:schemeClr val="accent6"/>
                </a:solidFill>
              </a:rPr>
              <a:t>↑ the legal adviser</a:t>
            </a:r>
            <a:endParaRPr lang="en-US" sz="1300" dirty="0"/>
          </a:p>
        </p:txBody>
      </p:sp>
      <p:sp>
        <p:nvSpPr>
          <p:cNvPr id="31" name="ML Intent card"/>
          <p:cNvSpPr/>
          <p:nvPr/>
        </p:nvSpPr>
        <p:spPr>
          <a:xfrm>
            <a:off x="548640" y="3383280"/>
            <a:ext cx="352044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76200" dist="25400" dir="5400000">
              <a:srgbClr val="14213D">
                <a:alpha val="12000"/>
              </a:srgbClr>
            </a:outerShdw>
          </a:effectLst>
        </p:spPr>
      </p:sp>
      <p:sp>
        <p:nvSpPr>
          <p:cNvPr id="32" name="ML Intent circle"/>
          <p:cNvSpPr/>
          <p:nvPr/>
        </p:nvSpPr>
        <p:spPr>
          <a:xfrm>
            <a:off x="731520" y="3566160"/>
            <a:ext cx="548640" cy="548640"/>
          </a:xfrm>
          <a:prstGeom prst="ellipse">
            <a:avLst/>
          </a:prstGeom>
          <a:solidFill>
            <a:srgbClr val="0F7B6C"/>
          </a:solidFill>
          <a:ln w="12700">
            <a:solidFill>
              <a:srgbClr val="0F7B6C"/>
            </a:solidFill>
            <a:prstDash val="solid"/>
          </a:ln>
        </p:spPr>
      </p:sp>
      <p:pic>
        <p:nvPicPr>
          <p:cNvPr id="33" name="ML Intent icon" descr="preencoded.png">    </p:cNvPr>
          <p:cNvPicPr>
            <a:picLocks noChangeAspect="1"/>
          </p:cNvPicPr>
          <p:nvPr/>
        </p:nvPicPr>
        <p:blipFill>
          <a:blip r:embed="rId1"/>
          <a:stretch>
            <a:fillRect/>
          </a:stretch>
        </p:blipFill>
        <p:spPr>
          <a:xfrm>
            <a:off x="868680" y="3703320"/>
            <a:ext cx="274320" cy="274320"/>
          </a:xfrm>
          <a:prstGeom prst="rect">
            <a:avLst/>
          </a:prstGeom>
        </p:spPr>
      </p:pic>
      <p:sp>
        <p:nvSpPr>
          <p:cNvPr id="34" name="ML Intent title"/>
          <p:cNvSpPr txBox="1"/>
          <p:nvPr/>
        </p:nvSpPr>
        <p:spPr>
          <a:xfrm>
            <a:off x="1417320" y="3566160"/>
            <a:ext cx="2514600" cy="548640"/>
          </a:xfrm>
          <a:prstGeom prst="rect">
            <a:avLst/>
          </a:prstGeom>
          <a:noFill/>
          <a:ln/>
        </p:spPr>
        <p:txBody>
          <a:bodyPr wrap="square" lIns="0" tIns="0" rIns="0" bIns="0" rtlCol="0" anchor="ctr"/>
          <a:lstStyle/>
          <a:p>
            <a:pPr indent="0" marL="0">
              <a:buNone/>
            </a:pPr>
            <a:r>
              <a:rPr lang="en-US" sz="1500" b="1" dirty="0">
                <a:solidFill>
                  <a:schemeClr val="tx1"/>
                </a:solidFill>
              </a:rPr>
              <a:t>ML Intent</a:t>
            </a:r>
            <a:endParaRPr lang="en-US" sz="1500" dirty="0"/>
          </a:p>
        </p:txBody>
      </p:sp>
      <p:sp>
        <p:nvSpPr>
          <p:cNvPr id="35" name="ML Intent text"/>
          <p:cNvSpPr txBox="1"/>
          <p:nvPr/>
        </p:nvSpPr>
        <p:spPr>
          <a:xfrm>
            <a:off x="731520" y="4251960"/>
            <a:ext cx="3154680" cy="1188720"/>
          </a:xfrm>
          <a:prstGeom prst="rect">
            <a:avLst/>
          </a:prstGeom>
          <a:noFill/>
          <a:ln/>
        </p:spPr>
        <p:txBody>
          <a:bodyPr wrap="square" lIns="0" tIns="0" rIns="0" bIns="0" rtlCol="0" anchor="t"/>
          <a:lstStyle/>
          <a:p>
            <a:pPr indent="0" marL="0">
              <a:buNone/>
            </a:pPr>
            <a:r>
              <a:rPr lang="en-US" sz="1300" dirty="0">
                <a:solidFill>
                  <a:schemeClr val="tx2"/>
                </a:solidFill>
              </a:rPr>
              <a:t>A YAML goal: detect signalling storms on the AMF; minimum macro-F1, maximum inference time</a:t>
            </a:r>
            <a:endParaRPr lang="en-US" sz="1300" dirty="0"/>
          </a:p>
        </p:txBody>
      </p:sp>
      <p:sp>
        <p:nvSpPr>
          <p:cNvPr id="36" name="MLFO and ML sandbox card"/>
          <p:cNvSpPr/>
          <p:nvPr/>
        </p:nvSpPr>
        <p:spPr>
          <a:xfrm>
            <a:off x="4325112" y="3383280"/>
            <a:ext cx="352044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76200" dist="25400" dir="5400000">
              <a:srgbClr val="14213D">
                <a:alpha val="12000"/>
              </a:srgbClr>
            </a:outerShdw>
          </a:effectLst>
        </p:spPr>
      </p:sp>
      <p:sp>
        <p:nvSpPr>
          <p:cNvPr id="37" name="MLFO and ML sandbox circle"/>
          <p:cNvSpPr/>
          <p:nvPr/>
        </p:nvSpPr>
        <p:spPr>
          <a:xfrm>
            <a:off x="4507992" y="3566160"/>
            <a:ext cx="548640" cy="548640"/>
          </a:xfrm>
          <a:prstGeom prst="ellipse">
            <a:avLst/>
          </a:prstGeom>
          <a:solidFill>
            <a:srgbClr val="0F7B6C"/>
          </a:solidFill>
          <a:ln w="12700">
            <a:solidFill>
              <a:srgbClr val="0F7B6C"/>
            </a:solidFill>
            <a:prstDash val="solid"/>
          </a:ln>
        </p:spPr>
      </p:sp>
      <p:pic>
        <p:nvPicPr>
          <p:cNvPr id="38" name="MLFO and ML sandbox icon" descr="preencoded.png">    </p:cNvPr>
          <p:cNvPicPr>
            <a:picLocks noChangeAspect="1"/>
          </p:cNvPicPr>
          <p:nvPr/>
        </p:nvPicPr>
        <p:blipFill>
          <a:blip r:embed="rId2"/>
          <a:stretch>
            <a:fillRect/>
          </a:stretch>
        </p:blipFill>
        <p:spPr>
          <a:xfrm>
            <a:off x="4645152" y="3703320"/>
            <a:ext cx="274320" cy="274320"/>
          </a:xfrm>
          <a:prstGeom prst="rect">
            <a:avLst/>
          </a:prstGeom>
        </p:spPr>
      </p:pic>
      <p:sp>
        <p:nvSpPr>
          <p:cNvPr id="39" name="MLFO and ML sandbox title"/>
          <p:cNvSpPr txBox="1"/>
          <p:nvPr/>
        </p:nvSpPr>
        <p:spPr>
          <a:xfrm>
            <a:off x="5193792" y="3566160"/>
            <a:ext cx="2514600" cy="548640"/>
          </a:xfrm>
          <a:prstGeom prst="rect">
            <a:avLst/>
          </a:prstGeom>
          <a:noFill/>
          <a:ln/>
        </p:spPr>
        <p:txBody>
          <a:bodyPr wrap="square" lIns="0" tIns="0" rIns="0" bIns="0" rtlCol="0" anchor="ctr"/>
          <a:lstStyle/>
          <a:p>
            <a:pPr indent="0" marL="0">
              <a:buNone/>
            </a:pPr>
            <a:r>
              <a:rPr lang="en-US" sz="1500" b="1" dirty="0">
                <a:solidFill>
                  <a:schemeClr val="tx1"/>
                </a:solidFill>
              </a:rPr>
              <a:t>MLFO and ML sandbox</a:t>
            </a:r>
            <a:endParaRPr lang="en-US" sz="1500" dirty="0"/>
          </a:p>
        </p:txBody>
      </p:sp>
      <p:sp>
        <p:nvSpPr>
          <p:cNvPr id="40" name="MLFO and ML sandbox text"/>
          <p:cNvSpPr txBox="1"/>
          <p:nvPr/>
        </p:nvSpPr>
        <p:spPr>
          <a:xfrm>
            <a:off x="4507992" y="4251960"/>
            <a:ext cx="3154680" cy="1188720"/>
          </a:xfrm>
          <a:prstGeom prst="rect">
            <a:avLst/>
          </a:prstGeom>
          <a:noFill/>
          <a:ln/>
        </p:spPr>
        <p:txBody>
          <a:bodyPr wrap="square" lIns="0" tIns="0" rIns="0" bIns="0" rtlCol="0" anchor="t"/>
          <a:lstStyle/>
          <a:p>
            <a:pPr indent="0" marL="0">
              <a:buNone/>
            </a:pPr>
            <a:r>
              <a:rPr lang="en-US" sz="1300" dirty="0">
                <a:solidFill>
                  <a:schemeClr val="tx2"/>
                </a:solidFill>
              </a:rPr>
              <a:t>Trains and compares models (Isolation Forest + Random Forest, baseline), tests every playbook before going live, monitors and re-selects</a:t>
            </a:r>
            <a:endParaRPr lang="en-US" sz="1300" dirty="0"/>
          </a:p>
        </p:txBody>
      </p:sp>
      <p:sp>
        <p:nvSpPr>
          <p:cNvPr id="41" name="P node in blocking mode card"/>
          <p:cNvSpPr/>
          <p:nvPr/>
        </p:nvSpPr>
        <p:spPr>
          <a:xfrm>
            <a:off x="8101584" y="3383280"/>
            <a:ext cx="352044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76200" dist="25400" dir="5400000">
              <a:srgbClr val="14213D">
                <a:alpha val="12000"/>
              </a:srgbClr>
            </a:outerShdw>
          </a:effectLst>
        </p:spPr>
      </p:sp>
      <p:sp>
        <p:nvSpPr>
          <p:cNvPr id="42" name="P node in blocking mode circle"/>
          <p:cNvSpPr/>
          <p:nvPr/>
        </p:nvSpPr>
        <p:spPr>
          <a:xfrm>
            <a:off x="8284464" y="3566160"/>
            <a:ext cx="548640" cy="548640"/>
          </a:xfrm>
          <a:prstGeom prst="ellipse">
            <a:avLst/>
          </a:prstGeom>
          <a:solidFill>
            <a:srgbClr val="0F7B6C"/>
          </a:solidFill>
          <a:ln w="12700">
            <a:solidFill>
              <a:srgbClr val="0F7B6C"/>
            </a:solidFill>
            <a:prstDash val="solid"/>
          </a:ln>
        </p:spPr>
      </p:sp>
      <p:pic>
        <p:nvPicPr>
          <p:cNvPr id="43" name="P node in blocking mode icon" descr="preencoded.png">    </p:cNvPr>
          <p:cNvPicPr>
            <a:picLocks noChangeAspect="1"/>
          </p:cNvPicPr>
          <p:nvPr/>
        </p:nvPicPr>
        <p:blipFill>
          <a:blip r:embed="rId3"/>
          <a:stretch>
            <a:fillRect/>
          </a:stretch>
        </p:blipFill>
        <p:spPr>
          <a:xfrm>
            <a:off x="8421624" y="3703320"/>
            <a:ext cx="274320" cy="274320"/>
          </a:xfrm>
          <a:prstGeom prst="rect">
            <a:avLst/>
          </a:prstGeom>
        </p:spPr>
      </p:pic>
      <p:sp>
        <p:nvSpPr>
          <p:cNvPr id="44" name="P node in blocking mode title"/>
          <p:cNvSpPr txBox="1"/>
          <p:nvPr/>
        </p:nvSpPr>
        <p:spPr>
          <a:xfrm>
            <a:off x="8970264" y="3566160"/>
            <a:ext cx="2514600" cy="548640"/>
          </a:xfrm>
          <a:prstGeom prst="rect">
            <a:avLst/>
          </a:prstGeom>
          <a:noFill/>
          <a:ln/>
        </p:spPr>
        <p:txBody>
          <a:bodyPr wrap="square" lIns="0" tIns="0" rIns="0" bIns="0" rtlCol="0" anchor="ctr"/>
          <a:lstStyle/>
          <a:p>
            <a:pPr indent="0" marL="0">
              <a:buNone/>
            </a:pPr>
            <a:r>
              <a:rPr lang="en-US" sz="1500" b="1" dirty="0">
                <a:solidFill>
                  <a:schemeClr val="tx1"/>
                </a:solidFill>
              </a:rPr>
              <a:t>P node in blocking mode</a:t>
            </a:r>
            <a:endParaRPr lang="en-US" sz="1500" dirty="0"/>
          </a:p>
        </p:txBody>
      </p:sp>
      <p:sp>
        <p:nvSpPr>
          <p:cNvPr id="45" name="P node in blocking mode text"/>
          <p:cNvSpPr txBox="1"/>
          <p:nvPr/>
        </p:nvSpPr>
        <p:spPr>
          <a:xfrm>
            <a:off x="8284464" y="4251960"/>
            <a:ext cx="3154680" cy="1188720"/>
          </a:xfrm>
          <a:prstGeom prst="rect">
            <a:avLst/>
          </a:prstGeom>
          <a:noFill/>
          <a:ln/>
        </p:spPr>
        <p:txBody>
          <a:bodyPr wrap="square" lIns="0" tIns="0" rIns="0" bIns="0" rtlCol="0" anchor="t"/>
          <a:lstStyle/>
          <a:p>
            <a:pPr indent="0" marL="0">
              <a:buNone/>
            </a:pPr>
            <a:r>
              <a:rPr lang="en-US" sz="1300" dirty="0">
                <a:solidFill>
                  <a:schemeClr val="tx2"/>
                </a:solidFill>
              </a:rPr>
              <a:t>Lists the Indian obligations and holds any fix for human approval; SINKs preserve evidence and draft notices</a:t>
            </a:r>
            <a:endParaRPr lang="en-US" sz="1300" dirty="0"/>
          </a:p>
        </p:txBody>
      </p:sp>
      <p:sp>
        <p:nvSpPr>
          <p:cNvPr id="46" name="Example run"/>
          <p:cNvSpPr txBox="1"/>
          <p:nvPr/>
        </p:nvSpPr>
        <p:spPr>
          <a:xfrm>
            <a:off x="548640" y="5715000"/>
            <a:ext cx="11064240" cy="365760"/>
          </a:xfrm>
          <a:prstGeom prst="rect">
            <a:avLst/>
          </a:prstGeom>
          <a:noFill/>
          <a:ln/>
        </p:spPr>
        <p:txBody>
          <a:bodyPr wrap="square" lIns="0" tIns="0" rIns="0" bIns="0" rtlCol="0" anchor="t"/>
          <a:lstStyle/>
          <a:p>
            <a:pPr indent="0" marL="0">
              <a:buNone/>
            </a:pPr>
            <a:r>
              <a:rPr lang="en-US" sz="1400" i="1" dirty="0">
                <a:solidFill>
                  <a:schemeClr val="accent2"/>
                </a:solidFill>
              </a:rPr>
              <a:t>Example run (amf_signalling_storm): 1 of 1 attacks detected within the deadline · 1 model re-selection · 12 draft notices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2800" b="1" dirty="0">
                <a:solidFill>
                  <a:schemeClr val="bg1"/>
                </a:solidFill>
                <a:latin typeface="Cambria" pitchFamily="34" charset="0"/>
                <a:ea typeface="Cambria" pitchFamily="34" charset="-122"/>
                <a:cs typeface="Cambria" pitchFamily="34" charset="-120"/>
              </a:rPr>
              <a:t>Demo 2 — The Y.3172 pipeline, step by step</a:t>
            </a:r>
            <a:endParaRPr lang="en-US" sz="2800" dirty="0"/>
          </a:p>
        </p:txBody>
      </p:sp>
      <p:sp>
        <p:nvSpPr>
          <p:cNvPr id="3" name="Video frame"/>
          <p:cNvSpPr/>
          <p:nvPr/>
        </p:nvSpPr>
        <p:spPr>
          <a:xfrm>
            <a:off x="548640" y="1325880"/>
            <a:ext cx="7498080" cy="4215384"/>
          </a:xfrm>
          <a:prstGeom prst="roundRect">
            <a:avLst>
              <a:gd name="adj" fmla="val 2169"/>
            </a:avLst>
          </a:prstGeom>
          <a:solidFill>
            <a:schemeClr val="tx2"/>
          </a:solidFill>
          <a:ln w="19050">
            <a:solidFill>
              <a:schemeClr val="accent1"/>
            </a:solidFill>
            <a:prstDash val="dash"/>
          </a:ln>
        </p:spPr>
      </p:sp>
      <p:sp>
        <p:nvSpPr>
          <p:cNvPr id="4" name="Play 2 circle"/>
          <p:cNvSpPr/>
          <p:nvPr/>
        </p:nvSpPr>
        <p:spPr>
          <a:xfrm>
            <a:off x="3749040" y="2880360"/>
            <a:ext cx="1097280" cy="1097280"/>
          </a:xfrm>
          <a:prstGeom prst="ellipse">
            <a:avLst/>
          </a:prstGeom>
          <a:solidFill>
            <a:srgbClr val="F29F05"/>
          </a:solidFill>
          <a:ln w="12700">
            <a:solidFill>
              <a:srgbClr val="F29F05"/>
            </a:solidFill>
            <a:prstDash val="solid"/>
          </a:ln>
        </p:spPr>
      </p:sp>
      <p:pic>
        <p:nvPicPr>
          <p:cNvPr id="5" name="Play 2 icon" descr="preencoded.png">    </p:cNvPr>
          <p:cNvPicPr>
            <a:picLocks noChangeAspect="1"/>
          </p:cNvPicPr>
          <p:nvPr/>
        </p:nvPicPr>
        <p:blipFill>
          <a:blip r:embed="rId1"/>
          <a:stretch>
            <a:fillRect/>
          </a:stretch>
        </p:blipFill>
        <p:spPr>
          <a:xfrm>
            <a:off x="4023360" y="3154680"/>
            <a:ext cx="548640" cy="548640"/>
          </a:xfrm>
          <a:prstGeom prst="rect">
            <a:avLst/>
          </a:prstGeom>
        </p:spPr>
      </p:pic>
      <p:sp>
        <p:nvSpPr>
          <p:cNvPr id="6" name="Video hint 2"/>
          <p:cNvSpPr txBox="1"/>
          <p:nvPr/>
        </p:nvSpPr>
        <p:spPr>
          <a:xfrm>
            <a:off x="548640" y="4160520"/>
            <a:ext cx="7498080" cy="365760"/>
          </a:xfrm>
          <a:prstGeom prst="rect">
            <a:avLst/>
          </a:prstGeom>
          <a:noFill/>
          <a:ln/>
        </p:spPr>
        <p:txBody>
          <a:bodyPr wrap="square" lIns="0" tIns="0" rIns="0" bIns="0" rtlCol="0" anchor="t"/>
          <a:lstStyle/>
          <a:p>
            <a:pPr algn="ctr" indent="0" marL="0">
              <a:buNone/>
            </a:pPr>
            <a:r>
              <a:rPr lang="en-US" sz="1400" dirty="0">
                <a:solidFill>
                  <a:schemeClr val="bg2"/>
                </a:solidFill>
              </a:rPr>
              <a:t>Place the Y.3172 pipeline video here</a:t>
            </a:r>
            <a:endParaRPr lang="en-US" sz="1400" dirty="0"/>
          </a:p>
        </p:txBody>
      </p:sp>
      <p:sp>
        <p:nvSpPr>
          <p:cNvPr id="7" name="Watch heading 2"/>
          <p:cNvSpPr txBox="1"/>
          <p:nvPr/>
        </p:nvSpPr>
        <p:spPr>
          <a:xfrm>
            <a:off x="8412480" y="1325880"/>
            <a:ext cx="3200400" cy="365760"/>
          </a:xfrm>
          <a:prstGeom prst="rect">
            <a:avLst/>
          </a:prstGeom>
          <a:noFill/>
          <a:ln/>
        </p:spPr>
        <p:txBody>
          <a:bodyPr wrap="square" lIns="0" tIns="0" rIns="0" bIns="0" rtlCol="0" anchor="t"/>
          <a:lstStyle/>
          <a:p>
            <a:pPr indent="0" marL="0">
              <a:buNone/>
            </a:pPr>
            <a:r>
              <a:rPr lang="en-US" sz="1800" b="1" dirty="0">
                <a:solidFill>
                  <a:schemeClr val="accent1"/>
                </a:solidFill>
              </a:rPr>
              <a:t>What to watch</a:t>
            </a:r>
            <a:endParaRPr lang="en-US" sz="1800" dirty="0"/>
          </a:p>
        </p:txBody>
      </p:sp>
      <p:sp>
        <p:nvSpPr>
          <p:cNvPr id="8" name="Watch list 2"/>
          <p:cNvSpPr txBox="1"/>
          <p:nvPr/>
        </p:nvSpPr>
        <p:spPr>
          <a:xfrm>
            <a:off x="8412480" y="1783080"/>
            <a:ext cx="3200400" cy="37490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MLFO instantiates SRC → C → PP → M → P → D → SINK from the ML Intent</a:t>
            </a:r>
            <a:endParaRPr lang="en-US" sz="1400" dirty="0"/>
          </a:p>
          <a:p>
            <a:pPr marL="342900" indent="-342900">
              <a:spcAft>
                <a:spcPts val="800"/>
              </a:spcAft>
              <a:buSzPct val="100000"/>
              <a:buChar char="•"/>
            </a:pPr>
            <a:r>
              <a:rPr lang="en-US" sz="1400" dirty="0">
                <a:solidFill>
                  <a:schemeClr val="bg1"/>
                </a:solidFill>
              </a:rPr>
              <a:t>ML sandbox: candidate models compared; each playbook tested first</a:t>
            </a:r>
            <a:endParaRPr lang="en-US" sz="1400" dirty="0"/>
          </a:p>
          <a:p>
            <a:pPr marL="342900" indent="-342900">
              <a:spcAft>
                <a:spcPts val="800"/>
              </a:spcAft>
              <a:buSzPct val="100000"/>
              <a:buChar char="•"/>
            </a:pPr>
            <a:r>
              <a:rPr lang="en-US" sz="1400" dirty="0">
                <a:solidFill>
                  <a:schemeClr val="bg1"/>
                </a:solidFill>
              </a:rPr>
              <a:t>Detection → P node holds the fix and lists the obligations</a:t>
            </a:r>
            <a:endParaRPr lang="en-US" sz="1400" dirty="0"/>
          </a:p>
          <a:p>
            <a:pPr marL="342900" indent="-342900">
              <a:spcAft>
                <a:spcPts val="800"/>
              </a:spcAft>
              <a:buSzPct val="100000"/>
              <a:buChar char="•"/>
            </a:pPr>
            <a:r>
              <a:rPr lang="en-US" sz="1400" dirty="0">
                <a:solidFill>
                  <a:schemeClr val="bg1"/>
                </a:solidFill>
              </a:rPr>
              <a:t>SINKs: evidence hashed, notices drafted; then Summary and Conclusion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Attacks shown as they happen, with humans at the gates</a:t>
            </a:r>
            <a:endParaRPr lang="en-US" sz="2800" dirty="0"/>
          </a:p>
        </p:txBody>
      </p:sp>
      <p:sp>
        <p:nvSpPr>
          <p:cNvPr id="3" name="Network before circle"/>
          <p:cNvSpPr/>
          <p:nvPr/>
        </p:nvSpPr>
        <p:spPr>
          <a:xfrm>
            <a:off x="868680" y="1463040"/>
            <a:ext cx="731520" cy="731520"/>
          </a:xfrm>
          <a:prstGeom prst="ellipse">
            <a:avLst/>
          </a:prstGeom>
          <a:solidFill>
            <a:srgbClr val="14213D"/>
          </a:solidFill>
          <a:ln w="12700">
            <a:solidFill>
              <a:srgbClr val="14213D"/>
            </a:solidFill>
            <a:prstDash val="solid"/>
          </a:ln>
        </p:spPr>
      </p:sp>
      <p:pic>
        <p:nvPicPr>
          <p:cNvPr id="4" name="Network before icon" descr="preencoded.png">    </p:cNvPr>
          <p:cNvPicPr>
            <a:picLocks noChangeAspect="1"/>
          </p:cNvPicPr>
          <p:nvPr/>
        </p:nvPicPr>
        <p:blipFill>
          <a:blip r:embed="rId1"/>
          <a:stretch>
            <a:fillRect/>
          </a:stretch>
        </p:blipFill>
        <p:spPr>
          <a:xfrm>
            <a:off x="1051560" y="1645920"/>
            <a:ext cx="365760" cy="365760"/>
          </a:xfrm>
          <a:prstGeom prst="rect">
            <a:avLst/>
          </a:prstGeom>
        </p:spPr>
      </p:pic>
      <p:sp>
        <p:nvSpPr>
          <p:cNvPr id="5" name="Network before title"/>
          <p:cNvSpPr txBox="1"/>
          <p:nvPr/>
        </p:nvSpPr>
        <p:spPr>
          <a:xfrm>
            <a:off x="548640" y="2331720"/>
            <a:ext cx="1371600" cy="365760"/>
          </a:xfrm>
          <a:prstGeom prst="rect">
            <a:avLst/>
          </a:prstGeom>
          <a:noFill/>
          <a:ln/>
        </p:spPr>
        <p:txBody>
          <a:bodyPr wrap="square" lIns="0" tIns="0" rIns="0" bIns="0" rtlCol="0" anchor="t"/>
          <a:lstStyle/>
          <a:p>
            <a:pPr algn="ctr" indent="0" marL="0">
              <a:buNone/>
            </a:pPr>
            <a:r>
              <a:rPr lang="en-US" sz="1400" b="1" dirty="0">
                <a:solidFill>
                  <a:schemeClr val="tx1"/>
                </a:solidFill>
              </a:rPr>
              <a:t>Network before</a:t>
            </a:r>
            <a:endParaRPr lang="en-US" sz="1400" dirty="0"/>
          </a:p>
        </p:txBody>
      </p:sp>
      <p:sp>
        <p:nvSpPr>
          <p:cNvPr id="6" name="Network before text"/>
          <p:cNvSpPr txBox="1"/>
          <p:nvPr/>
        </p:nvSpPr>
        <p:spPr>
          <a:xfrm>
            <a:off x="548640" y="2697480"/>
            <a:ext cx="1371600" cy="731520"/>
          </a:xfrm>
          <a:prstGeom prst="rect">
            <a:avLst/>
          </a:prstGeom>
          <a:noFill/>
          <a:ln/>
        </p:spPr>
        <p:txBody>
          <a:bodyPr wrap="square" lIns="0" tIns="0" rIns="0" bIns="0" rtlCol="0" anchor="t"/>
          <a:lstStyle/>
          <a:p>
            <a:pPr algn="ctr" indent="0" marL="0">
              <a:buNone/>
            </a:pPr>
            <a:r>
              <a:rPr lang="en-US" sz="1200" dirty="0">
                <a:solidFill>
                  <a:schemeClr val="tx2"/>
                </a:solidFill>
              </a:rPr>
              <a:t>all functions green</a:t>
            </a:r>
            <a:endParaRPr lang="en-US" sz="1200" dirty="0"/>
          </a:p>
        </p:txBody>
      </p:sp>
      <p:sp>
        <p:nvSpPr>
          <p:cNvPr id="7" name="Seq arrow 1"/>
          <p:cNvSpPr/>
          <p:nvPr/>
        </p:nvSpPr>
        <p:spPr>
          <a:xfrm>
            <a:off x="1691640" y="1719072"/>
            <a:ext cx="365760" cy="219456"/>
          </a:xfrm>
          <a:prstGeom prst="rightArrow">
            <a:avLst/>
          </a:prstGeom>
          <a:solidFill>
            <a:schemeClr val="accent4"/>
          </a:solidFill>
          <a:ln w="12700">
            <a:solidFill>
              <a:schemeClr val="accent4"/>
            </a:solidFill>
            <a:prstDash val="solid"/>
          </a:ln>
        </p:spPr>
      </p:sp>
      <p:sp>
        <p:nvSpPr>
          <p:cNvPr id="8" name="Attack unfolds circle"/>
          <p:cNvSpPr/>
          <p:nvPr/>
        </p:nvSpPr>
        <p:spPr>
          <a:xfrm>
            <a:off x="2487168" y="1463040"/>
            <a:ext cx="731520" cy="731520"/>
          </a:xfrm>
          <a:prstGeom prst="ellipse">
            <a:avLst/>
          </a:prstGeom>
          <a:solidFill>
            <a:srgbClr val="14213D"/>
          </a:solidFill>
          <a:ln w="12700">
            <a:solidFill>
              <a:srgbClr val="14213D"/>
            </a:solidFill>
            <a:prstDash val="solid"/>
          </a:ln>
        </p:spPr>
      </p:sp>
      <p:pic>
        <p:nvPicPr>
          <p:cNvPr id="9" name="Attack unfolds icon" descr="preencoded.png">    </p:cNvPr>
          <p:cNvPicPr>
            <a:picLocks noChangeAspect="1"/>
          </p:cNvPicPr>
          <p:nvPr/>
        </p:nvPicPr>
        <p:blipFill>
          <a:blip r:embed="rId2"/>
          <a:stretch>
            <a:fillRect/>
          </a:stretch>
        </p:blipFill>
        <p:spPr>
          <a:xfrm>
            <a:off x="2670048" y="1645920"/>
            <a:ext cx="365760" cy="365760"/>
          </a:xfrm>
          <a:prstGeom prst="rect">
            <a:avLst/>
          </a:prstGeom>
        </p:spPr>
      </p:pic>
      <p:sp>
        <p:nvSpPr>
          <p:cNvPr id="10" name="Attack unfolds title"/>
          <p:cNvSpPr txBox="1"/>
          <p:nvPr/>
        </p:nvSpPr>
        <p:spPr>
          <a:xfrm>
            <a:off x="2167128" y="2331720"/>
            <a:ext cx="1371600" cy="365760"/>
          </a:xfrm>
          <a:prstGeom prst="rect">
            <a:avLst/>
          </a:prstGeom>
          <a:noFill/>
          <a:ln/>
        </p:spPr>
        <p:txBody>
          <a:bodyPr wrap="square" lIns="0" tIns="0" rIns="0" bIns="0" rtlCol="0" anchor="t"/>
          <a:lstStyle/>
          <a:p>
            <a:pPr algn="ctr" indent="0" marL="0">
              <a:buNone/>
            </a:pPr>
            <a:r>
              <a:rPr lang="en-US" sz="1400" b="1" dirty="0">
                <a:solidFill>
                  <a:schemeClr val="tx1"/>
                </a:solidFill>
              </a:rPr>
              <a:t>Attack unfolds</a:t>
            </a:r>
            <a:endParaRPr lang="en-US" sz="1400" dirty="0"/>
          </a:p>
        </p:txBody>
      </p:sp>
      <p:sp>
        <p:nvSpPr>
          <p:cNvPr id="11" name="Attack unfolds text"/>
          <p:cNvSpPr txBox="1"/>
          <p:nvPr/>
        </p:nvSpPr>
        <p:spPr>
          <a:xfrm>
            <a:off x="2167128" y="2697480"/>
            <a:ext cx="1371600" cy="731520"/>
          </a:xfrm>
          <a:prstGeom prst="rect">
            <a:avLst/>
          </a:prstGeom>
          <a:noFill/>
          <a:ln/>
        </p:spPr>
        <p:txBody>
          <a:bodyPr wrap="square" lIns="0" tIns="0" rIns="0" bIns="0" rtlCol="0" anchor="t"/>
          <a:lstStyle/>
          <a:p>
            <a:pPr algn="ctr" indent="0" marL="0">
              <a:buNone/>
            </a:pPr>
            <a:r>
              <a:rPr lang="en-US" sz="1200" dirty="0">
                <a:solidFill>
                  <a:schemeClr val="tx2"/>
                </a:solidFill>
              </a:rPr>
              <a:t>each log line and alert, in order</a:t>
            </a:r>
            <a:endParaRPr lang="en-US" sz="1200" dirty="0"/>
          </a:p>
        </p:txBody>
      </p:sp>
      <p:sp>
        <p:nvSpPr>
          <p:cNvPr id="12" name="Seq arrow 2"/>
          <p:cNvSpPr/>
          <p:nvPr/>
        </p:nvSpPr>
        <p:spPr>
          <a:xfrm>
            <a:off x="3310128" y="1719072"/>
            <a:ext cx="365760" cy="219456"/>
          </a:xfrm>
          <a:prstGeom prst="rightArrow">
            <a:avLst/>
          </a:prstGeom>
          <a:solidFill>
            <a:schemeClr val="accent4"/>
          </a:solidFill>
          <a:ln w="12700">
            <a:solidFill>
              <a:schemeClr val="accent4"/>
            </a:solidFill>
            <a:prstDash val="solid"/>
          </a:ln>
        </p:spPr>
      </p:sp>
      <p:sp>
        <p:nvSpPr>
          <p:cNvPr id="13" name="Detected circle"/>
          <p:cNvSpPr/>
          <p:nvPr/>
        </p:nvSpPr>
        <p:spPr>
          <a:xfrm>
            <a:off x="4105656" y="1463040"/>
            <a:ext cx="731520" cy="731520"/>
          </a:xfrm>
          <a:prstGeom prst="ellipse">
            <a:avLst/>
          </a:prstGeom>
          <a:solidFill>
            <a:srgbClr val="14213D"/>
          </a:solidFill>
          <a:ln w="12700">
            <a:solidFill>
              <a:srgbClr val="14213D"/>
            </a:solidFill>
            <a:prstDash val="solid"/>
          </a:ln>
        </p:spPr>
      </p:sp>
      <p:pic>
        <p:nvPicPr>
          <p:cNvPr id="14" name="Detected icon" descr="preencoded.png">    </p:cNvPr>
          <p:cNvPicPr>
            <a:picLocks noChangeAspect="1"/>
          </p:cNvPicPr>
          <p:nvPr/>
        </p:nvPicPr>
        <p:blipFill>
          <a:blip r:embed="rId3"/>
          <a:stretch>
            <a:fillRect/>
          </a:stretch>
        </p:blipFill>
        <p:spPr>
          <a:xfrm>
            <a:off x="4288536" y="1645920"/>
            <a:ext cx="365760" cy="365760"/>
          </a:xfrm>
          <a:prstGeom prst="rect">
            <a:avLst/>
          </a:prstGeom>
        </p:spPr>
      </p:pic>
      <p:sp>
        <p:nvSpPr>
          <p:cNvPr id="15" name="Detected title"/>
          <p:cNvSpPr txBox="1"/>
          <p:nvPr/>
        </p:nvSpPr>
        <p:spPr>
          <a:xfrm>
            <a:off x="3785616" y="2331720"/>
            <a:ext cx="1371600" cy="365760"/>
          </a:xfrm>
          <a:prstGeom prst="rect">
            <a:avLst/>
          </a:prstGeom>
          <a:noFill/>
          <a:ln/>
        </p:spPr>
        <p:txBody>
          <a:bodyPr wrap="square" lIns="0" tIns="0" rIns="0" bIns="0" rtlCol="0" anchor="t"/>
          <a:lstStyle/>
          <a:p>
            <a:pPr algn="ctr" indent="0" marL="0">
              <a:buNone/>
            </a:pPr>
            <a:r>
              <a:rPr lang="en-US" sz="1400" b="1" dirty="0">
                <a:solidFill>
                  <a:schemeClr val="tx1"/>
                </a:solidFill>
              </a:rPr>
              <a:t>Detected</a:t>
            </a:r>
            <a:endParaRPr lang="en-US" sz="1400" dirty="0"/>
          </a:p>
        </p:txBody>
      </p:sp>
      <p:sp>
        <p:nvSpPr>
          <p:cNvPr id="16" name="Detected text"/>
          <p:cNvSpPr txBox="1"/>
          <p:nvPr/>
        </p:nvSpPr>
        <p:spPr>
          <a:xfrm>
            <a:off x="3785616" y="2697480"/>
            <a:ext cx="1371600" cy="731520"/>
          </a:xfrm>
          <a:prstGeom prst="rect">
            <a:avLst/>
          </a:prstGeom>
          <a:noFill/>
          <a:ln/>
        </p:spPr>
        <p:txBody>
          <a:bodyPr wrap="square" lIns="0" tIns="0" rIns="0" bIns="0" rtlCol="0" anchor="t"/>
          <a:lstStyle/>
          <a:p>
            <a:pPr algn="ctr" indent="0" marL="0">
              <a:buNone/>
            </a:pPr>
            <a:r>
              <a:rPr lang="en-US" sz="1200" dirty="0">
                <a:solidFill>
                  <a:schemeClr val="tx2"/>
                </a:solidFill>
              </a:rPr>
              <a:t>health of every network function</a:t>
            </a:r>
            <a:endParaRPr lang="en-US" sz="1200" dirty="0"/>
          </a:p>
        </p:txBody>
      </p:sp>
      <p:sp>
        <p:nvSpPr>
          <p:cNvPr id="17" name="Seq arrow 3"/>
          <p:cNvSpPr/>
          <p:nvPr/>
        </p:nvSpPr>
        <p:spPr>
          <a:xfrm>
            <a:off x="4928616" y="1719072"/>
            <a:ext cx="365760" cy="219456"/>
          </a:xfrm>
          <a:prstGeom prst="rightArrow">
            <a:avLst/>
          </a:prstGeom>
          <a:solidFill>
            <a:schemeClr val="accent4"/>
          </a:solidFill>
          <a:ln w="12700">
            <a:solidFill>
              <a:schemeClr val="accent4"/>
            </a:solidFill>
            <a:prstDash val="solid"/>
          </a:ln>
        </p:spPr>
      </p:sp>
      <p:sp>
        <p:nvSpPr>
          <p:cNvPr id="18" name="Obligations apply circle"/>
          <p:cNvSpPr/>
          <p:nvPr/>
        </p:nvSpPr>
        <p:spPr>
          <a:xfrm>
            <a:off x="5724144" y="1463040"/>
            <a:ext cx="731520" cy="731520"/>
          </a:xfrm>
          <a:prstGeom prst="ellipse">
            <a:avLst/>
          </a:prstGeom>
          <a:solidFill>
            <a:srgbClr val="14213D"/>
          </a:solidFill>
          <a:ln w="12700">
            <a:solidFill>
              <a:srgbClr val="14213D"/>
            </a:solidFill>
            <a:prstDash val="solid"/>
          </a:ln>
        </p:spPr>
      </p:sp>
      <p:pic>
        <p:nvPicPr>
          <p:cNvPr id="19" name="Obligations apply icon" descr="preencoded.png">    </p:cNvPr>
          <p:cNvPicPr>
            <a:picLocks noChangeAspect="1"/>
          </p:cNvPicPr>
          <p:nvPr/>
        </p:nvPicPr>
        <p:blipFill>
          <a:blip r:embed="rId4"/>
          <a:stretch>
            <a:fillRect/>
          </a:stretch>
        </p:blipFill>
        <p:spPr>
          <a:xfrm>
            <a:off x="5907024" y="1645920"/>
            <a:ext cx="365760" cy="365760"/>
          </a:xfrm>
          <a:prstGeom prst="rect">
            <a:avLst/>
          </a:prstGeom>
        </p:spPr>
      </p:pic>
      <p:sp>
        <p:nvSpPr>
          <p:cNvPr id="20" name="Obligations apply title"/>
          <p:cNvSpPr txBox="1"/>
          <p:nvPr/>
        </p:nvSpPr>
        <p:spPr>
          <a:xfrm>
            <a:off x="5404104" y="2331720"/>
            <a:ext cx="1371600" cy="365760"/>
          </a:xfrm>
          <a:prstGeom prst="rect">
            <a:avLst/>
          </a:prstGeom>
          <a:noFill/>
          <a:ln/>
        </p:spPr>
        <p:txBody>
          <a:bodyPr wrap="square" lIns="0" tIns="0" rIns="0" bIns="0" rtlCol="0" anchor="t"/>
          <a:lstStyle/>
          <a:p>
            <a:pPr algn="ctr" indent="0" marL="0">
              <a:buNone/>
            </a:pPr>
            <a:r>
              <a:rPr lang="en-US" sz="1400" b="1" dirty="0">
                <a:solidFill>
                  <a:schemeClr val="tx1"/>
                </a:solidFill>
              </a:rPr>
              <a:t>Obligations apply</a:t>
            </a:r>
            <a:endParaRPr lang="en-US" sz="1400" dirty="0"/>
          </a:p>
        </p:txBody>
      </p:sp>
      <p:sp>
        <p:nvSpPr>
          <p:cNvPr id="21" name="Obligations apply text"/>
          <p:cNvSpPr txBox="1"/>
          <p:nvPr/>
        </p:nvSpPr>
        <p:spPr>
          <a:xfrm>
            <a:off x="5404104" y="2697480"/>
            <a:ext cx="1371600" cy="731520"/>
          </a:xfrm>
          <a:prstGeom prst="rect">
            <a:avLst/>
          </a:prstGeom>
          <a:noFill/>
          <a:ln/>
        </p:spPr>
        <p:txBody>
          <a:bodyPr wrap="square" lIns="0" tIns="0" rIns="0" bIns="0" rtlCol="0" anchor="t"/>
          <a:lstStyle/>
          <a:p>
            <a:pPr algn="ctr" indent="0" marL="0">
              <a:buNone/>
            </a:pPr>
            <a:r>
              <a:rPr lang="en-US" sz="1200" dirty="0">
                <a:solidFill>
                  <a:schemeClr val="tx2"/>
                </a:solidFill>
              </a:rPr>
              <a:t>Indian duties, checked word for word</a:t>
            </a:r>
            <a:endParaRPr lang="en-US" sz="1200" dirty="0"/>
          </a:p>
        </p:txBody>
      </p:sp>
      <p:sp>
        <p:nvSpPr>
          <p:cNvPr id="22" name="Seq arrow 4"/>
          <p:cNvSpPr/>
          <p:nvPr/>
        </p:nvSpPr>
        <p:spPr>
          <a:xfrm>
            <a:off x="6547104" y="1719072"/>
            <a:ext cx="365760" cy="219456"/>
          </a:xfrm>
          <a:prstGeom prst="rightArrow">
            <a:avLst/>
          </a:prstGeom>
          <a:solidFill>
            <a:schemeClr val="accent4"/>
          </a:solidFill>
          <a:ln w="12700">
            <a:solidFill>
              <a:schemeClr val="accent4"/>
            </a:solidFill>
            <a:prstDash val="solid"/>
          </a:ln>
        </p:spPr>
      </p:sp>
      <p:sp>
        <p:nvSpPr>
          <p:cNvPr id="23" name="Basic tier circle"/>
          <p:cNvSpPr/>
          <p:nvPr/>
        </p:nvSpPr>
        <p:spPr>
          <a:xfrm>
            <a:off x="7342632" y="1463040"/>
            <a:ext cx="731520" cy="731520"/>
          </a:xfrm>
          <a:prstGeom prst="ellipse">
            <a:avLst/>
          </a:prstGeom>
          <a:solidFill>
            <a:srgbClr val="14213D"/>
          </a:solidFill>
          <a:ln w="12700">
            <a:solidFill>
              <a:srgbClr val="14213D"/>
            </a:solidFill>
            <a:prstDash val="solid"/>
          </a:ln>
        </p:spPr>
      </p:sp>
      <p:pic>
        <p:nvPicPr>
          <p:cNvPr id="24" name="Basic tier icon" descr="preencoded.png">    </p:cNvPr>
          <p:cNvPicPr>
            <a:picLocks noChangeAspect="1"/>
          </p:cNvPicPr>
          <p:nvPr/>
        </p:nvPicPr>
        <p:blipFill>
          <a:blip r:embed="rId5"/>
          <a:stretch>
            <a:fillRect/>
          </a:stretch>
        </p:blipFill>
        <p:spPr>
          <a:xfrm>
            <a:off x="7525512" y="1645920"/>
            <a:ext cx="365760" cy="365760"/>
          </a:xfrm>
          <a:prstGeom prst="rect">
            <a:avLst/>
          </a:prstGeom>
        </p:spPr>
      </p:pic>
      <p:sp>
        <p:nvSpPr>
          <p:cNvPr id="25" name="Basic tier title"/>
          <p:cNvSpPr txBox="1"/>
          <p:nvPr/>
        </p:nvSpPr>
        <p:spPr>
          <a:xfrm>
            <a:off x="7022592" y="2331720"/>
            <a:ext cx="1371600" cy="365760"/>
          </a:xfrm>
          <a:prstGeom prst="rect">
            <a:avLst/>
          </a:prstGeom>
          <a:noFill/>
          <a:ln/>
        </p:spPr>
        <p:txBody>
          <a:bodyPr wrap="square" lIns="0" tIns="0" rIns="0" bIns="0" rtlCol="0" anchor="t"/>
          <a:lstStyle/>
          <a:p>
            <a:pPr algn="ctr" indent="0" marL="0">
              <a:buNone/>
            </a:pPr>
            <a:r>
              <a:rPr lang="en-US" sz="1400" b="1" dirty="0">
                <a:solidFill>
                  <a:schemeClr val="tx1"/>
                </a:solidFill>
              </a:rPr>
              <a:t>Basic tier</a:t>
            </a:r>
            <a:endParaRPr lang="en-US" sz="1400" dirty="0"/>
          </a:p>
        </p:txBody>
      </p:sp>
      <p:sp>
        <p:nvSpPr>
          <p:cNvPr id="26" name="Basic tier text"/>
          <p:cNvSpPr txBox="1"/>
          <p:nvPr/>
        </p:nvSpPr>
        <p:spPr>
          <a:xfrm>
            <a:off x="7022592" y="2697480"/>
            <a:ext cx="1371600" cy="731520"/>
          </a:xfrm>
          <a:prstGeom prst="rect">
            <a:avLst/>
          </a:prstGeom>
          <a:noFill/>
          <a:ln/>
        </p:spPr>
        <p:txBody>
          <a:bodyPr wrap="square" lIns="0" tIns="0" rIns="0" bIns="0" rtlCol="0" anchor="t"/>
          <a:lstStyle/>
          <a:p>
            <a:pPr algn="ctr" indent="0" marL="0">
              <a:buNone/>
            </a:pPr>
            <a:r>
              <a:rPr lang="en-US" sz="1200" dirty="0">
                <a:solidFill>
                  <a:schemeClr val="tx2"/>
                </a:solidFill>
              </a:rPr>
              <a:t>diagnostics and only auto-safe fixes</a:t>
            </a:r>
            <a:endParaRPr lang="en-US" sz="1200" dirty="0"/>
          </a:p>
        </p:txBody>
      </p:sp>
      <p:sp>
        <p:nvSpPr>
          <p:cNvPr id="27" name="Seq arrow 5"/>
          <p:cNvSpPr/>
          <p:nvPr/>
        </p:nvSpPr>
        <p:spPr>
          <a:xfrm>
            <a:off x="8165592" y="1719072"/>
            <a:ext cx="365760" cy="219456"/>
          </a:xfrm>
          <a:prstGeom prst="rightArrow">
            <a:avLst/>
          </a:prstGeom>
          <a:solidFill>
            <a:schemeClr val="accent4"/>
          </a:solidFill>
          <a:ln w="12700">
            <a:solidFill>
              <a:schemeClr val="accent4"/>
            </a:solidFill>
            <a:prstDash val="solid"/>
          </a:ln>
        </p:spPr>
      </p:sp>
      <p:sp>
        <p:nvSpPr>
          <p:cNvPr id="28" name="Human gate circle"/>
          <p:cNvSpPr/>
          <p:nvPr/>
        </p:nvSpPr>
        <p:spPr>
          <a:xfrm>
            <a:off x="8961120" y="1463040"/>
            <a:ext cx="731520" cy="731520"/>
          </a:xfrm>
          <a:prstGeom prst="ellipse">
            <a:avLst/>
          </a:prstGeom>
          <a:solidFill>
            <a:srgbClr val="F29F05"/>
          </a:solidFill>
          <a:ln w="12700">
            <a:solidFill>
              <a:srgbClr val="F29F05"/>
            </a:solidFill>
            <a:prstDash val="solid"/>
          </a:ln>
        </p:spPr>
      </p:sp>
      <p:pic>
        <p:nvPicPr>
          <p:cNvPr id="29" name="Human gate icon" descr="preencoded.png">    </p:cNvPr>
          <p:cNvPicPr>
            <a:picLocks noChangeAspect="1"/>
          </p:cNvPicPr>
          <p:nvPr/>
        </p:nvPicPr>
        <p:blipFill>
          <a:blip r:embed="rId6"/>
          <a:stretch>
            <a:fillRect/>
          </a:stretch>
        </p:blipFill>
        <p:spPr>
          <a:xfrm>
            <a:off x="9144000" y="1645920"/>
            <a:ext cx="365760" cy="365760"/>
          </a:xfrm>
          <a:prstGeom prst="rect">
            <a:avLst/>
          </a:prstGeom>
        </p:spPr>
      </p:pic>
      <p:sp>
        <p:nvSpPr>
          <p:cNvPr id="30" name="Human gate title"/>
          <p:cNvSpPr txBox="1"/>
          <p:nvPr/>
        </p:nvSpPr>
        <p:spPr>
          <a:xfrm>
            <a:off x="8641080" y="2331720"/>
            <a:ext cx="1371600" cy="365760"/>
          </a:xfrm>
          <a:prstGeom prst="rect">
            <a:avLst/>
          </a:prstGeom>
          <a:noFill/>
          <a:ln/>
        </p:spPr>
        <p:txBody>
          <a:bodyPr wrap="square" lIns="0" tIns="0" rIns="0" bIns="0" rtlCol="0" anchor="t"/>
          <a:lstStyle/>
          <a:p>
            <a:pPr algn="ctr" indent="0" marL="0">
              <a:buNone/>
            </a:pPr>
            <a:r>
              <a:rPr lang="en-US" sz="1400" b="1" dirty="0">
                <a:solidFill>
                  <a:schemeClr val="tx1"/>
                </a:solidFill>
              </a:rPr>
              <a:t>Human gate</a:t>
            </a:r>
            <a:endParaRPr lang="en-US" sz="1400" dirty="0"/>
          </a:p>
        </p:txBody>
      </p:sp>
      <p:sp>
        <p:nvSpPr>
          <p:cNvPr id="31" name="Human gate text"/>
          <p:cNvSpPr txBox="1"/>
          <p:nvPr/>
        </p:nvSpPr>
        <p:spPr>
          <a:xfrm>
            <a:off x="8641080" y="2697480"/>
            <a:ext cx="1371600" cy="731520"/>
          </a:xfrm>
          <a:prstGeom prst="rect">
            <a:avLst/>
          </a:prstGeom>
          <a:noFill/>
          <a:ln/>
        </p:spPr>
        <p:txBody>
          <a:bodyPr wrap="square" lIns="0" tIns="0" rIns="0" bIns="0" rtlCol="0" anchor="t"/>
          <a:lstStyle/>
          <a:p>
            <a:pPr algn="ctr" indent="0" marL="0">
              <a:buNone/>
            </a:pPr>
            <a:r>
              <a:rPr lang="en-US" sz="1200" dirty="0">
                <a:solidFill>
                  <a:schemeClr val="tx2"/>
                </a:solidFill>
              </a:rPr>
              <a:t>approve Intermediate, then Advanced</a:t>
            </a:r>
            <a:endParaRPr lang="en-US" sz="1200" dirty="0"/>
          </a:p>
        </p:txBody>
      </p:sp>
      <p:sp>
        <p:nvSpPr>
          <p:cNvPr id="32" name="Seq arrow 6"/>
          <p:cNvSpPr/>
          <p:nvPr/>
        </p:nvSpPr>
        <p:spPr>
          <a:xfrm>
            <a:off x="9784080" y="1719072"/>
            <a:ext cx="365760" cy="219456"/>
          </a:xfrm>
          <a:prstGeom prst="rightArrow">
            <a:avLst/>
          </a:prstGeom>
          <a:solidFill>
            <a:schemeClr val="accent4"/>
          </a:solidFill>
          <a:ln w="12700">
            <a:solidFill>
              <a:schemeClr val="accent4"/>
            </a:solidFill>
            <a:prstDash val="solid"/>
          </a:ln>
        </p:spPr>
      </p:sp>
      <p:sp>
        <p:nvSpPr>
          <p:cNvPr id="33" name="Summary circle"/>
          <p:cNvSpPr/>
          <p:nvPr/>
        </p:nvSpPr>
        <p:spPr>
          <a:xfrm>
            <a:off x="10579608" y="1463040"/>
            <a:ext cx="731520" cy="731520"/>
          </a:xfrm>
          <a:prstGeom prst="ellipse">
            <a:avLst/>
          </a:prstGeom>
          <a:solidFill>
            <a:srgbClr val="14213D"/>
          </a:solidFill>
          <a:ln w="12700">
            <a:solidFill>
              <a:srgbClr val="14213D"/>
            </a:solidFill>
            <a:prstDash val="solid"/>
          </a:ln>
        </p:spPr>
      </p:sp>
      <p:pic>
        <p:nvPicPr>
          <p:cNvPr id="34" name="Summary icon" descr="preencoded.png">    </p:cNvPr>
          <p:cNvPicPr>
            <a:picLocks noChangeAspect="1"/>
          </p:cNvPicPr>
          <p:nvPr/>
        </p:nvPicPr>
        <p:blipFill>
          <a:blip r:embed="rId7"/>
          <a:stretch>
            <a:fillRect/>
          </a:stretch>
        </p:blipFill>
        <p:spPr>
          <a:xfrm>
            <a:off x="10762488" y="1645920"/>
            <a:ext cx="365760" cy="365760"/>
          </a:xfrm>
          <a:prstGeom prst="rect">
            <a:avLst/>
          </a:prstGeom>
        </p:spPr>
      </p:pic>
      <p:sp>
        <p:nvSpPr>
          <p:cNvPr id="35" name="Summary title"/>
          <p:cNvSpPr txBox="1"/>
          <p:nvPr/>
        </p:nvSpPr>
        <p:spPr>
          <a:xfrm>
            <a:off x="10259568" y="2331720"/>
            <a:ext cx="1371600" cy="365760"/>
          </a:xfrm>
          <a:prstGeom prst="rect">
            <a:avLst/>
          </a:prstGeom>
          <a:noFill/>
          <a:ln/>
        </p:spPr>
        <p:txBody>
          <a:bodyPr wrap="square" lIns="0" tIns="0" rIns="0" bIns="0" rtlCol="0" anchor="t"/>
          <a:lstStyle/>
          <a:p>
            <a:pPr algn="ctr" indent="0" marL="0">
              <a:buNone/>
            </a:pPr>
            <a:r>
              <a:rPr lang="en-US" sz="1400" b="1" dirty="0">
                <a:solidFill>
                  <a:schemeClr val="tx1"/>
                </a:solidFill>
              </a:rPr>
              <a:t>Summary</a:t>
            </a:r>
            <a:endParaRPr lang="en-US" sz="1400" dirty="0"/>
          </a:p>
        </p:txBody>
      </p:sp>
      <p:sp>
        <p:nvSpPr>
          <p:cNvPr id="36" name="Summary text"/>
          <p:cNvSpPr txBox="1"/>
          <p:nvPr/>
        </p:nvSpPr>
        <p:spPr>
          <a:xfrm>
            <a:off x="10259568" y="2697480"/>
            <a:ext cx="1371600" cy="731520"/>
          </a:xfrm>
          <a:prstGeom prst="rect">
            <a:avLst/>
          </a:prstGeom>
          <a:noFill/>
          <a:ln/>
        </p:spPr>
        <p:txBody>
          <a:bodyPr wrap="square" lIns="0" tIns="0" rIns="0" bIns="0" rtlCol="0" anchor="t"/>
          <a:lstStyle/>
          <a:p>
            <a:pPr algn="ctr" indent="0" marL="0">
              <a:buNone/>
            </a:pPr>
            <a:r>
              <a:rPr lang="en-US" sz="1200" dirty="0">
                <a:solidFill>
                  <a:schemeClr val="tx2"/>
                </a:solidFill>
              </a:rPr>
              <a:t>what happened, and the conclusion</a:t>
            </a:r>
            <a:endParaRPr lang="en-US" sz="1200" dirty="0"/>
          </a:p>
        </p:txBody>
      </p:sp>
      <p:sp>
        <p:nvSpPr>
          <p:cNvPr id="37" name="Lab fact 1"/>
          <p:cNvSpPr/>
          <p:nvPr/>
        </p:nvSpPr>
        <p:spPr>
          <a:xfrm>
            <a:off x="548640" y="3749040"/>
            <a:ext cx="3520440" cy="150876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14213D">
                <a:alpha val="12000"/>
              </a:srgbClr>
            </a:outerShdw>
          </a:effectLst>
        </p:spPr>
      </p:sp>
      <p:sp>
        <p:nvSpPr>
          <p:cNvPr id="38" name="Lab fact 1 number"/>
          <p:cNvSpPr txBox="1"/>
          <p:nvPr/>
        </p:nvSpPr>
        <p:spPr>
          <a:xfrm>
            <a:off x="777240" y="3886200"/>
            <a:ext cx="1005840" cy="822960"/>
          </a:xfrm>
          <a:prstGeom prst="rect">
            <a:avLst/>
          </a:prstGeom>
          <a:noFill/>
          <a:ln/>
        </p:spPr>
        <p:txBody>
          <a:bodyPr wrap="square" lIns="0" tIns="0" rIns="0" bIns="0" rtlCol="0" anchor="t"/>
          <a:lstStyle/>
          <a:p>
            <a:pPr indent="0" marL="0">
              <a:buNone/>
            </a:pPr>
            <a:r>
              <a:rPr lang="en-US" sz="4400" b="1" dirty="0">
                <a:solidFill>
                  <a:schemeClr val="accent2"/>
                </a:solidFill>
                <a:latin typeface="Cambria" pitchFamily="34" charset="0"/>
                <a:ea typeface="Cambria" pitchFamily="34" charset="-122"/>
                <a:cs typeface="Cambria" pitchFamily="34" charset="-120"/>
              </a:rPr>
              <a:t>13</a:t>
            </a:r>
            <a:endParaRPr lang="en-US" sz="4400" dirty="0"/>
          </a:p>
        </p:txBody>
      </p:sp>
      <p:sp>
        <p:nvSpPr>
          <p:cNvPr id="39" name="Lab fact 1 text"/>
          <p:cNvSpPr txBox="1"/>
          <p:nvPr/>
        </p:nvSpPr>
        <p:spPr>
          <a:xfrm>
            <a:off x="1783080" y="3886200"/>
            <a:ext cx="2148840" cy="1280160"/>
          </a:xfrm>
          <a:prstGeom prst="rect">
            <a:avLst/>
          </a:prstGeom>
          <a:noFill/>
          <a:ln/>
        </p:spPr>
        <p:txBody>
          <a:bodyPr wrap="square" lIns="0" tIns="0" rIns="0" bIns="0" rtlCol="0" anchor="t"/>
          <a:lstStyle/>
          <a:p>
            <a:pPr indent="0" marL="0">
              <a:buNone/>
            </a:pPr>
            <a:r>
              <a:rPr lang="en-US" sz="1300" dirty="0">
                <a:solidFill>
                  <a:schemeClr val="tx2"/>
                </a:solidFill>
              </a:rPr>
              <a:t>contained attacks: signalling storm, fake base station, profile tampering, rogue NF, GTP-U spoofing, IoT botnet and more</a:t>
            </a:r>
            <a:endParaRPr lang="en-US" sz="1300" dirty="0"/>
          </a:p>
        </p:txBody>
      </p:sp>
      <p:sp>
        <p:nvSpPr>
          <p:cNvPr id="40" name="Lab fact 2"/>
          <p:cNvSpPr/>
          <p:nvPr/>
        </p:nvSpPr>
        <p:spPr>
          <a:xfrm>
            <a:off x="4325112" y="3749040"/>
            <a:ext cx="3520440" cy="150876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14213D">
                <a:alpha val="12000"/>
              </a:srgbClr>
            </a:outerShdw>
          </a:effectLst>
        </p:spPr>
      </p:sp>
      <p:sp>
        <p:nvSpPr>
          <p:cNvPr id="41" name="Lab fact 2 number"/>
          <p:cNvSpPr txBox="1"/>
          <p:nvPr/>
        </p:nvSpPr>
        <p:spPr>
          <a:xfrm>
            <a:off x="4553712" y="3886200"/>
            <a:ext cx="1005840" cy="822960"/>
          </a:xfrm>
          <a:prstGeom prst="rect">
            <a:avLst/>
          </a:prstGeom>
          <a:noFill/>
          <a:ln/>
        </p:spPr>
        <p:txBody>
          <a:bodyPr wrap="square" lIns="0" tIns="0" rIns="0" bIns="0" rtlCol="0" anchor="t"/>
          <a:lstStyle/>
          <a:p>
            <a:pPr indent="0" marL="0">
              <a:buNone/>
            </a:pPr>
            <a:r>
              <a:rPr lang="en-US" sz="4400" b="1" dirty="0">
                <a:solidFill>
                  <a:schemeClr val="accent2"/>
                </a:solidFill>
                <a:latin typeface="Cambria" pitchFamily="34" charset="0"/>
                <a:ea typeface="Cambria" pitchFamily="34" charset="-122"/>
                <a:cs typeface="Cambria" pitchFamily="34" charset="-120"/>
              </a:rPr>
              <a:t>3</a:t>
            </a:r>
            <a:endParaRPr lang="en-US" sz="4400" dirty="0"/>
          </a:p>
        </p:txBody>
      </p:sp>
      <p:sp>
        <p:nvSpPr>
          <p:cNvPr id="42" name="Lab fact 2 text"/>
          <p:cNvSpPr txBox="1"/>
          <p:nvPr/>
        </p:nvSpPr>
        <p:spPr>
          <a:xfrm>
            <a:off x="5559552" y="3886200"/>
            <a:ext cx="2148840" cy="1280160"/>
          </a:xfrm>
          <a:prstGeom prst="rect">
            <a:avLst/>
          </a:prstGeom>
          <a:noFill/>
          <a:ln/>
        </p:spPr>
        <p:txBody>
          <a:bodyPr wrap="square" lIns="0" tIns="0" rIns="0" bIns="0" rtlCol="0" anchor="t"/>
          <a:lstStyle/>
          <a:p>
            <a:pPr indent="0" marL="0">
              <a:buNone/>
            </a:pPr>
            <a:r>
              <a:rPr lang="en-US" sz="1300" dirty="0">
                <a:solidFill>
                  <a:schemeClr val="tx2"/>
                </a:solidFill>
              </a:rPr>
              <a:t>response tiers: Basic, Intermediate, Advanced; every risky step needs a human “yes”</a:t>
            </a:r>
            <a:endParaRPr lang="en-US" sz="1300" dirty="0"/>
          </a:p>
        </p:txBody>
      </p:sp>
      <p:sp>
        <p:nvSpPr>
          <p:cNvPr id="43" name="Lab fact 3"/>
          <p:cNvSpPr/>
          <p:nvPr/>
        </p:nvSpPr>
        <p:spPr>
          <a:xfrm>
            <a:off x="8101584" y="3749040"/>
            <a:ext cx="3520440" cy="150876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14213D">
                <a:alpha val="12000"/>
              </a:srgbClr>
            </a:outerShdw>
          </a:effectLst>
        </p:spPr>
      </p:sp>
      <p:sp>
        <p:nvSpPr>
          <p:cNvPr id="44" name="Lab fact 3 number"/>
          <p:cNvSpPr txBox="1"/>
          <p:nvPr/>
        </p:nvSpPr>
        <p:spPr>
          <a:xfrm>
            <a:off x="8330184" y="3886200"/>
            <a:ext cx="1005840" cy="822960"/>
          </a:xfrm>
          <a:prstGeom prst="rect">
            <a:avLst/>
          </a:prstGeom>
          <a:noFill/>
          <a:ln/>
        </p:spPr>
        <p:txBody>
          <a:bodyPr wrap="square" lIns="0" tIns="0" rIns="0" bIns="0" rtlCol="0" anchor="t"/>
          <a:lstStyle/>
          <a:p>
            <a:pPr indent="0" marL="0">
              <a:buNone/>
            </a:pPr>
            <a:r>
              <a:rPr lang="en-US" sz="4400" b="1" dirty="0">
                <a:solidFill>
                  <a:schemeClr val="accent2"/>
                </a:solidFill>
                <a:latin typeface="Cambria" pitchFamily="34" charset="0"/>
                <a:ea typeface="Cambria" pitchFamily="34" charset="-122"/>
                <a:cs typeface="Cambria" pitchFamily="34" charset="-120"/>
              </a:rPr>
              <a:t>0</a:t>
            </a:r>
            <a:endParaRPr lang="en-US" sz="4400" dirty="0"/>
          </a:p>
        </p:txBody>
      </p:sp>
      <p:sp>
        <p:nvSpPr>
          <p:cNvPr id="45" name="Lab fact 3 text"/>
          <p:cNvSpPr txBox="1"/>
          <p:nvPr/>
        </p:nvSpPr>
        <p:spPr>
          <a:xfrm>
            <a:off x="9336024" y="3886200"/>
            <a:ext cx="2148840" cy="1280160"/>
          </a:xfrm>
          <a:prstGeom prst="rect">
            <a:avLst/>
          </a:prstGeom>
          <a:noFill/>
          <a:ln/>
        </p:spPr>
        <p:txBody>
          <a:bodyPr wrap="square" lIns="0" tIns="0" rIns="0" bIns="0" rtlCol="0" anchor="t"/>
          <a:lstStyle/>
          <a:p>
            <a:pPr indent="0" marL="0">
              <a:buNone/>
            </a:pPr>
            <a:r>
              <a:rPr lang="en-US" sz="1300" dirty="0">
                <a:solidFill>
                  <a:schemeClr val="tx2"/>
                </a:solidFill>
              </a:rPr>
              <a:t>real networks touched: the 5G core is a deterministic Python simulation</a:t>
            </a:r>
            <a:endParaRPr lang="en-US" sz="1300" dirty="0"/>
          </a:p>
        </p:txBody>
      </p:sp>
      <p:sp>
        <p:nvSpPr>
          <p:cNvPr id="46" name="Takeaway"/>
          <p:cNvSpPr txBox="1"/>
          <p:nvPr/>
        </p:nvSpPr>
        <p:spPr>
          <a:xfrm>
            <a:off x="548640" y="5715000"/>
            <a:ext cx="11064240" cy="365760"/>
          </a:xfrm>
          <a:prstGeom prst="rect">
            <a:avLst/>
          </a:prstGeom>
          <a:noFill/>
          <a:ln/>
        </p:spPr>
        <p:txBody>
          <a:bodyPr wrap="square" lIns="0" tIns="0" rIns="0" bIns="0" rtlCol="0" anchor="t"/>
          <a:lstStyle/>
          <a:p>
            <a:pPr indent="0" marL="0">
              <a:buNone/>
            </a:pPr>
            <a:r>
              <a:rPr lang="en-US" sz="1600" i="1" dirty="0">
                <a:solidFill>
                  <a:schemeClr val="accent2"/>
                </a:solidFill>
              </a:rPr>
              <a:t>“Resolved” is decided by checks against the simulator, never by the AI's own claim.</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2800" b="1" dirty="0">
                <a:solidFill>
                  <a:schemeClr val="bg1"/>
                </a:solidFill>
                <a:latin typeface="Cambria" pitchFamily="34" charset="0"/>
                <a:ea typeface="Cambria" pitchFamily="34" charset="-122"/>
                <a:cs typeface="Cambria" pitchFamily="34" charset="-120"/>
              </a:rPr>
              <a:t>Demo 3 — A fake base station attack, step by step</a:t>
            </a:r>
            <a:endParaRPr lang="en-US" sz="2800" dirty="0"/>
          </a:p>
        </p:txBody>
      </p:sp>
      <p:sp>
        <p:nvSpPr>
          <p:cNvPr id="3" name="Video frame"/>
          <p:cNvSpPr/>
          <p:nvPr/>
        </p:nvSpPr>
        <p:spPr>
          <a:xfrm>
            <a:off x="548640" y="1325880"/>
            <a:ext cx="7498080" cy="4215384"/>
          </a:xfrm>
          <a:prstGeom prst="roundRect">
            <a:avLst>
              <a:gd name="adj" fmla="val 2169"/>
            </a:avLst>
          </a:prstGeom>
          <a:solidFill>
            <a:schemeClr val="tx2"/>
          </a:solidFill>
          <a:ln w="19050">
            <a:solidFill>
              <a:schemeClr val="accent1"/>
            </a:solidFill>
            <a:prstDash val="dash"/>
          </a:ln>
        </p:spPr>
      </p:sp>
      <p:sp>
        <p:nvSpPr>
          <p:cNvPr id="4" name="Play 3 circle"/>
          <p:cNvSpPr/>
          <p:nvPr/>
        </p:nvSpPr>
        <p:spPr>
          <a:xfrm>
            <a:off x="3749040" y="2880360"/>
            <a:ext cx="1097280" cy="1097280"/>
          </a:xfrm>
          <a:prstGeom prst="ellipse">
            <a:avLst/>
          </a:prstGeom>
          <a:solidFill>
            <a:srgbClr val="F29F05"/>
          </a:solidFill>
          <a:ln w="12700">
            <a:solidFill>
              <a:srgbClr val="F29F05"/>
            </a:solidFill>
            <a:prstDash val="solid"/>
          </a:ln>
        </p:spPr>
      </p:sp>
      <p:pic>
        <p:nvPicPr>
          <p:cNvPr id="5" name="Play 3 icon" descr="preencoded.png">    </p:cNvPr>
          <p:cNvPicPr>
            <a:picLocks noChangeAspect="1"/>
          </p:cNvPicPr>
          <p:nvPr/>
        </p:nvPicPr>
        <p:blipFill>
          <a:blip r:embed="rId1"/>
          <a:stretch>
            <a:fillRect/>
          </a:stretch>
        </p:blipFill>
        <p:spPr>
          <a:xfrm>
            <a:off x="4023360" y="3154680"/>
            <a:ext cx="548640" cy="548640"/>
          </a:xfrm>
          <a:prstGeom prst="rect">
            <a:avLst/>
          </a:prstGeom>
        </p:spPr>
      </p:pic>
      <p:sp>
        <p:nvSpPr>
          <p:cNvPr id="6" name="Video hint 3"/>
          <p:cNvSpPr txBox="1"/>
          <p:nvPr/>
        </p:nvSpPr>
        <p:spPr>
          <a:xfrm>
            <a:off x="548640" y="4160520"/>
            <a:ext cx="7498080" cy="365760"/>
          </a:xfrm>
          <a:prstGeom prst="rect">
            <a:avLst/>
          </a:prstGeom>
          <a:noFill/>
          <a:ln/>
        </p:spPr>
        <p:txBody>
          <a:bodyPr wrap="square" lIns="0" tIns="0" rIns="0" bIns="0" rtlCol="0" anchor="t"/>
          <a:lstStyle/>
          <a:p>
            <a:pPr algn="ctr" indent="0" marL="0">
              <a:buNone/>
            </a:pPr>
            <a:r>
              <a:rPr lang="en-US" sz="1400" dirty="0">
                <a:solidFill>
                  <a:schemeClr val="bg2"/>
                </a:solidFill>
              </a:rPr>
              <a:t>Place the attack-lab video here</a:t>
            </a:r>
            <a:endParaRPr lang="en-US" sz="1400" dirty="0"/>
          </a:p>
        </p:txBody>
      </p:sp>
      <p:sp>
        <p:nvSpPr>
          <p:cNvPr id="7" name="Watch heading 3"/>
          <p:cNvSpPr txBox="1"/>
          <p:nvPr/>
        </p:nvSpPr>
        <p:spPr>
          <a:xfrm>
            <a:off x="8412480" y="1325880"/>
            <a:ext cx="3200400" cy="365760"/>
          </a:xfrm>
          <a:prstGeom prst="rect">
            <a:avLst/>
          </a:prstGeom>
          <a:noFill/>
          <a:ln/>
        </p:spPr>
        <p:txBody>
          <a:bodyPr wrap="square" lIns="0" tIns="0" rIns="0" bIns="0" rtlCol="0" anchor="t"/>
          <a:lstStyle/>
          <a:p>
            <a:pPr indent="0" marL="0">
              <a:buNone/>
            </a:pPr>
            <a:r>
              <a:rPr lang="en-US" sz="1800" b="1" dirty="0">
                <a:solidFill>
                  <a:schemeClr val="accent1"/>
                </a:solidFill>
              </a:rPr>
              <a:t>What to watch</a:t>
            </a:r>
            <a:endParaRPr lang="en-US" sz="1800" dirty="0"/>
          </a:p>
        </p:txBody>
      </p:sp>
      <p:sp>
        <p:nvSpPr>
          <p:cNvPr id="8" name="Watch list 3"/>
          <p:cNvSpPr txBox="1"/>
          <p:nvPr/>
        </p:nvSpPr>
        <p:spPr>
          <a:xfrm>
            <a:off x="8412480" y="1783080"/>
            <a:ext cx="3200400" cy="37490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A cell not in the inventory; phones fall back to LTE; downgraded security</a:t>
            </a:r>
            <a:endParaRPr lang="en-US" sz="1400" dirty="0"/>
          </a:p>
          <a:p>
            <a:pPr marL="342900" indent="-342900">
              <a:spcAft>
                <a:spcPts val="800"/>
              </a:spcAft>
              <a:buSzPct val="100000"/>
              <a:buChar char="•"/>
            </a:pPr>
            <a:r>
              <a:rPr lang="en-US" sz="1400" dirty="0">
                <a:solidFill>
                  <a:schemeClr val="bg1"/>
                </a:solidFill>
              </a:rPr>
              <a:t>Alert and detection, then the Indian obligations that apply</a:t>
            </a:r>
            <a:endParaRPr lang="en-US" sz="1400" dirty="0"/>
          </a:p>
          <a:p>
            <a:pPr marL="342900" indent="-342900">
              <a:spcAft>
                <a:spcPts val="800"/>
              </a:spcAft>
              <a:buSzPct val="100000"/>
              <a:buChar char="•"/>
            </a:pPr>
            <a:r>
              <a:rPr lang="en-US" sz="1400" dirty="0">
                <a:solidFill>
                  <a:schemeClr val="bg1"/>
                </a:solidFill>
              </a:rPr>
              <a:t>Basic tier does not resolve it: the operator approves Intermediate</a:t>
            </a:r>
            <a:endParaRPr lang="en-US" sz="1400" dirty="0"/>
          </a:p>
          <a:p>
            <a:pPr marL="342900" indent="-342900">
              <a:spcAft>
                <a:spcPts val="800"/>
              </a:spcAft>
              <a:buSzPct val="100000"/>
              <a:buChar char="•"/>
            </a:pPr>
            <a:r>
              <a:rPr lang="en-US" sz="1400" dirty="0">
                <a:solidFill>
                  <a:schemeClr val="bg1"/>
                </a:solidFill>
              </a:rPr>
              <a:t>Resolved by simulator checks; Summary and Conclusion close the incident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Auditable by design: every step can be replayed and proven</a:t>
            </a:r>
            <a:endParaRPr lang="en-US" sz="2800" dirty="0"/>
          </a:p>
        </p:txBody>
      </p:sp>
      <p:sp>
        <p:nvSpPr>
          <p:cNvPr id="3" name="Hash-chained audit trail card"/>
          <p:cNvSpPr/>
          <p:nvPr/>
        </p:nvSpPr>
        <p:spPr>
          <a:xfrm>
            <a:off x="548640" y="1463040"/>
            <a:ext cx="5394960" cy="1554480"/>
          </a:xfrm>
          <a:prstGeom prst="roundRect">
            <a:avLst>
              <a:gd name="adj" fmla="val 7059"/>
            </a:avLst>
          </a:prstGeom>
          <a:solidFill>
            <a:schemeClr val="bg2"/>
          </a:solidFill>
          <a:ln w="12700">
            <a:solidFill>
              <a:schemeClr val="bg2"/>
            </a:solidFill>
            <a:prstDash val="solid"/>
          </a:ln>
          <a:effectLst>
            <a:outerShdw sx="100000" sy="100000" kx="0" ky="0" algn="bl" rotWithShape="0" blurRad="76200" dist="25400" dir="5400000">
              <a:srgbClr val="14213D">
                <a:alpha val="12000"/>
              </a:srgbClr>
            </a:outerShdw>
          </a:effectLst>
        </p:spPr>
      </p:sp>
      <p:sp>
        <p:nvSpPr>
          <p:cNvPr id="4" name="Hash-chained audit trail circle"/>
          <p:cNvSpPr/>
          <p:nvPr/>
        </p:nvSpPr>
        <p:spPr>
          <a:xfrm>
            <a:off x="777240" y="1737360"/>
            <a:ext cx="685800" cy="685800"/>
          </a:xfrm>
          <a:prstGeom prst="ellipse">
            <a:avLst/>
          </a:prstGeom>
          <a:solidFill>
            <a:srgbClr val="14213D"/>
          </a:solidFill>
          <a:ln w="12700">
            <a:solidFill>
              <a:srgbClr val="14213D"/>
            </a:solidFill>
            <a:prstDash val="solid"/>
          </a:ln>
        </p:spPr>
      </p:sp>
      <p:pic>
        <p:nvPicPr>
          <p:cNvPr id="5" name="Hash-chained audit trail icon" descr="preencoded.png">    </p:cNvPr>
          <p:cNvPicPr>
            <a:picLocks noChangeAspect="1"/>
          </p:cNvPicPr>
          <p:nvPr/>
        </p:nvPicPr>
        <p:blipFill>
          <a:blip r:embed="rId1"/>
          <a:stretch>
            <a:fillRect/>
          </a:stretch>
        </p:blipFill>
        <p:spPr>
          <a:xfrm>
            <a:off x="948690" y="1908810"/>
            <a:ext cx="342900" cy="342900"/>
          </a:xfrm>
          <a:prstGeom prst="rect">
            <a:avLst/>
          </a:prstGeom>
        </p:spPr>
      </p:pic>
      <p:sp>
        <p:nvSpPr>
          <p:cNvPr id="6" name="Hash-chained audit trail title"/>
          <p:cNvSpPr txBox="1"/>
          <p:nvPr/>
        </p:nvSpPr>
        <p:spPr>
          <a:xfrm>
            <a:off x="1691640" y="1691640"/>
            <a:ext cx="4069080" cy="411480"/>
          </a:xfrm>
          <a:prstGeom prst="rect">
            <a:avLst/>
          </a:prstGeom>
          <a:noFill/>
          <a:ln/>
        </p:spPr>
        <p:txBody>
          <a:bodyPr wrap="square" lIns="0" tIns="0" rIns="0" bIns="0" rtlCol="0" anchor="t"/>
          <a:lstStyle/>
          <a:p>
            <a:pPr indent="0" marL="0">
              <a:buNone/>
            </a:pPr>
            <a:r>
              <a:rPr lang="en-US" sz="1600" b="1" dirty="0">
                <a:solidFill>
                  <a:schemeClr val="tx1"/>
                </a:solidFill>
              </a:rPr>
              <a:t>Hash-chained audit trail</a:t>
            </a:r>
            <a:endParaRPr lang="en-US" sz="1600" dirty="0"/>
          </a:p>
        </p:txBody>
      </p:sp>
      <p:sp>
        <p:nvSpPr>
          <p:cNvPr id="7" name="Hash-chained audit trail text"/>
          <p:cNvSpPr txBox="1"/>
          <p:nvPr/>
        </p:nvSpPr>
        <p:spPr>
          <a:xfrm>
            <a:off x="1691640" y="2148840"/>
            <a:ext cx="4069080" cy="1005840"/>
          </a:xfrm>
          <a:prstGeom prst="rect">
            <a:avLst/>
          </a:prstGeom>
          <a:noFill/>
          <a:ln/>
        </p:spPr>
        <p:txBody>
          <a:bodyPr wrap="square" lIns="0" tIns="0" rIns="0" bIns="0" rtlCol="0" anchor="t"/>
          <a:lstStyle/>
          <a:p>
            <a:pPr indent="0" marL="0">
              <a:buNone/>
            </a:pPr>
            <a:r>
              <a:rPr lang="en-US" sz="1300" dirty="0">
                <a:solidFill>
                  <a:schemeClr val="tx2"/>
                </a:solidFill>
              </a:rPr>
              <a:t>Append-only; each entry carries the hash of the one before, so any edit, removal or reordering is detected</a:t>
            </a:r>
            <a:endParaRPr lang="en-US" sz="1300" dirty="0"/>
          </a:p>
        </p:txBody>
      </p:sp>
      <p:sp>
        <p:nvSpPr>
          <p:cNvPr id="8" name="Replay and re-execute card"/>
          <p:cNvSpPr/>
          <p:nvPr/>
        </p:nvSpPr>
        <p:spPr>
          <a:xfrm>
            <a:off x="6217920" y="1463040"/>
            <a:ext cx="5394960" cy="1554480"/>
          </a:xfrm>
          <a:prstGeom prst="roundRect">
            <a:avLst>
              <a:gd name="adj" fmla="val 7059"/>
            </a:avLst>
          </a:prstGeom>
          <a:solidFill>
            <a:schemeClr val="bg2"/>
          </a:solidFill>
          <a:ln w="12700">
            <a:solidFill>
              <a:schemeClr val="bg2"/>
            </a:solidFill>
            <a:prstDash val="solid"/>
          </a:ln>
          <a:effectLst>
            <a:outerShdw sx="100000" sy="100000" kx="0" ky="0" algn="bl" rotWithShape="0" blurRad="76200" dist="25400" dir="5400000">
              <a:srgbClr val="14213D">
                <a:alpha val="12000"/>
              </a:srgbClr>
            </a:outerShdw>
          </a:effectLst>
        </p:spPr>
      </p:sp>
      <p:sp>
        <p:nvSpPr>
          <p:cNvPr id="9" name="Replay and re-execute circle"/>
          <p:cNvSpPr/>
          <p:nvPr/>
        </p:nvSpPr>
        <p:spPr>
          <a:xfrm>
            <a:off x="6446520" y="1737360"/>
            <a:ext cx="685800" cy="685800"/>
          </a:xfrm>
          <a:prstGeom prst="ellipse">
            <a:avLst/>
          </a:prstGeom>
          <a:solidFill>
            <a:srgbClr val="14213D"/>
          </a:solidFill>
          <a:ln w="12700">
            <a:solidFill>
              <a:srgbClr val="14213D"/>
            </a:solidFill>
            <a:prstDash val="solid"/>
          </a:ln>
        </p:spPr>
      </p:sp>
      <p:pic>
        <p:nvPicPr>
          <p:cNvPr id="10" name="Replay and re-execute icon" descr="preencoded.png">    </p:cNvPr>
          <p:cNvPicPr>
            <a:picLocks noChangeAspect="1"/>
          </p:cNvPicPr>
          <p:nvPr/>
        </p:nvPicPr>
        <p:blipFill>
          <a:blip r:embed="rId2"/>
          <a:stretch>
            <a:fillRect/>
          </a:stretch>
        </p:blipFill>
        <p:spPr>
          <a:xfrm>
            <a:off x="6617970" y="1908810"/>
            <a:ext cx="342900" cy="342900"/>
          </a:xfrm>
          <a:prstGeom prst="rect">
            <a:avLst/>
          </a:prstGeom>
        </p:spPr>
      </p:pic>
      <p:sp>
        <p:nvSpPr>
          <p:cNvPr id="11" name="Replay and re-execute title"/>
          <p:cNvSpPr txBox="1"/>
          <p:nvPr/>
        </p:nvSpPr>
        <p:spPr>
          <a:xfrm>
            <a:off x="7360920" y="1691640"/>
            <a:ext cx="4069080" cy="411480"/>
          </a:xfrm>
          <a:prstGeom prst="rect">
            <a:avLst/>
          </a:prstGeom>
          <a:noFill/>
          <a:ln/>
        </p:spPr>
        <p:txBody>
          <a:bodyPr wrap="square" lIns="0" tIns="0" rIns="0" bIns="0" rtlCol="0" anchor="t"/>
          <a:lstStyle/>
          <a:p>
            <a:pPr indent="0" marL="0">
              <a:buNone/>
            </a:pPr>
            <a:r>
              <a:rPr lang="en-US" sz="1600" b="1" dirty="0">
                <a:solidFill>
                  <a:schemeClr val="tx1"/>
                </a:solidFill>
              </a:rPr>
              <a:t>Replay and re-execute</a:t>
            </a:r>
            <a:endParaRPr lang="en-US" sz="1600" dirty="0"/>
          </a:p>
        </p:txBody>
      </p:sp>
      <p:sp>
        <p:nvSpPr>
          <p:cNvPr id="12" name="Replay and re-execute text"/>
          <p:cNvSpPr txBox="1"/>
          <p:nvPr/>
        </p:nvSpPr>
        <p:spPr>
          <a:xfrm>
            <a:off x="7360920" y="2148840"/>
            <a:ext cx="4069080" cy="1005840"/>
          </a:xfrm>
          <a:prstGeom prst="rect">
            <a:avLst/>
          </a:prstGeom>
          <a:noFill/>
          <a:ln/>
        </p:spPr>
        <p:txBody>
          <a:bodyPr wrap="square" lIns="0" tIns="0" rIns="0" bIns="0" rtlCol="0" anchor="t"/>
          <a:lstStyle/>
          <a:p>
            <a:pPr indent="0" marL="0">
              <a:buNone/>
            </a:pPr>
            <a:r>
              <a:rPr lang="en-US" sz="1300" dirty="0">
                <a:solidFill>
                  <a:schemeClr val="tx2"/>
                </a:solidFill>
              </a:rPr>
              <a:t>Re-runs the recorded incident and compares agents, passages, claims, verdicts and the assessment</a:t>
            </a:r>
            <a:endParaRPr lang="en-US" sz="1300" dirty="0"/>
          </a:p>
        </p:txBody>
      </p:sp>
      <p:sp>
        <p:nvSpPr>
          <p:cNvPr id="13" name="Optional local AI, on a leash card"/>
          <p:cNvSpPr/>
          <p:nvPr/>
        </p:nvSpPr>
        <p:spPr>
          <a:xfrm>
            <a:off x="548640" y="3291840"/>
            <a:ext cx="5394960" cy="1554480"/>
          </a:xfrm>
          <a:prstGeom prst="roundRect">
            <a:avLst>
              <a:gd name="adj" fmla="val 7059"/>
            </a:avLst>
          </a:prstGeom>
          <a:solidFill>
            <a:schemeClr val="bg2"/>
          </a:solidFill>
          <a:ln w="12700">
            <a:solidFill>
              <a:schemeClr val="bg2"/>
            </a:solidFill>
            <a:prstDash val="solid"/>
          </a:ln>
          <a:effectLst>
            <a:outerShdw sx="100000" sy="100000" kx="0" ky="0" algn="bl" rotWithShape="0" blurRad="76200" dist="25400" dir="5400000">
              <a:srgbClr val="14213D">
                <a:alpha val="12000"/>
              </a:srgbClr>
            </a:outerShdw>
          </a:effectLst>
        </p:spPr>
      </p:sp>
      <p:sp>
        <p:nvSpPr>
          <p:cNvPr id="14" name="Optional local AI, on a leash circle"/>
          <p:cNvSpPr/>
          <p:nvPr/>
        </p:nvSpPr>
        <p:spPr>
          <a:xfrm>
            <a:off x="777240" y="3566160"/>
            <a:ext cx="685800" cy="685800"/>
          </a:xfrm>
          <a:prstGeom prst="ellipse">
            <a:avLst/>
          </a:prstGeom>
          <a:solidFill>
            <a:srgbClr val="F29F05"/>
          </a:solidFill>
          <a:ln w="12700">
            <a:solidFill>
              <a:srgbClr val="F29F05"/>
            </a:solidFill>
            <a:prstDash val="solid"/>
          </a:ln>
        </p:spPr>
      </p:sp>
      <p:pic>
        <p:nvPicPr>
          <p:cNvPr id="15" name="Optional local AI, on a leash icon" descr="preencoded.png">    </p:cNvPr>
          <p:cNvPicPr>
            <a:picLocks noChangeAspect="1"/>
          </p:cNvPicPr>
          <p:nvPr/>
        </p:nvPicPr>
        <p:blipFill>
          <a:blip r:embed="rId3"/>
          <a:stretch>
            <a:fillRect/>
          </a:stretch>
        </p:blipFill>
        <p:spPr>
          <a:xfrm>
            <a:off x="948690" y="3737610"/>
            <a:ext cx="342900" cy="342900"/>
          </a:xfrm>
          <a:prstGeom prst="rect">
            <a:avLst/>
          </a:prstGeom>
        </p:spPr>
      </p:pic>
      <p:sp>
        <p:nvSpPr>
          <p:cNvPr id="16" name="Optional local AI, on a leash title"/>
          <p:cNvSpPr txBox="1"/>
          <p:nvPr/>
        </p:nvSpPr>
        <p:spPr>
          <a:xfrm>
            <a:off x="1691640" y="3520440"/>
            <a:ext cx="4069080" cy="411480"/>
          </a:xfrm>
          <a:prstGeom prst="rect">
            <a:avLst/>
          </a:prstGeom>
          <a:noFill/>
          <a:ln/>
        </p:spPr>
        <p:txBody>
          <a:bodyPr wrap="square" lIns="0" tIns="0" rIns="0" bIns="0" rtlCol="0" anchor="t"/>
          <a:lstStyle/>
          <a:p>
            <a:pPr indent="0" marL="0">
              <a:buNone/>
            </a:pPr>
            <a:r>
              <a:rPr lang="en-US" sz="1600" b="1" dirty="0">
                <a:solidFill>
                  <a:schemeClr val="tx1"/>
                </a:solidFill>
              </a:rPr>
              <a:t>Optional local AI, on a leash</a:t>
            </a:r>
            <a:endParaRPr lang="en-US" sz="1600" dirty="0"/>
          </a:p>
        </p:txBody>
      </p:sp>
      <p:sp>
        <p:nvSpPr>
          <p:cNvPr id="17" name="Optional local AI, on a leash text"/>
          <p:cNvSpPr txBox="1"/>
          <p:nvPr/>
        </p:nvSpPr>
        <p:spPr>
          <a:xfrm>
            <a:off x="1691640" y="3977640"/>
            <a:ext cx="4069080" cy="1005840"/>
          </a:xfrm>
          <a:prstGeom prst="rect">
            <a:avLst/>
          </a:prstGeom>
          <a:noFill/>
          <a:ln/>
        </p:spPr>
        <p:txBody>
          <a:bodyPr wrap="square" lIns="0" tIns="0" rIns="0" bIns="0" rtlCol="0" anchor="t"/>
          <a:lstStyle/>
          <a:p>
            <a:pPr indent="0" marL="0">
              <a:buNone/>
            </a:pPr>
            <a:r>
              <a:rPr lang="en-US" sz="1300" dirty="0">
                <a:solidFill>
                  <a:schemeClr val="tx2"/>
                </a:solidFill>
              </a:rPr>
              <a:t>Ollama (free, local) or Claude: a model's claim is kept only if it cites a retrieved passage; prompt and response are logged</a:t>
            </a:r>
            <a:endParaRPr lang="en-US" sz="1300" dirty="0"/>
          </a:p>
        </p:txBody>
      </p:sp>
      <p:sp>
        <p:nvSpPr>
          <p:cNvPr id="18" name="Human review, always card"/>
          <p:cNvSpPr/>
          <p:nvPr/>
        </p:nvSpPr>
        <p:spPr>
          <a:xfrm>
            <a:off x="6217920" y="3291840"/>
            <a:ext cx="5394960" cy="1554480"/>
          </a:xfrm>
          <a:prstGeom prst="roundRect">
            <a:avLst>
              <a:gd name="adj" fmla="val 7059"/>
            </a:avLst>
          </a:prstGeom>
          <a:solidFill>
            <a:schemeClr val="bg2"/>
          </a:solidFill>
          <a:ln w="12700">
            <a:solidFill>
              <a:schemeClr val="bg2"/>
            </a:solidFill>
            <a:prstDash val="solid"/>
          </a:ln>
          <a:effectLst>
            <a:outerShdw sx="100000" sy="100000" kx="0" ky="0" algn="bl" rotWithShape="0" blurRad="76200" dist="25400" dir="5400000">
              <a:srgbClr val="14213D">
                <a:alpha val="12000"/>
              </a:srgbClr>
            </a:outerShdw>
          </a:effectLst>
        </p:spPr>
      </p:sp>
      <p:sp>
        <p:nvSpPr>
          <p:cNvPr id="19" name="Human review, always circle"/>
          <p:cNvSpPr/>
          <p:nvPr/>
        </p:nvSpPr>
        <p:spPr>
          <a:xfrm>
            <a:off x="6446520" y="3566160"/>
            <a:ext cx="685800" cy="685800"/>
          </a:xfrm>
          <a:prstGeom prst="ellipse">
            <a:avLst/>
          </a:prstGeom>
          <a:solidFill>
            <a:srgbClr val="14213D"/>
          </a:solidFill>
          <a:ln w="12700">
            <a:solidFill>
              <a:srgbClr val="14213D"/>
            </a:solidFill>
            <a:prstDash val="solid"/>
          </a:ln>
        </p:spPr>
      </p:sp>
      <p:pic>
        <p:nvPicPr>
          <p:cNvPr id="20" name="Human review, always icon" descr="preencoded.png">    </p:cNvPr>
          <p:cNvPicPr>
            <a:picLocks noChangeAspect="1"/>
          </p:cNvPicPr>
          <p:nvPr/>
        </p:nvPicPr>
        <p:blipFill>
          <a:blip r:embed="rId4"/>
          <a:stretch>
            <a:fillRect/>
          </a:stretch>
        </p:blipFill>
        <p:spPr>
          <a:xfrm>
            <a:off x="6617970" y="3737610"/>
            <a:ext cx="342900" cy="342900"/>
          </a:xfrm>
          <a:prstGeom prst="rect">
            <a:avLst/>
          </a:prstGeom>
        </p:spPr>
      </p:pic>
      <p:sp>
        <p:nvSpPr>
          <p:cNvPr id="21" name="Human review, always title"/>
          <p:cNvSpPr txBox="1"/>
          <p:nvPr/>
        </p:nvSpPr>
        <p:spPr>
          <a:xfrm>
            <a:off x="7360920" y="3520440"/>
            <a:ext cx="4069080" cy="411480"/>
          </a:xfrm>
          <a:prstGeom prst="rect">
            <a:avLst/>
          </a:prstGeom>
          <a:noFill/>
          <a:ln/>
        </p:spPr>
        <p:txBody>
          <a:bodyPr wrap="square" lIns="0" tIns="0" rIns="0" bIns="0" rtlCol="0" anchor="t"/>
          <a:lstStyle/>
          <a:p>
            <a:pPr indent="0" marL="0">
              <a:buNone/>
            </a:pPr>
            <a:r>
              <a:rPr lang="en-US" sz="1600" b="1" dirty="0">
                <a:solidFill>
                  <a:schemeClr val="tx1"/>
                </a:solidFill>
              </a:rPr>
              <a:t>Human review, always</a:t>
            </a:r>
            <a:endParaRPr lang="en-US" sz="1600" dirty="0"/>
          </a:p>
        </p:txBody>
      </p:sp>
      <p:sp>
        <p:nvSpPr>
          <p:cNvPr id="22" name="Human review, always text"/>
          <p:cNvSpPr txBox="1"/>
          <p:nvPr/>
        </p:nvSpPr>
        <p:spPr>
          <a:xfrm>
            <a:off x="7360920" y="3977640"/>
            <a:ext cx="4069080" cy="1005840"/>
          </a:xfrm>
          <a:prstGeom prst="rect">
            <a:avLst/>
          </a:prstGeom>
          <a:noFill/>
          <a:ln/>
        </p:spPr>
        <p:txBody>
          <a:bodyPr wrap="square" lIns="0" tIns="0" rIns="0" bIns="0" rtlCol="0" anchor="t"/>
          <a:lstStyle/>
          <a:p>
            <a:pPr indent="0" marL="0">
              <a:buNone/>
            </a:pPr>
            <a:r>
              <a:rPr lang="en-US" sz="1300" dirty="0">
                <a:solidFill>
                  <a:schemeClr val="tx2"/>
                </a:solidFill>
              </a:rPr>
              <a:t>Every screen and report carries the human-review notice; holds and gates wait for a person</a:t>
            </a:r>
            <a:endParaRPr lang="en-US" sz="1300" dirty="0"/>
          </a:p>
        </p:txBody>
      </p:sp>
      <p:sp>
        <p:nvSpPr>
          <p:cNvPr id="23" name="Repo note"/>
          <p:cNvSpPr txBox="1"/>
          <p:nvPr/>
        </p:nvSpPr>
        <p:spPr>
          <a:xfrm>
            <a:off x="548640" y="5257800"/>
            <a:ext cx="11064240" cy="365760"/>
          </a:xfrm>
          <a:prstGeom prst="rect">
            <a:avLst/>
          </a:prstGeom>
          <a:noFill/>
          <a:ln/>
        </p:spPr>
        <p:txBody>
          <a:bodyPr wrap="square" lIns="0" tIns="0" rIns="0" bIns="0" rtlCol="0" anchor="t"/>
          <a:lstStyle/>
          <a:p>
            <a:pPr indent="0" marL="0">
              <a:buNone/>
            </a:pPr>
            <a:r>
              <a:rPr lang="en-US" sz="1400" i="1" dirty="0">
                <a:solidFill>
                  <a:schemeClr val="accent4"/>
                </a:solidFill>
              </a:rPr>
              <a:t>Also in the repo: ITU AI readiness mapping, Y.3172 traceability, evidence audit and evaluation report.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How the project meets the judging criteria</a:t>
            </a:r>
            <a:endParaRPr lang="en-US" sz="2800" dirty="0"/>
          </a:p>
        </p:txBody>
      </p:sp>
      <p:graphicFrame>
        <p:nvGraphicFramePr>
          <p:cNvPr id="15" name="Criteria table"/>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651760"/>
                <a:gridCol w="8412480"/>
              </a:tblGrid>
              <a:tr h="804672">
                <a:tc>
                  <a:txBody>
                    <a:bodyPr/>
                    <a:lstStyle/>
                    <a:p>
                      <a:pPr indent="0" marL="0">
                        <a:buNone/>
                      </a:pPr>
                      <a:r>
                        <a:rPr lang="en-US" sz="1300" b="1" dirty="0">
                          <a:solidFill>
                            <a:schemeClr val="bg1"/>
                          </a:solidFill>
                        </a:rPr>
                        <a:t>Criterion</a:t>
                      </a:r>
                      <a:endParaRPr lang="en-US" sz="13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What we show</a:t>
                      </a:r>
                      <a:endParaRPr lang="en-US" sz="13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tx1"/>
                    </a:solidFill>
                  </a:tcPr>
                </a:tc>
              </a:tr>
              <a:tr h="804672">
                <a:tc>
                  <a:txBody>
                    <a:bodyPr/>
                    <a:lstStyle/>
                    <a:p>
                      <a:pPr indent="0" marL="0">
                        <a:buNone/>
                      </a:pPr>
                      <a:r>
                        <a:rPr lang="en-US" sz="1500" b="1" dirty="0">
                          <a:solidFill>
                            <a:schemeClr val="tx1"/>
                          </a:solidFill>
                        </a:rPr>
                        <a:t>Knowledge-base quality</a:t>
                      </a:r>
                      <a:endParaRPr lang="en-US" sz="15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23 official sources in 8 knowledge bases, each passage with section, page, URL and provenance; a 284-document index for obligation checks; 12/12 test queries find the right section in the top 5</a:t>
                      </a:r>
                      <a:endParaRPr lang="en-US" sz="15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r>
              <a:tr h="804672">
                <a:tc>
                  <a:txBody>
                    <a:bodyPr/>
                    <a:lstStyle/>
                    <a:p>
                      <a:pPr indent="0" marL="0">
                        <a:buNone/>
                      </a:pPr>
                      <a:r>
                        <a:rPr lang="en-US" sz="1500" b="1" dirty="0">
                          <a:solidFill>
                            <a:schemeClr val="tx1"/>
                          </a:solidFill>
                        </a:rPr>
                        <a:t>Agent capability</a:t>
                      </a:r>
                      <a:endParaRPr lang="en-US" sz="15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7 agents with separate mandates and information; progressive reassessment over 4 stages; evidence-based cross-domain links; optional local LLM reasoning</a:t>
                      </a:r>
                      <a:endParaRPr lang="en-US" sz="15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r>
              <a:tr h="804672">
                <a:tc>
                  <a:txBody>
                    <a:bodyPr/>
                    <a:lstStyle/>
                    <a:p>
                      <a:pPr indent="0" marL="0">
                        <a:buNone/>
                      </a:pPr>
                      <a:r>
                        <a:rPr lang="en-US" sz="1500" b="1" dirty="0">
                          <a:solidFill>
                            <a:schemeClr val="tx1"/>
                          </a:solidFill>
                        </a:rPr>
                        <a:t>Gap identification</a:t>
                      </a:r>
                      <a:endParaRPr lang="en-US" sz="15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3 potential gaps raised live; a 5-theme register comparing Indian provisions with global (EU) and neighbouring-region (South Asia) examples</a:t>
                      </a:r>
                      <a:endParaRPr lang="en-US" sz="15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r>
              <a:tr h="804672">
                <a:tc>
                  <a:txBody>
                    <a:bodyPr/>
                    <a:lstStyle/>
                    <a:p>
                      <a:pPr indent="0" marL="0">
                        <a:buNone/>
                      </a:pPr>
                      <a:r>
                        <a:rPr lang="en-US" sz="1500" b="1" dirty="0">
                          <a:solidFill>
                            <a:schemeClr val="tx1"/>
                          </a:solidFill>
                        </a:rPr>
                        <a:t>Auditability</a:t>
                      </a:r>
                      <a:endParaRPr lang="en-US" sz="15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Hash-chained audit trail, replay, re-execution, decision path per stage, logged model reasoning</a:t>
                      </a:r>
                      <a:endParaRPr lang="en-US" sz="15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r>
              <a:tr h="804672">
                <a:tc>
                  <a:txBody>
                    <a:bodyPr/>
                    <a:lstStyle/>
                    <a:p>
                      <a:pPr indent="0" marL="0">
                        <a:buNone/>
                      </a:pPr>
                      <a:r>
                        <a:rPr lang="en-US" sz="1500" b="1" dirty="0">
                          <a:solidFill>
                            <a:schemeClr val="tx1"/>
                          </a:solidFill>
                        </a:rPr>
                        <a:t>Y.3172 and AI readiness</a:t>
                      </a:r>
                      <a:endParaRPr lang="en-US" sz="15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Full Y.3172 pipeline with intent, MLFO and ML sandbox; the adviser as the P node; ITU AI readiness mapping</a:t>
                      </a:r>
                      <a:endParaRPr lang="en-US" sz="15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What we have not done yet, and what comes next</a:t>
            </a:r>
            <a:endParaRPr lang="en-US" sz="2800" dirty="0"/>
          </a:p>
        </p:txBody>
      </p:sp>
      <p:sp>
        <p:nvSpPr>
          <p:cNvPr id="3" name="Honest limits card"/>
          <p:cNvSpPr/>
          <p:nvPr/>
        </p:nvSpPr>
        <p:spPr>
          <a:xfrm>
            <a:off x="548640" y="1417320"/>
            <a:ext cx="5394960" cy="4206240"/>
          </a:xfrm>
          <a:prstGeom prst="roundRect">
            <a:avLst>
              <a:gd name="adj" fmla="val 2609"/>
            </a:avLst>
          </a:prstGeom>
          <a:solidFill>
            <a:schemeClr val="bg2"/>
          </a:solidFill>
          <a:ln w="12700">
            <a:solidFill>
              <a:schemeClr val="bg2"/>
            </a:solidFill>
            <a:prstDash val="solid"/>
          </a:ln>
          <a:effectLst>
            <a:outerShdw sx="100000" sy="100000" kx="0" ky="0" algn="bl" rotWithShape="0" blurRad="76200" dist="25400" dir="5400000">
              <a:srgbClr val="14213D">
                <a:alpha val="12000"/>
              </a:srgbClr>
            </a:outerShdw>
          </a:effectLst>
        </p:spPr>
      </p:sp>
      <p:sp>
        <p:nvSpPr>
          <p:cNvPr id="4" name="Honest limits circle"/>
          <p:cNvSpPr/>
          <p:nvPr/>
        </p:nvSpPr>
        <p:spPr>
          <a:xfrm>
            <a:off x="822960" y="1645920"/>
            <a:ext cx="640080" cy="640080"/>
          </a:xfrm>
          <a:prstGeom prst="ellipse">
            <a:avLst/>
          </a:prstGeom>
          <a:solidFill>
            <a:srgbClr val="C2410C"/>
          </a:solidFill>
          <a:ln w="12700">
            <a:solidFill>
              <a:srgbClr val="C2410C"/>
            </a:solidFill>
            <a:prstDash val="solid"/>
          </a:ln>
        </p:spPr>
      </p:sp>
      <p:pic>
        <p:nvPicPr>
          <p:cNvPr id="5" name="Honest limits icon" descr="preencoded.png">    </p:cNvPr>
          <p:cNvPicPr>
            <a:picLocks noChangeAspect="1"/>
          </p:cNvPicPr>
          <p:nvPr/>
        </p:nvPicPr>
        <p:blipFill>
          <a:blip r:embed="rId1"/>
          <a:stretch>
            <a:fillRect/>
          </a:stretch>
        </p:blipFill>
        <p:spPr>
          <a:xfrm>
            <a:off x="982980" y="1805940"/>
            <a:ext cx="320040" cy="320040"/>
          </a:xfrm>
          <a:prstGeom prst="rect">
            <a:avLst/>
          </a:prstGeom>
        </p:spPr>
      </p:pic>
      <p:sp>
        <p:nvSpPr>
          <p:cNvPr id="6" name="Honest limits title"/>
          <p:cNvSpPr txBox="1"/>
          <p:nvPr/>
        </p:nvSpPr>
        <p:spPr>
          <a:xfrm>
            <a:off x="1645920" y="1645920"/>
            <a:ext cx="4023360" cy="640080"/>
          </a:xfrm>
          <a:prstGeom prst="rect">
            <a:avLst/>
          </a:prstGeom>
          <a:noFill/>
          <a:ln/>
        </p:spPr>
        <p:txBody>
          <a:bodyPr wrap="square" lIns="0" tIns="0" rIns="0" bIns="0" rtlCol="0" anchor="ctr"/>
          <a:lstStyle/>
          <a:p>
            <a:pPr indent="0" marL="0">
              <a:buNone/>
            </a:pPr>
            <a:r>
              <a:rPr lang="en-US" sz="2000" b="1" dirty="0">
                <a:solidFill>
                  <a:schemeClr val="accent3"/>
                </a:solidFill>
              </a:rPr>
              <a:t>Honest limits</a:t>
            </a:r>
            <a:endParaRPr lang="en-US" sz="2000" dirty="0"/>
          </a:p>
        </p:txBody>
      </p:sp>
      <p:sp>
        <p:nvSpPr>
          <p:cNvPr id="7" name="Honest limits list"/>
          <p:cNvSpPr txBox="1"/>
          <p:nvPr/>
        </p:nvSpPr>
        <p:spPr>
          <a:xfrm>
            <a:off x="822960" y="2514600"/>
            <a:ext cx="4846320" cy="29260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In-force and amendment checks are incomplete, so claims read INCOMPLETE</a:t>
            </a:r>
            <a:endParaRPr lang="en-US" sz="1500" dirty="0"/>
          </a:p>
          <a:p>
            <a:pPr marL="342900" indent="-342900">
              <a:spcAft>
                <a:spcPts val="1000"/>
              </a:spcAft>
              <a:buSzPct val="100000"/>
              <a:buChar char="•"/>
            </a:pPr>
            <a:r>
              <a:rPr lang="en-US" sz="1500" dirty="0">
                <a:solidFill>
                  <a:schemeClr val="tx1"/>
                </a:solidFill>
              </a:rPr>
              <a:t>The 5G core is simulated; reference points are logical, not a live network</a:t>
            </a:r>
            <a:endParaRPr lang="en-US" sz="1500" dirty="0"/>
          </a:p>
          <a:p>
            <a:pPr marL="342900" indent="-342900">
              <a:spcAft>
                <a:spcPts val="1000"/>
              </a:spcAft>
              <a:buSzPct val="100000"/>
              <a:buChar char="•"/>
            </a:pPr>
            <a:r>
              <a:rPr lang="en-US" sz="1500" dirty="0">
                <a:solidFill>
                  <a:schemeClr val="tx1"/>
                </a:solidFill>
              </a:rPr>
              <a:t>IT (NCIIPC) Rules 2013 could not be obtained from official sites</a:t>
            </a:r>
            <a:endParaRPr lang="en-US" sz="1500" dirty="0"/>
          </a:p>
          <a:p>
            <a:pPr marL="342900" indent="-342900">
              <a:spcAft>
                <a:spcPts val="1000"/>
              </a:spcAft>
              <a:buSzPct val="100000"/>
              <a:buChar char="•"/>
            </a:pPr>
            <a:r>
              <a:rPr lang="en-US" sz="1500" dirty="0">
                <a:solidFill>
                  <a:schemeClr val="tx1"/>
                </a:solidFill>
              </a:rPr>
              <a:t>The ITU AI for Good Sandbox was not available: everything runs locally</a:t>
            </a:r>
            <a:endParaRPr lang="en-US" sz="1500" dirty="0"/>
          </a:p>
        </p:txBody>
      </p:sp>
      <p:sp>
        <p:nvSpPr>
          <p:cNvPr id="8" name="Next steps card"/>
          <p:cNvSpPr/>
          <p:nvPr/>
        </p:nvSpPr>
        <p:spPr>
          <a:xfrm>
            <a:off x="6217920" y="1417320"/>
            <a:ext cx="5394960" cy="4206240"/>
          </a:xfrm>
          <a:prstGeom prst="roundRect">
            <a:avLst>
              <a:gd name="adj" fmla="val 2609"/>
            </a:avLst>
          </a:prstGeom>
          <a:solidFill>
            <a:schemeClr val="bg2"/>
          </a:solidFill>
          <a:ln w="12700">
            <a:solidFill>
              <a:schemeClr val="bg2"/>
            </a:solidFill>
            <a:prstDash val="solid"/>
          </a:ln>
          <a:effectLst>
            <a:outerShdw sx="100000" sy="100000" kx="0" ky="0" algn="bl" rotWithShape="0" blurRad="76200" dist="25400" dir="5400000">
              <a:srgbClr val="14213D">
                <a:alpha val="12000"/>
              </a:srgbClr>
            </a:outerShdw>
          </a:effectLst>
        </p:spPr>
      </p:sp>
      <p:sp>
        <p:nvSpPr>
          <p:cNvPr id="9" name="Next steps circle"/>
          <p:cNvSpPr/>
          <p:nvPr/>
        </p:nvSpPr>
        <p:spPr>
          <a:xfrm>
            <a:off x="6492240" y="1645920"/>
            <a:ext cx="640080" cy="640080"/>
          </a:xfrm>
          <a:prstGeom prst="ellipse">
            <a:avLst/>
          </a:prstGeom>
          <a:solidFill>
            <a:srgbClr val="0F7B6C"/>
          </a:solidFill>
          <a:ln w="12700">
            <a:solidFill>
              <a:srgbClr val="0F7B6C"/>
            </a:solidFill>
            <a:prstDash val="solid"/>
          </a:ln>
        </p:spPr>
      </p:sp>
      <p:pic>
        <p:nvPicPr>
          <p:cNvPr id="10" name="Next steps icon" descr="preencoded.png">    </p:cNvPr>
          <p:cNvPicPr>
            <a:picLocks noChangeAspect="1"/>
          </p:cNvPicPr>
          <p:nvPr/>
        </p:nvPicPr>
        <p:blipFill>
          <a:blip r:embed="rId2"/>
          <a:stretch>
            <a:fillRect/>
          </a:stretch>
        </p:blipFill>
        <p:spPr>
          <a:xfrm>
            <a:off x="6652260" y="1805940"/>
            <a:ext cx="320040" cy="320040"/>
          </a:xfrm>
          <a:prstGeom prst="rect">
            <a:avLst/>
          </a:prstGeom>
        </p:spPr>
      </p:pic>
      <p:sp>
        <p:nvSpPr>
          <p:cNvPr id="11" name="Next steps title"/>
          <p:cNvSpPr txBox="1"/>
          <p:nvPr/>
        </p:nvSpPr>
        <p:spPr>
          <a:xfrm>
            <a:off x="7315200" y="1645920"/>
            <a:ext cx="4023360" cy="640080"/>
          </a:xfrm>
          <a:prstGeom prst="rect">
            <a:avLst/>
          </a:prstGeom>
          <a:noFill/>
          <a:ln/>
        </p:spPr>
        <p:txBody>
          <a:bodyPr wrap="square" lIns="0" tIns="0" rIns="0" bIns="0" rtlCol="0" anchor="ctr"/>
          <a:lstStyle/>
          <a:p>
            <a:pPr indent="0" marL="0">
              <a:buNone/>
            </a:pPr>
            <a:r>
              <a:rPr lang="en-US" sz="2000" b="1" dirty="0">
                <a:solidFill>
                  <a:schemeClr val="accent2"/>
                </a:solidFill>
              </a:rPr>
              <a:t>Next steps</a:t>
            </a:r>
            <a:endParaRPr lang="en-US" sz="2000" dirty="0"/>
          </a:p>
        </p:txBody>
      </p:sp>
      <p:sp>
        <p:nvSpPr>
          <p:cNvPr id="12" name="Next steps list"/>
          <p:cNvSpPr txBox="1"/>
          <p:nvPr/>
        </p:nvSpPr>
        <p:spPr>
          <a:xfrm>
            <a:off x="6492240" y="2514600"/>
            <a:ext cx="4846320" cy="29260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Record amendment checks for key instruments so claims can be VERIFIED</a:t>
            </a:r>
            <a:endParaRPr lang="en-US" sz="1500" dirty="0"/>
          </a:p>
          <a:p>
            <a:pPr marL="342900" indent="-342900">
              <a:spcAft>
                <a:spcPts val="1000"/>
              </a:spcAft>
              <a:buSzPct val="100000"/>
              <a:buChar char="•"/>
            </a:pPr>
            <a:r>
              <a:rPr lang="en-US" sz="1500" dirty="0">
                <a:solidFill>
                  <a:schemeClr val="tx1"/>
                </a:solidFill>
              </a:rPr>
              <a:t>Add more neighbouring-country instruments to the gap register</a:t>
            </a:r>
            <a:endParaRPr lang="en-US" sz="1500" dirty="0"/>
          </a:p>
          <a:p>
            <a:pPr marL="342900" indent="-342900">
              <a:spcAft>
                <a:spcPts val="1000"/>
              </a:spcAft>
              <a:buSzPct val="100000"/>
              <a:buChar char="•"/>
            </a:pPr>
            <a:r>
              <a:rPr lang="en-US" sz="1500" dirty="0">
                <a:solidFill>
                  <a:schemeClr val="tx1"/>
                </a:solidFill>
              </a:rPr>
              <a:t>Pilot with an operator security team on recorded incidents</a:t>
            </a:r>
            <a:endParaRPr lang="en-US" sz="1500" dirty="0"/>
          </a:p>
          <a:p>
            <a:pPr marL="342900" indent="-342900">
              <a:spcAft>
                <a:spcPts val="1000"/>
              </a:spcAft>
              <a:buSzPct val="100000"/>
              <a:buChar char="•"/>
            </a:pPr>
            <a:r>
              <a:rPr lang="en-US" sz="1500" dirty="0">
                <a:solidFill>
                  <a:schemeClr val="tx1"/>
                </a:solidFill>
              </a:rPr>
              <a:t>Run the pipeline in the ITU AI for Good Sandbox</a:t>
            </a:r>
            <a:endParaRPr lang="en-US" sz="1500" dirty="0"/>
          </a:p>
        </p:txBody>
      </p:sp>
      <p:sp>
        <p:nvSpPr>
          <p:cNvPr id="13" name="Takeaway"/>
          <p:cNvSpPr txBox="1"/>
          <p:nvPr/>
        </p:nvSpPr>
        <p:spPr>
          <a:xfrm>
            <a:off x="548640" y="5806440"/>
            <a:ext cx="11064240" cy="365760"/>
          </a:xfrm>
          <a:prstGeom prst="rect">
            <a:avLst/>
          </a:prstGeom>
          <a:noFill/>
          <a:ln/>
        </p:spPr>
        <p:txBody>
          <a:bodyPr wrap="square" lIns="0" tIns="0" rIns="0" bIns="0" rtlCol="0" anchor="t"/>
          <a:lstStyle/>
          <a:p>
            <a:pPr indent="0" marL="0">
              <a:buNone/>
            </a:pPr>
            <a:r>
              <a:rPr lang="en-US" sz="1600" i="1" dirty="0">
                <a:solidFill>
                  <a:schemeClr val="accent2"/>
                </a:solidFill>
              </a:rPr>
              <a:t>We label what is unverified instead of hiding it; that is the point of a legal adviser.</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731520" y="1874520"/>
            <a:ext cx="7680960" cy="155448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Follows the incident. Quotes the law. Proves every step.</a:t>
            </a:r>
            <a:endParaRPr lang="en-US" sz="4400" dirty="0"/>
          </a:p>
        </p:txBody>
      </p:sp>
      <p:sp>
        <p:nvSpPr>
          <p:cNvPr id="3" name="Text 0"/>
          <p:cNvSpPr/>
          <p:nvPr>
            <p:ph idx="101" type="body" hasCustomPrompt="1"/>
          </p:nvPr>
        </p:nvSpPr>
        <p:spPr>
          <a:xfrm>
            <a:off x="731520" y="3611880"/>
            <a:ext cx="7315200" cy="1188720"/>
          </a:xfrm>
          <a:prstGeom prst="rect">
            <a:avLst/>
          </a:prstGeom>
          <a:noFill/>
          <a:ln/>
        </p:spPr>
        <p:txBody>
          <a:bodyPr wrap="square" lIns="0" tIns="0" rIns="0" bIns="0" rtlCol="0" anchor="t"/>
          <a:lstStyle/>
          <a:p>
            <a:pPr algn="l" indent="0" marL="0">
              <a:buNone/>
            </a:pPr>
            <a:r>
              <a:rPr lang="en-US" sz="2000" dirty="0">
                <a:solidFill>
                  <a:schemeClr val="bg2"/>
                </a:solidFill>
              </a:rPr>
              <a:t>Thank you</a:t>
            </a:r>
            <a:endParaRPr lang="en-US" sz="2000" dirty="0"/>
          </a:p>
        </p:txBody>
      </p:sp>
      <p:sp>
        <p:nvSpPr>
          <p:cNvPr id="4" name="Repo link"/>
          <p:cNvSpPr txBox="1"/>
          <p:nvPr/>
        </p:nvSpPr>
        <p:spPr>
          <a:xfrm>
            <a:off x="731520" y="5120640"/>
            <a:ext cx="7315200" cy="365760"/>
          </a:xfrm>
          <a:prstGeom prst="rect">
            <a:avLst/>
          </a:prstGeom>
          <a:noFill/>
          <a:ln/>
        </p:spPr>
        <p:txBody>
          <a:bodyPr wrap="square" lIns="0" tIns="0" rIns="0" bIns="0" rtlCol="0" anchor="t"/>
          <a:lstStyle/>
          <a:p>
            <a:pPr indent="0" marL="0">
              <a:buNone/>
            </a:pPr>
            <a:r>
              <a:rPr lang="en-US" sz="1400" b="1" dirty="0">
                <a:solidFill>
                  <a:schemeClr val="accent1"/>
                </a:solidFill>
              </a:rPr>
              <a:t>github.com/Charithra207/India_5G_Policy_Legal_Adviser</a:t>
            </a:r>
            <a:endParaRPr lang="en-US" sz="1400" dirty="0"/>
          </a:p>
        </p:txBody>
      </p:sp>
      <p:sp>
        <p:nvSpPr>
          <p:cNvPr id="5" name="Close 5G network circle"/>
          <p:cNvSpPr/>
          <p:nvPr/>
        </p:nvSpPr>
        <p:spPr>
          <a:xfrm>
            <a:off x="9464040" y="1143000"/>
            <a:ext cx="914400" cy="914400"/>
          </a:xfrm>
          <a:prstGeom prst="ellipse">
            <a:avLst/>
          </a:prstGeom>
          <a:solidFill>
            <a:srgbClr val="3A4A63"/>
          </a:solidFill>
          <a:ln w="12700">
            <a:solidFill>
              <a:srgbClr val="3A4A63"/>
            </a:solidFill>
            <a:prstDash val="solid"/>
          </a:ln>
        </p:spPr>
      </p:sp>
      <p:pic>
        <p:nvPicPr>
          <p:cNvPr id="6" name="Close 5G network icon" descr="preencoded.png">    </p:cNvPr>
          <p:cNvPicPr>
            <a:picLocks noChangeAspect="1"/>
          </p:cNvPicPr>
          <p:nvPr/>
        </p:nvPicPr>
        <p:blipFill>
          <a:blip r:embed="rId1"/>
          <a:stretch>
            <a:fillRect/>
          </a:stretch>
        </p:blipFill>
        <p:spPr>
          <a:xfrm>
            <a:off x="9692640" y="1371600"/>
            <a:ext cx="457200" cy="457200"/>
          </a:xfrm>
          <a:prstGeom prst="rect">
            <a:avLst/>
          </a:prstGeom>
        </p:spPr>
      </p:pic>
      <p:sp>
        <p:nvSpPr>
          <p:cNvPr id="7" name="Close 5G network label"/>
          <p:cNvSpPr txBox="1"/>
          <p:nvPr/>
        </p:nvSpPr>
        <p:spPr>
          <a:xfrm>
            <a:off x="10515600" y="1417320"/>
            <a:ext cx="1463040" cy="365760"/>
          </a:xfrm>
          <a:prstGeom prst="rect">
            <a:avLst/>
          </a:prstGeom>
          <a:noFill/>
          <a:ln/>
        </p:spPr>
        <p:txBody>
          <a:bodyPr wrap="square" lIns="0" tIns="0" rIns="0" bIns="0" rtlCol="0" anchor="t"/>
          <a:lstStyle/>
          <a:p>
            <a:pPr indent="0" marL="0">
              <a:buNone/>
            </a:pPr>
            <a:r>
              <a:rPr lang="en-US" sz="1400" dirty="0">
                <a:solidFill>
                  <a:schemeClr val="bg2"/>
                </a:solidFill>
              </a:rPr>
              <a:t>5G network</a:t>
            </a:r>
            <a:endParaRPr lang="en-US" sz="1400" dirty="0"/>
          </a:p>
        </p:txBody>
      </p:sp>
      <p:sp>
        <p:nvSpPr>
          <p:cNvPr id="8" name="Close Indian law circle"/>
          <p:cNvSpPr/>
          <p:nvPr/>
        </p:nvSpPr>
        <p:spPr>
          <a:xfrm>
            <a:off x="9464040" y="2331720"/>
            <a:ext cx="914400" cy="914400"/>
          </a:xfrm>
          <a:prstGeom prst="ellipse">
            <a:avLst/>
          </a:prstGeom>
          <a:solidFill>
            <a:srgbClr val="F29F05"/>
          </a:solidFill>
          <a:ln w="12700">
            <a:solidFill>
              <a:srgbClr val="F29F05"/>
            </a:solidFill>
            <a:prstDash val="solid"/>
          </a:ln>
        </p:spPr>
      </p:sp>
      <p:pic>
        <p:nvPicPr>
          <p:cNvPr id="9" name="Close Indian law icon" descr="preencoded.png">    </p:cNvPr>
          <p:cNvPicPr>
            <a:picLocks noChangeAspect="1"/>
          </p:cNvPicPr>
          <p:nvPr/>
        </p:nvPicPr>
        <p:blipFill>
          <a:blip r:embed="rId2"/>
          <a:stretch>
            <a:fillRect/>
          </a:stretch>
        </p:blipFill>
        <p:spPr>
          <a:xfrm>
            <a:off x="9692640" y="2560320"/>
            <a:ext cx="457200" cy="457200"/>
          </a:xfrm>
          <a:prstGeom prst="rect">
            <a:avLst/>
          </a:prstGeom>
        </p:spPr>
      </p:pic>
      <p:sp>
        <p:nvSpPr>
          <p:cNvPr id="10" name="Close Indian law label"/>
          <p:cNvSpPr txBox="1"/>
          <p:nvPr/>
        </p:nvSpPr>
        <p:spPr>
          <a:xfrm>
            <a:off x="10515600" y="2606040"/>
            <a:ext cx="1463040" cy="365760"/>
          </a:xfrm>
          <a:prstGeom prst="rect">
            <a:avLst/>
          </a:prstGeom>
          <a:noFill/>
          <a:ln/>
        </p:spPr>
        <p:txBody>
          <a:bodyPr wrap="square" lIns="0" tIns="0" rIns="0" bIns="0" rtlCol="0" anchor="t"/>
          <a:lstStyle/>
          <a:p>
            <a:pPr indent="0" marL="0">
              <a:buNone/>
            </a:pPr>
            <a:r>
              <a:rPr lang="en-US" sz="1400" dirty="0">
                <a:solidFill>
                  <a:schemeClr val="bg2"/>
                </a:solidFill>
              </a:rPr>
              <a:t>Indian law</a:t>
            </a:r>
            <a:endParaRPr lang="en-US" sz="1400" dirty="0"/>
          </a:p>
        </p:txBody>
      </p:sp>
      <p:sp>
        <p:nvSpPr>
          <p:cNvPr id="11" name="Close Security circle"/>
          <p:cNvSpPr/>
          <p:nvPr/>
        </p:nvSpPr>
        <p:spPr>
          <a:xfrm>
            <a:off x="9464040" y="3520440"/>
            <a:ext cx="914400" cy="914400"/>
          </a:xfrm>
          <a:prstGeom prst="ellipse">
            <a:avLst/>
          </a:prstGeom>
          <a:solidFill>
            <a:srgbClr val="3A4A63"/>
          </a:solidFill>
          <a:ln w="12700">
            <a:solidFill>
              <a:srgbClr val="3A4A63"/>
            </a:solidFill>
            <a:prstDash val="solid"/>
          </a:ln>
        </p:spPr>
      </p:sp>
      <p:pic>
        <p:nvPicPr>
          <p:cNvPr id="12" name="Close Security icon" descr="preencoded.png">    </p:cNvPr>
          <p:cNvPicPr>
            <a:picLocks noChangeAspect="1"/>
          </p:cNvPicPr>
          <p:nvPr/>
        </p:nvPicPr>
        <p:blipFill>
          <a:blip r:embed="rId3"/>
          <a:stretch>
            <a:fillRect/>
          </a:stretch>
        </p:blipFill>
        <p:spPr>
          <a:xfrm>
            <a:off x="9692640" y="3749040"/>
            <a:ext cx="457200" cy="457200"/>
          </a:xfrm>
          <a:prstGeom prst="rect">
            <a:avLst/>
          </a:prstGeom>
        </p:spPr>
      </p:pic>
      <p:sp>
        <p:nvSpPr>
          <p:cNvPr id="13" name="Close Security label"/>
          <p:cNvSpPr txBox="1"/>
          <p:nvPr/>
        </p:nvSpPr>
        <p:spPr>
          <a:xfrm>
            <a:off x="10515600" y="3794760"/>
            <a:ext cx="1463040" cy="365760"/>
          </a:xfrm>
          <a:prstGeom prst="rect">
            <a:avLst/>
          </a:prstGeom>
          <a:noFill/>
          <a:ln/>
        </p:spPr>
        <p:txBody>
          <a:bodyPr wrap="square" lIns="0" tIns="0" rIns="0" bIns="0" rtlCol="0" anchor="t"/>
          <a:lstStyle/>
          <a:p>
            <a:pPr indent="0" marL="0">
              <a:buNone/>
            </a:pPr>
            <a:r>
              <a:rPr lang="en-US" sz="1400" dirty="0">
                <a:solidFill>
                  <a:schemeClr val="bg2"/>
                </a:solidFill>
              </a:rPr>
              <a:t>Security</a:t>
            </a:r>
            <a:endParaRPr lang="en-US" sz="1400" dirty="0"/>
          </a:p>
        </p:txBody>
      </p:sp>
      <p:sp>
        <p:nvSpPr>
          <p:cNvPr id="14" name="Close Audit circle"/>
          <p:cNvSpPr/>
          <p:nvPr/>
        </p:nvSpPr>
        <p:spPr>
          <a:xfrm>
            <a:off x="9464040" y="4709160"/>
            <a:ext cx="914400" cy="914400"/>
          </a:xfrm>
          <a:prstGeom prst="ellipse">
            <a:avLst/>
          </a:prstGeom>
          <a:solidFill>
            <a:srgbClr val="3A4A63"/>
          </a:solidFill>
          <a:ln w="12700">
            <a:solidFill>
              <a:srgbClr val="3A4A63"/>
            </a:solidFill>
            <a:prstDash val="solid"/>
          </a:ln>
        </p:spPr>
      </p:sp>
      <p:pic>
        <p:nvPicPr>
          <p:cNvPr id="15" name="Close Audit icon" descr="preencoded.png">    </p:cNvPr>
          <p:cNvPicPr>
            <a:picLocks noChangeAspect="1"/>
          </p:cNvPicPr>
          <p:nvPr/>
        </p:nvPicPr>
        <p:blipFill>
          <a:blip r:embed="rId4"/>
          <a:stretch>
            <a:fillRect/>
          </a:stretch>
        </p:blipFill>
        <p:spPr>
          <a:xfrm>
            <a:off x="9692640" y="4937760"/>
            <a:ext cx="457200" cy="457200"/>
          </a:xfrm>
          <a:prstGeom prst="rect">
            <a:avLst/>
          </a:prstGeom>
        </p:spPr>
      </p:pic>
      <p:sp>
        <p:nvSpPr>
          <p:cNvPr id="16" name="Close Audit label"/>
          <p:cNvSpPr txBox="1"/>
          <p:nvPr/>
        </p:nvSpPr>
        <p:spPr>
          <a:xfrm>
            <a:off x="10515600" y="4983480"/>
            <a:ext cx="1463040" cy="365760"/>
          </a:xfrm>
          <a:prstGeom prst="rect">
            <a:avLst/>
          </a:prstGeom>
          <a:noFill/>
          <a:ln/>
        </p:spPr>
        <p:txBody>
          <a:bodyPr wrap="square" lIns="0" tIns="0" rIns="0" bIns="0" rtlCol="0" anchor="t"/>
          <a:lstStyle/>
          <a:p>
            <a:pPr indent="0" marL="0">
              <a:buNone/>
            </a:pPr>
            <a:r>
              <a:rPr lang="en-US" sz="1400" dirty="0">
                <a:solidFill>
                  <a:schemeClr val="bg2"/>
                </a:solidFill>
              </a:rPr>
              <a:t>Audit</a:t>
            </a:r>
            <a:endParaRPr lang="en-US" sz="1400" dirty="0"/>
          </a:p>
        </p:txBody>
      </p:sp>
    </p:spTree>
  </p:cSld>
  <p:clrMapOvr>
    <a:masterClrMapping/>
  </p:clrMapOvr>
</p:sld>
</file>

<file path=ppt/theme/theme1.xml><?xml version="1.0" encoding="utf-8"?>
<a:theme xmlns:a="http://schemas.openxmlformats.org/drawingml/2006/main" name="Ink and Saffron">
  <a:themeElements>
    <a:clrScheme name="Ink and Saffron">
      <a:dk1>
        <a:srgbClr val="14213D"/>
      </a:dk1>
      <a:lt1>
        <a:srgbClr val="FFFFFF"/>
      </a:lt1>
      <a:dk2>
        <a:srgbClr val="3A4A63"/>
      </a:dk2>
      <a:lt2>
        <a:srgbClr val="F2F4F7"/>
      </a:lt2>
      <a:accent1>
        <a:srgbClr val="F29F05"/>
      </a:accent1>
      <a:accent2>
        <a:srgbClr val="0F7B6C"/>
      </a:accent2>
      <a:accent3>
        <a:srgbClr val="C2410C"/>
      </a:accent3>
      <a:accent4>
        <a:srgbClr val="6B7A90"/>
      </a:accent4>
      <a:accent5>
        <a:srgbClr val="2E7D32"/>
      </a:accent5>
      <a:accent6>
        <a:srgbClr val="8A5A00"/>
      </a:accent6>
      <a:hlink>
        <a:srgbClr val="0F7B6C"/>
      </a:hlink>
      <a:folHlink>
        <a:srgbClr val="6B7A90"/>
      </a:folHlink>
    </a:clrScheme>
    <a:fontScheme name="Ink and Saffr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India 5G Policy &amp; Legal Adviser</dc:title>
  <dc:subject>PptxGenJS Presentation</dc:subject>
  <dc:creator>India 5G Policy and Legal Adviser team</dc:creator>
  <cp:lastModifiedBy>India 5G Policy and Legal Adviser team</cp:lastModifiedBy>
  <cp:revision>1</cp:revision>
  <dcterms:created xsi:type="dcterms:W3CDTF">2026-10-10T02:06:22Z</dcterms:created>
  <dcterms:modified xsi:type="dcterms:W3CDTF">2026-10-10T02:06:22Z</dcterms:modified>
</cp:coreProperties>
</file>