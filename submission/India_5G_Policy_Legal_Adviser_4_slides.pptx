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se case and Y.3172" id="{ff121ca4-df35-0a68-85a0-972c33ce39ad}">
          <p14:sldIdLst>
            <p14:sldId id="256"/>
          </p14:sldIdLst>
        </p14:section>
        <p14:section name="Knowledge base" id="{083a9894-28dc-37fa-1b15-7cd51fd8e7cb}">
          <p14:sldIdLst>
            <p14:sldId id="257"/>
          </p14:sldIdLst>
        </p14:section>
        <p14:section name="Evaluation" id="{346d47c4-ebb2-6f1a-3b74-b25c85cd521a}">
          <p14:sldIdLst>
            <p14:sldId id="258"/>
          </p14:sldIdLst>
        </p14:section>
        <p14:section name="Gaps and innovations" id="{8582e803-fc40-159c-ff1d-ba0c6f87c494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 case: a hospital's private 5G slice where an incident arrives in pieces and the law changes with each piece. We implemented ITU-T Y.3172 end to end on a simulated 5G core: an ML Intent, the MLFO, the ML sandbox, and the chain SRC, collector, preprocessor, model, policy, distributor, sinks. Our legal adviser is the P node: before any automated fix, it lists the Indian obligations and, in blocking mode, holds the fix for a person. Example run: the attack was detected within the deadline, the model was re-selected once after a load drift, and 12 draft notices were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official sources in 8 knowledge bases: one per agent and a separate Canonical KB for the Verifier. Each knowledge base maps to the obligations it answers: Cybersecurity to the six-hour reporting duties and log retention, Privacy to DPDP breach intimation, Critical Infrastructure to the CTI Rules. On ITU AI Readiness, the strongest mappings are regional contextualization, cross-domain integration, human supervision and policy opportunity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2, step by step. T0: only Technical; the agent's guess about the UPF is UNSUPPORTED because no document says it. T1: Cybersecurity and Standards join; six-hour duties quoted. T2: three agents join; exposure stays suspected; parallel reporting found from the text. T3: Policy Gap joins; the notifications-due table, three potential gaps, and a summary and conclusion. We also evaluate scenario 1, a labelled conflict test, 13 attacks in the lab and three Y.3172 intents.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 gaps: slicing is defined in 3GPP and named by ENISA but absent from Indian legal text; AI-driven remediation is framed internationally but has no binding Indian oversight rule. Policy gaps: four reporting clocks with no single window; log retention 180 days versus one year; unclear lead between CTI and NCIIPC. Innovations: the adviser as the Y.3172 P node, quote-only agents with a separate Verifier, per-agent information with staged reassessment, and a hash-chained, replayable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India 5G Policy &amp; Legal Adviser  ·  ITU AI for Good Build-a-thon 5.0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an adviser that follows a 5G incident, mapped to Y.3172</a:t>
            </a:r>
            <a:endParaRPr lang="en-US" sz="2800" dirty="0"/>
          </a:p>
        </p:txBody>
      </p:sp>
      <p:sp>
        <p:nvSpPr>
          <p:cNvPr id="3" name="Use case card"/>
          <p:cNvSpPr/>
          <p:nvPr/>
        </p:nvSpPr>
        <p:spPr>
          <a:xfrm>
            <a:off x="457200" y="1188720"/>
            <a:ext cx="3291840" cy="502920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Use case circle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pic>
        <p:nvPicPr>
          <p:cNvPr id="5" name="Use ca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6" name="Use case heading"/>
          <p:cNvSpPr txBox="1"/>
          <p:nvPr/>
        </p:nvSpPr>
        <p:spPr>
          <a:xfrm>
            <a:off x="1417320" y="1371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use case</a:t>
            </a:r>
            <a:endParaRPr lang="en-US" sz="1800" dirty="0"/>
          </a:p>
        </p:txBody>
      </p:sp>
      <p:sp>
        <p:nvSpPr>
          <p:cNvPr id="7" name="Use case text"/>
          <p:cNvSpPr txBox="1"/>
          <p:nvPr/>
        </p:nvSpPr>
        <p:spPr>
          <a:xfrm>
            <a:off x="685800" y="214884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A hospital's private 5G slice: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latency (T0) → suspicious logins (T1) → ICU patient data (T2) → “what must we report, to whom, by when?” (T3)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For: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operator security and network teams, legal and compliance, regulator liaison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Gives: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Indian obligations with deadlines, each quoted and verified; cross-domain links; potential policy gaps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Guardrail: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decision support only; a person approves every fix and notice</a:t>
            </a:r>
            <a:endParaRPr lang="en-US" sz="1300" dirty="0"/>
          </a:p>
        </p:txBody>
      </p:sp>
      <p:sp>
        <p:nvSpPr>
          <p:cNvPr id="8" name="Example run"/>
          <p:cNvSpPr txBox="1"/>
          <p:nvPr/>
        </p:nvSpPr>
        <p:spPr>
          <a:xfrm>
            <a:off x="685800" y="5349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Example run: attack detected within the deadline · model re-selected once on load drift · 12 draft notices</a:t>
            </a:r>
            <a:endParaRPr lang="en-US" sz="1200" dirty="0"/>
          </a:p>
        </p:txBody>
      </p:sp>
      <p:sp>
        <p:nvSpPr>
          <p:cNvPr id="9" name="ML Intent (YAML) box"/>
          <p:cNvSpPr/>
          <p:nvPr/>
        </p:nvSpPr>
        <p:spPr>
          <a:xfrm>
            <a:off x="4069080" y="1188720"/>
            <a:ext cx="22860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ML Intent (YAML) name"/>
          <p:cNvSpPr txBox="1"/>
          <p:nvPr/>
        </p:nvSpPr>
        <p:spPr>
          <a:xfrm>
            <a:off x="420624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ML Intent (YAML)</a:t>
            </a:r>
            <a:endParaRPr lang="en-US" sz="1300" dirty="0"/>
          </a:p>
        </p:txBody>
      </p:sp>
      <p:sp>
        <p:nvSpPr>
          <p:cNvPr id="11" name="ML Intent (YAML) text"/>
          <p:cNvSpPr txBox="1"/>
          <p:nvPr/>
        </p:nvSpPr>
        <p:spPr>
          <a:xfrm>
            <a:off x="4206240" y="15727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Detect AMF signalling storms: macro-F1 ≥ 0.85, p95 ≤ 80 ms, deadline</a:t>
            </a:r>
            <a:endParaRPr lang="en-US" sz="1100" dirty="0"/>
          </a:p>
        </p:txBody>
      </p:sp>
      <p:sp>
        <p:nvSpPr>
          <p:cNvPr id="12" name="MLFO box"/>
          <p:cNvSpPr/>
          <p:nvPr/>
        </p:nvSpPr>
        <p:spPr>
          <a:xfrm>
            <a:off x="6675120" y="1188720"/>
            <a:ext cx="22860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3" name="MLFO name"/>
          <p:cNvSpPr txBox="1"/>
          <p:nvPr/>
        </p:nvSpPr>
        <p:spPr>
          <a:xfrm>
            <a:off x="681228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MLFO</a:t>
            </a:r>
            <a:endParaRPr lang="en-US" sz="1300" dirty="0"/>
          </a:p>
        </p:txBody>
      </p:sp>
      <p:sp>
        <p:nvSpPr>
          <p:cNvPr id="14" name="MLFO text"/>
          <p:cNvSpPr txBox="1"/>
          <p:nvPr/>
        </p:nvSpPr>
        <p:spPr>
          <a:xfrm>
            <a:off x="6812280" y="15727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Instantiates, deploys, monitors, re-selects</a:t>
            </a:r>
            <a:endParaRPr lang="en-US" sz="1100" dirty="0"/>
          </a:p>
        </p:txBody>
      </p:sp>
      <p:sp>
        <p:nvSpPr>
          <p:cNvPr id="15" name="ML sandbox box"/>
          <p:cNvSpPr/>
          <p:nvPr/>
        </p:nvSpPr>
        <p:spPr>
          <a:xfrm>
            <a:off x="9281160" y="1188720"/>
            <a:ext cx="22860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ML sandbox name"/>
          <p:cNvSpPr txBox="1"/>
          <p:nvPr/>
        </p:nvSpPr>
        <p:spPr>
          <a:xfrm>
            <a:off x="941832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ML sandbox</a:t>
            </a:r>
            <a:endParaRPr lang="en-US" sz="1300" dirty="0"/>
          </a:p>
        </p:txBody>
      </p:sp>
      <p:sp>
        <p:nvSpPr>
          <p:cNvPr id="17" name="ML sandbox text"/>
          <p:cNvSpPr txBox="1"/>
          <p:nvPr/>
        </p:nvSpPr>
        <p:spPr>
          <a:xfrm>
            <a:off x="9418320" y="15727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Trains and compares models; tests playbooks before live use</a:t>
            </a:r>
            <a:endParaRPr lang="en-US" sz="1100" dirty="0"/>
          </a:p>
        </p:txBody>
      </p:sp>
      <p:sp>
        <p:nvSpPr>
          <p:cNvPr id="18" name="Intent to MLFO"/>
          <p:cNvSpPr/>
          <p:nvPr/>
        </p:nvSpPr>
        <p:spPr>
          <a:xfrm>
            <a:off x="6373368" y="1627632"/>
            <a:ext cx="274320" cy="20116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MLFO and sandbox"/>
          <p:cNvSpPr/>
          <p:nvPr/>
        </p:nvSpPr>
        <p:spPr>
          <a:xfrm>
            <a:off x="8979408" y="1627632"/>
            <a:ext cx="274320" cy="201168"/>
          </a:xfrm>
          <a:prstGeom prst="left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MLFO to chain"/>
          <p:cNvSpPr/>
          <p:nvPr/>
        </p:nvSpPr>
        <p:spPr>
          <a:xfrm>
            <a:off x="6903720" y="2331720"/>
            <a:ext cx="228600" cy="32004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Node SRC"/>
          <p:cNvSpPr/>
          <p:nvPr/>
        </p:nvSpPr>
        <p:spPr>
          <a:xfrm>
            <a:off x="4069080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Node SRC label"/>
          <p:cNvSpPr txBox="1"/>
          <p:nvPr/>
        </p:nvSpPr>
        <p:spPr>
          <a:xfrm>
            <a:off x="4069080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SRC</a:t>
            </a:r>
            <a:endParaRPr lang="en-US" sz="1800" dirty="0"/>
          </a:p>
        </p:txBody>
      </p:sp>
      <p:sp>
        <p:nvSpPr>
          <p:cNvPr id="23" name="Node SRC mapping"/>
          <p:cNvSpPr txBox="1"/>
          <p:nvPr/>
        </p:nvSpPr>
        <p:spPr>
          <a:xfrm>
            <a:off x="4014216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AMF, gNB, UPF, OAM telemetry</a:t>
            </a:r>
            <a:endParaRPr lang="en-US" sz="1100" dirty="0"/>
          </a:p>
        </p:txBody>
      </p:sp>
      <p:sp>
        <p:nvSpPr>
          <p:cNvPr id="24" name="Chain arrow 1"/>
          <p:cNvSpPr/>
          <p:nvPr/>
        </p:nvSpPr>
        <p:spPr>
          <a:xfrm>
            <a:off x="4983480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Node C"/>
          <p:cNvSpPr/>
          <p:nvPr/>
        </p:nvSpPr>
        <p:spPr>
          <a:xfrm>
            <a:off x="5148072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Node C label"/>
          <p:cNvSpPr txBox="1"/>
          <p:nvPr/>
        </p:nvSpPr>
        <p:spPr>
          <a:xfrm>
            <a:off x="5148072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7" name="Node C mapping"/>
          <p:cNvSpPr txBox="1"/>
          <p:nvPr/>
        </p:nvSpPr>
        <p:spPr>
          <a:xfrm>
            <a:off x="5093208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Collector: metrics, logs, alerts</a:t>
            </a:r>
            <a:endParaRPr lang="en-US" sz="1100" dirty="0"/>
          </a:p>
        </p:txBody>
      </p:sp>
      <p:sp>
        <p:nvSpPr>
          <p:cNvPr id="28" name="Chain arrow 2"/>
          <p:cNvSpPr/>
          <p:nvPr/>
        </p:nvSpPr>
        <p:spPr>
          <a:xfrm>
            <a:off x="6062472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Node PP"/>
          <p:cNvSpPr/>
          <p:nvPr/>
        </p:nvSpPr>
        <p:spPr>
          <a:xfrm>
            <a:off x="6227064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Node PP label"/>
          <p:cNvSpPr txBox="1"/>
          <p:nvPr/>
        </p:nvSpPr>
        <p:spPr>
          <a:xfrm>
            <a:off x="6227064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PP</a:t>
            </a:r>
            <a:endParaRPr lang="en-US" sz="1800" dirty="0"/>
          </a:p>
        </p:txBody>
      </p:sp>
      <p:sp>
        <p:nvSpPr>
          <p:cNvPr id="31" name="Node PP mapping"/>
          <p:cNvSpPr txBox="1"/>
          <p:nvPr/>
        </p:nvSpPr>
        <p:spPr>
          <a:xfrm>
            <a:off x="6172200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52 features per tick</a:t>
            </a:r>
            <a:endParaRPr lang="en-US" sz="1100" dirty="0"/>
          </a:p>
        </p:txBody>
      </p:sp>
      <p:sp>
        <p:nvSpPr>
          <p:cNvPr id="32" name="Chain arrow 3"/>
          <p:cNvSpPr/>
          <p:nvPr/>
        </p:nvSpPr>
        <p:spPr>
          <a:xfrm>
            <a:off x="7141464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Node M"/>
          <p:cNvSpPr/>
          <p:nvPr/>
        </p:nvSpPr>
        <p:spPr>
          <a:xfrm>
            <a:off x="7306056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Node M label"/>
          <p:cNvSpPr txBox="1"/>
          <p:nvPr/>
        </p:nvSpPr>
        <p:spPr>
          <a:xfrm>
            <a:off x="7306056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</a:t>
            </a:r>
            <a:endParaRPr lang="en-US" sz="1800" dirty="0"/>
          </a:p>
        </p:txBody>
      </p:sp>
      <p:sp>
        <p:nvSpPr>
          <p:cNvPr id="35" name="Node M mapping"/>
          <p:cNvSpPr txBox="1"/>
          <p:nvPr/>
        </p:nvSpPr>
        <p:spPr>
          <a:xfrm>
            <a:off x="7251192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Isolation Forest + Random Forest</a:t>
            </a:r>
            <a:endParaRPr lang="en-US" sz="1100" dirty="0"/>
          </a:p>
        </p:txBody>
      </p:sp>
      <p:sp>
        <p:nvSpPr>
          <p:cNvPr id="36" name="Chain arrow 4"/>
          <p:cNvSpPr/>
          <p:nvPr/>
        </p:nvSpPr>
        <p:spPr>
          <a:xfrm>
            <a:off x="8220456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Node P"/>
          <p:cNvSpPr/>
          <p:nvPr/>
        </p:nvSpPr>
        <p:spPr>
          <a:xfrm>
            <a:off x="8385048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Node P label"/>
          <p:cNvSpPr txBox="1"/>
          <p:nvPr/>
        </p:nvSpPr>
        <p:spPr>
          <a:xfrm>
            <a:off x="8385048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</a:t>
            </a:r>
            <a:endParaRPr lang="en-US" sz="1800" dirty="0"/>
          </a:p>
        </p:txBody>
      </p:sp>
      <p:sp>
        <p:nvSpPr>
          <p:cNvPr id="39" name="Node P mapping"/>
          <p:cNvSpPr txBox="1"/>
          <p:nvPr/>
        </p:nvSpPr>
        <p:spPr>
          <a:xfrm>
            <a:off x="8330184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Policy &amp; Legal Adviser</a:t>
            </a:r>
            <a:endParaRPr lang="en-US" sz="1100" dirty="0"/>
          </a:p>
        </p:txBody>
      </p:sp>
      <p:sp>
        <p:nvSpPr>
          <p:cNvPr id="40" name="Chain arrow 5"/>
          <p:cNvSpPr/>
          <p:nvPr/>
        </p:nvSpPr>
        <p:spPr>
          <a:xfrm>
            <a:off x="9299448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Node D"/>
          <p:cNvSpPr/>
          <p:nvPr/>
        </p:nvSpPr>
        <p:spPr>
          <a:xfrm>
            <a:off x="9464040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Node D label"/>
          <p:cNvSpPr txBox="1"/>
          <p:nvPr/>
        </p:nvSpPr>
        <p:spPr>
          <a:xfrm>
            <a:off x="9464040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43" name="Node D mapping"/>
          <p:cNvSpPr txBox="1"/>
          <p:nvPr/>
        </p:nvSpPr>
        <p:spPr>
          <a:xfrm>
            <a:off x="9409176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Routes each decision</a:t>
            </a:r>
            <a:endParaRPr lang="en-US" sz="1100" dirty="0"/>
          </a:p>
        </p:txBody>
      </p:sp>
      <p:sp>
        <p:nvSpPr>
          <p:cNvPr id="44" name="Chain arrow 6"/>
          <p:cNvSpPr/>
          <p:nvPr/>
        </p:nvSpPr>
        <p:spPr>
          <a:xfrm>
            <a:off x="10378440" y="3008376"/>
            <a:ext cx="146304" cy="155448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Node SINK"/>
          <p:cNvSpPr/>
          <p:nvPr/>
        </p:nvSpPr>
        <p:spPr>
          <a:xfrm>
            <a:off x="10543032" y="2743200"/>
            <a:ext cx="896112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Node SINK label"/>
          <p:cNvSpPr txBox="1"/>
          <p:nvPr/>
        </p:nvSpPr>
        <p:spPr>
          <a:xfrm>
            <a:off x="10543032" y="2743200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SINK</a:t>
            </a:r>
            <a:endParaRPr lang="en-US" sz="1800" dirty="0"/>
          </a:p>
        </p:txBody>
      </p:sp>
      <p:sp>
        <p:nvSpPr>
          <p:cNvPr id="47" name="Node SINK mapping"/>
          <p:cNvSpPr txBox="1"/>
          <p:nvPr/>
        </p:nvSpPr>
        <p:spPr>
          <a:xfrm>
            <a:off x="10488168" y="3520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Evidence, fixes, notices, escalation</a:t>
            </a:r>
            <a:endParaRPr lang="en-US" sz="1100" dirty="0"/>
          </a:p>
        </p:txBody>
      </p:sp>
      <p:sp>
        <p:nvSpPr>
          <p:cNvPr id="48" name="P node card"/>
          <p:cNvSpPr/>
          <p:nvPr/>
        </p:nvSpPr>
        <p:spPr>
          <a:xfrm>
            <a:off x="4069080" y="4526280"/>
            <a:ext cx="466344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9050">
            <a:solidFill>
              <a:srgbClr val="F29F05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9" name="P card title"/>
          <p:cNvSpPr txBox="1"/>
          <p:nvPr/>
        </p:nvSpPr>
        <p:spPr>
          <a:xfrm>
            <a:off x="4251960" y="4617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 node = our legal adviser</a:t>
            </a:r>
            <a:endParaRPr lang="en-US" sz="1400" dirty="0"/>
          </a:p>
        </p:txBody>
      </p:sp>
      <p:sp>
        <p:nvSpPr>
          <p:cNvPr id="50" name="P card list"/>
          <p:cNvSpPr txBox="1"/>
          <p:nvPr/>
        </p:nvSpPr>
        <p:spPr>
          <a:xfrm>
            <a:off x="4251960" y="495604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7 specialist agents quote Indian law from their own knowledge bases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separate Verifier rates every claim against a Canonical KB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Blocking mode: no fix runs until a person approves, having seen the obligations</a:t>
            </a:r>
            <a:endParaRPr lang="en-US" sz="1200" dirty="0"/>
          </a:p>
        </p:txBody>
      </p:sp>
      <p:sp>
        <p:nvSpPr>
          <p:cNvPr id="51" name="SINK card"/>
          <p:cNvSpPr/>
          <p:nvPr/>
        </p:nvSpPr>
        <p:spPr>
          <a:xfrm>
            <a:off x="8915400" y="4526280"/>
            <a:ext cx="27889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52" name="SINK title"/>
          <p:cNvSpPr txBox="1"/>
          <p:nvPr/>
        </p:nvSpPr>
        <p:spPr>
          <a:xfrm>
            <a:off x="909828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SINKs</a:t>
            </a:r>
            <a:endParaRPr lang="en-US" sz="1400" dirty="0"/>
          </a:p>
        </p:txBody>
      </p:sp>
      <p:sp>
        <p:nvSpPr>
          <p:cNvPr id="53" name="SINK list"/>
          <p:cNvSpPr txBox="1"/>
          <p:nvPr/>
        </p:nvSpPr>
        <p:spPr>
          <a:xfrm>
            <a:off x="9098280" y="495604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Evidence hashed before any change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Tiered fixes with human gates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Draft notices: CERT-In 6 h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Escalation if unresolved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base, mapped to Indian policy and to ITU AI Readiness</a:t>
            </a:r>
            <a:endParaRPr lang="en-US" sz="2800" dirty="0"/>
          </a:p>
        </p:txBody>
      </p:sp>
      <p:sp>
        <p:nvSpPr>
          <p:cNvPr id="3" name="KB stat 1"/>
          <p:cNvSpPr/>
          <p:nvPr/>
        </p:nvSpPr>
        <p:spPr>
          <a:xfrm>
            <a:off x="457200" y="114300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KB stat 1 number"/>
          <p:cNvSpPr txBox="1"/>
          <p:nvPr/>
        </p:nvSpPr>
        <p:spPr>
          <a:xfrm>
            <a:off x="594360" y="11887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5" name="KB stat 1 label"/>
          <p:cNvSpPr txBox="1"/>
          <p:nvPr/>
        </p:nvSpPr>
        <p:spPr>
          <a:xfrm>
            <a:off x="164592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official sources</a:t>
            </a:r>
            <a:endParaRPr lang="en-US" sz="1100" dirty="0"/>
          </a:p>
        </p:txBody>
      </p:sp>
      <p:sp>
        <p:nvSpPr>
          <p:cNvPr id="6" name="KB stat 2"/>
          <p:cNvSpPr/>
          <p:nvPr/>
        </p:nvSpPr>
        <p:spPr>
          <a:xfrm>
            <a:off x="3291840" y="114300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KB stat 2 number"/>
          <p:cNvSpPr txBox="1"/>
          <p:nvPr/>
        </p:nvSpPr>
        <p:spPr>
          <a:xfrm>
            <a:off x="3429000" y="11887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8" name="KB stat 2 label"/>
          <p:cNvSpPr txBox="1"/>
          <p:nvPr/>
        </p:nvSpPr>
        <p:spPr>
          <a:xfrm>
            <a:off x="448056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knowledge bases: 7 agents + Canonical KB</a:t>
            </a:r>
            <a:endParaRPr lang="en-US" sz="1100" dirty="0"/>
          </a:p>
        </p:txBody>
      </p:sp>
      <p:sp>
        <p:nvSpPr>
          <p:cNvPr id="9" name="KB stat 3"/>
          <p:cNvSpPr/>
          <p:nvPr/>
        </p:nvSpPr>
        <p:spPr>
          <a:xfrm>
            <a:off x="6126480" y="114300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KB stat 3 number"/>
          <p:cNvSpPr txBox="1"/>
          <p:nvPr/>
        </p:nvSpPr>
        <p:spPr>
          <a:xfrm>
            <a:off x="6263640" y="11887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600" dirty="0"/>
          </a:p>
        </p:txBody>
      </p:sp>
      <p:sp>
        <p:nvSpPr>
          <p:cNvPr id="11" name="KB stat 3 label"/>
          <p:cNvSpPr txBox="1"/>
          <p:nvPr/>
        </p:nvSpPr>
        <p:spPr>
          <a:xfrm>
            <a:off x="731520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documents in the obligation-check index</a:t>
            </a:r>
            <a:endParaRPr lang="en-US" sz="1100" dirty="0"/>
          </a:p>
        </p:txBody>
      </p:sp>
      <p:sp>
        <p:nvSpPr>
          <p:cNvPr id="12" name="KB stat 4"/>
          <p:cNvSpPr/>
          <p:nvPr/>
        </p:nvSpPr>
        <p:spPr>
          <a:xfrm>
            <a:off x="8961120" y="114300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3" name="KB stat 4 number"/>
          <p:cNvSpPr txBox="1"/>
          <p:nvPr/>
        </p:nvSpPr>
        <p:spPr>
          <a:xfrm>
            <a:off x="9098280" y="11887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2600" dirty="0"/>
          </a:p>
        </p:txBody>
      </p:sp>
      <p:sp>
        <p:nvSpPr>
          <p:cNvPr id="14" name="KB stat 4 label"/>
          <p:cNvSpPr txBox="1"/>
          <p:nvPr/>
        </p:nvSpPr>
        <p:spPr>
          <a:xfrm>
            <a:off x="1014984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test queries: right section in top 5</a:t>
            </a:r>
            <a:endParaRPr lang="en-US" sz="1100" dirty="0"/>
          </a:p>
        </p:txBody>
      </p:sp>
      <p:graphicFrame>
        <p:nvGraphicFramePr>
          <p:cNvPr id="3" name="KB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42316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Knowledge 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Key sources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Policy mapping: what it answers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Cybersecurity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Telecom Cyber Security Rules 2024 r.7; CERT-In Directions 2022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Report a security incident within 6 h to the Central Government and to CERT-In; keep logs 180 days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Privacy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DPDP Act 2023; DPDP Rules 2025 r.6–7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Breach intimation to the Data Protection Board and affected persons; safeguards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Critical Infrastructure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Telecommunications Act 2023 s.22; CTI Rules 2024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Notified critical telecom infrastructure: 6 h intimation, inspection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Policy &amp; Legal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Telecommunications Act 2023; TRAI Act 1997; NDCP 2018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Authorisation, regulator powers, responsible institutions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Standards / Technical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3GPP TS 23.501, 33.501; NIST CSF 2.0, SP 800-61; ITU-T Y.3172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Technical reference, labelled “not Indian law”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Policy Gap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NCSP 2013; NDCP 2018; TRAI AI recommendations; ENISA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Potential gaps, with global and regional comparators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Canonical KB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All of the above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The Verifier's separate source of truth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Readine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103120"/>
          <a:ext cx="4069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23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ITU AI Readiness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How the project meets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Contextualization and regional development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India-specific law and institutions; EU and South Asian comparators labelled by region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AI integration in domains, cross-domain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 domain agents; links proven from cited text (e.g. TCS Rules made under Act s.22)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Human interaction and supervision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Decision support only; P-node holds, tier gates, review notice on every screen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Policy opportunity identification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Policy Gap agent and a 5-theme gap register, anchors checked word for word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Open data and open source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Official public texts with URLs; open-source code; free, local stack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KB note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Every passage keeps document, section, page, URL and provenance; a source is refused at build if its text lacks its own title.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scenarios, step by step</a:t>
            </a:r>
            <a:endParaRPr lang="en-US" sz="2800" dirty="0"/>
          </a:p>
        </p:txBody>
      </p:sp>
      <p:sp>
        <p:nvSpPr>
          <p:cNvPr id="3" name="Scenario heading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Scenario 2 — healthcare private 5G slice: the incident is released one stage at a time</a:t>
            </a:r>
            <a:endParaRPr lang="en-US" sz="1500" dirty="0"/>
          </a:p>
        </p:txBody>
      </p:sp>
      <p:sp>
        <p:nvSpPr>
          <p:cNvPr id="4" name="Step T0 chevron"/>
          <p:cNvSpPr/>
          <p:nvPr/>
        </p:nvSpPr>
        <p:spPr>
          <a:xfrm>
            <a:off x="457200" y="1508760"/>
            <a:ext cx="2697480" cy="54864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ep T0 label"/>
          <p:cNvSpPr txBox="1"/>
          <p:nvPr/>
        </p:nvSpPr>
        <p:spPr>
          <a:xfrm>
            <a:off x="777240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T0  Latency and session drops</a:t>
            </a:r>
            <a:endParaRPr lang="en-US" sz="1200" dirty="0"/>
          </a:p>
        </p:txBody>
      </p:sp>
      <p:sp>
        <p:nvSpPr>
          <p:cNvPr id="6" name="Step T0 card"/>
          <p:cNvSpPr/>
          <p:nvPr/>
        </p:nvSpPr>
        <p:spPr>
          <a:xfrm>
            <a:off x="502920" y="2194560"/>
            <a:ext cx="26060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7" name="Step T0 agents label"/>
          <p:cNvSpPr txBox="1"/>
          <p:nvPr/>
        </p:nvSpPr>
        <p:spPr>
          <a:xfrm>
            <a:off x="64008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Agents</a:t>
            </a:r>
            <a:endParaRPr lang="en-US" sz="1100" dirty="0"/>
          </a:p>
        </p:txBody>
      </p:sp>
      <p:sp>
        <p:nvSpPr>
          <p:cNvPr id="8" name="Step T0 agents"/>
          <p:cNvSpPr txBox="1"/>
          <p:nvPr/>
        </p:nvSpPr>
        <p:spPr>
          <a:xfrm>
            <a:off x="640080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Technical</a:t>
            </a:r>
            <a:endParaRPr lang="en-US" sz="1200" dirty="0"/>
          </a:p>
        </p:txBody>
      </p:sp>
      <p:sp>
        <p:nvSpPr>
          <p:cNvPr id="9" name="Step T0 result label"/>
          <p:cNvSpPr txBox="1"/>
          <p:nvPr/>
        </p:nvSpPr>
        <p:spPr>
          <a:xfrm>
            <a:off x="6400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Step T0 result"/>
          <p:cNvSpPr txBox="1"/>
          <p:nvPr/>
        </p:nvSpPr>
        <p:spPr>
          <a:xfrm>
            <a:off x="640080" y="32735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3GPP TS 23.501 quoted as reference; guess “UPF involved” rated UNSUPPORTED</a:t>
            </a:r>
            <a:endParaRPr lang="en-US" sz="1200" dirty="0"/>
          </a:p>
        </p:txBody>
      </p:sp>
      <p:sp>
        <p:nvSpPr>
          <p:cNvPr id="11" name="Step T1 chevron"/>
          <p:cNvSpPr/>
          <p:nvPr/>
        </p:nvSpPr>
        <p:spPr>
          <a:xfrm>
            <a:off x="3310128" y="1508760"/>
            <a:ext cx="2697480" cy="54864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tep T1 label"/>
          <p:cNvSpPr txBox="1"/>
          <p:nvPr/>
        </p:nvSpPr>
        <p:spPr>
          <a:xfrm>
            <a:off x="3630168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T1  Suspicious authentication</a:t>
            </a:r>
            <a:endParaRPr lang="en-US" sz="1200" dirty="0"/>
          </a:p>
        </p:txBody>
      </p:sp>
      <p:sp>
        <p:nvSpPr>
          <p:cNvPr id="13" name="Step T1 card"/>
          <p:cNvSpPr/>
          <p:nvPr/>
        </p:nvSpPr>
        <p:spPr>
          <a:xfrm>
            <a:off x="3355848" y="2194560"/>
            <a:ext cx="26060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Step T1 agents label"/>
          <p:cNvSpPr txBox="1"/>
          <p:nvPr/>
        </p:nvSpPr>
        <p:spPr>
          <a:xfrm>
            <a:off x="3493008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Agents</a:t>
            </a:r>
            <a:endParaRPr lang="en-US" sz="1100" dirty="0"/>
          </a:p>
        </p:txBody>
      </p:sp>
      <p:sp>
        <p:nvSpPr>
          <p:cNvPr id="15" name="Step T1 agents"/>
          <p:cNvSpPr txBox="1"/>
          <p:nvPr/>
        </p:nvSpPr>
        <p:spPr>
          <a:xfrm>
            <a:off x="3493008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Cybersecurity, Standards</a:t>
            </a:r>
            <a:endParaRPr lang="en-US" sz="1200" dirty="0"/>
          </a:p>
        </p:txBody>
      </p:sp>
      <p:sp>
        <p:nvSpPr>
          <p:cNvPr id="16" name="Step T1 result label"/>
          <p:cNvSpPr txBox="1"/>
          <p:nvPr/>
        </p:nvSpPr>
        <p:spPr>
          <a:xfrm>
            <a:off x="3493008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7" name="Step T1 result"/>
          <p:cNvSpPr txBox="1"/>
          <p:nvPr/>
        </p:nvSpPr>
        <p:spPr>
          <a:xfrm>
            <a:off x="3493008" y="32735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Reassessed as a possible cyber event; TCS Rules r.7 and CERT-In (ii): 6 h</a:t>
            </a:r>
            <a:endParaRPr lang="en-US" sz="1200" dirty="0"/>
          </a:p>
        </p:txBody>
      </p:sp>
      <p:sp>
        <p:nvSpPr>
          <p:cNvPr id="18" name="Step T2 chevron"/>
          <p:cNvSpPr/>
          <p:nvPr/>
        </p:nvSpPr>
        <p:spPr>
          <a:xfrm>
            <a:off x="6163056" y="1508760"/>
            <a:ext cx="2697480" cy="548640"/>
          </a:xfrm>
          <a:prstGeom prst="chevron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tep T2 label"/>
          <p:cNvSpPr txBox="1"/>
          <p:nvPr/>
        </p:nvSpPr>
        <p:spPr>
          <a:xfrm>
            <a:off x="6483096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T2  ICU patient telemetry</a:t>
            </a:r>
            <a:endParaRPr lang="en-US" sz="1200" dirty="0"/>
          </a:p>
        </p:txBody>
      </p:sp>
      <p:sp>
        <p:nvSpPr>
          <p:cNvPr id="20" name="Step T2 card"/>
          <p:cNvSpPr/>
          <p:nvPr/>
        </p:nvSpPr>
        <p:spPr>
          <a:xfrm>
            <a:off x="6208776" y="2194560"/>
            <a:ext cx="26060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21" name="Step T2 agents label"/>
          <p:cNvSpPr txBox="1"/>
          <p:nvPr/>
        </p:nvSpPr>
        <p:spPr>
          <a:xfrm>
            <a:off x="6345936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Agents</a:t>
            </a:r>
            <a:endParaRPr lang="en-US" sz="1100" dirty="0"/>
          </a:p>
        </p:txBody>
      </p:sp>
      <p:sp>
        <p:nvSpPr>
          <p:cNvPr id="22" name="Step T2 agents"/>
          <p:cNvSpPr txBox="1"/>
          <p:nvPr/>
        </p:nvSpPr>
        <p:spPr>
          <a:xfrm>
            <a:off x="6345936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Critical Infra, Privacy, Policy &amp; Legal</a:t>
            </a:r>
            <a:endParaRPr lang="en-US" sz="1200" dirty="0"/>
          </a:p>
        </p:txBody>
      </p:sp>
      <p:sp>
        <p:nvSpPr>
          <p:cNvPr id="23" name="Step T2 result label"/>
          <p:cNvSpPr txBox="1"/>
          <p:nvPr/>
        </p:nvSpPr>
        <p:spPr>
          <a:xfrm>
            <a:off x="6345936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24" name="Step T2 result"/>
          <p:cNvSpPr txBox="1"/>
          <p:nvPr/>
        </p:nvSpPr>
        <p:spPr>
          <a:xfrm>
            <a:off x="6345936" y="32735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exposure “suspected”; DPDP r.7; parallel-reporting links found</a:t>
            </a:r>
            <a:endParaRPr lang="en-US" sz="1200" dirty="0"/>
          </a:p>
        </p:txBody>
      </p:sp>
      <p:sp>
        <p:nvSpPr>
          <p:cNvPr id="25" name="Step T3 chevron"/>
          <p:cNvSpPr/>
          <p:nvPr/>
        </p:nvSpPr>
        <p:spPr>
          <a:xfrm>
            <a:off x="9015984" y="1508760"/>
            <a:ext cx="2697480" cy="5486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tep T3 label"/>
          <p:cNvSpPr txBox="1"/>
          <p:nvPr/>
        </p:nvSpPr>
        <p:spPr>
          <a:xfrm>
            <a:off x="9336024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T3  What to report, to whom, by when?</a:t>
            </a:r>
            <a:endParaRPr lang="en-US" sz="1200" dirty="0"/>
          </a:p>
        </p:txBody>
      </p:sp>
      <p:sp>
        <p:nvSpPr>
          <p:cNvPr id="27" name="Step T3 card"/>
          <p:cNvSpPr/>
          <p:nvPr/>
        </p:nvSpPr>
        <p:spPr>
          <a:xfrm>
            <a:off x="9061704" y="2194560"/>
            <a:ext cx="26060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28" name="Step T3 agents label"/>
          <p:cNvSpPr txBox="1"/>
          <p:nvPr/>
        </p:nvSpPr>
        <p:spPr>
          <a:xfrm>
            <a:off x="9198864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Agents</a:t>
            </a:r>
            <a:endParaRPr lang="en-US" sz="1100" dirty="0"/>
          </a:p>
        </p:txBody>
      </p:sp>
      <p:sp>
        <p:nvSpPr>
          <p:cNvPr id="29" name="Step T3 agents"/>
          <p:cNvSpPr txBox="1"/>
          <p:nvPr/>
        </p:nvSpPr>
        <p:spPr>
          <a:xfrm>
            <a:off x="9198864" y="25420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Policy Gap</a:t>
            </a:r>
            <a:endParaRPr lang="en-US" sz="1200" dirty="0"/>
          </a:p>
        </p:txBody>
      </p:sp>
      <p:sp>
        <p:nvSpPr>
          <p:cNvPr id="30" name="Step T3 result label"/>
          <p:cNvSpPr txBox="1"/>
          <p:nvPr/>
        </p:nvSpPr>
        <p:spPr>
          <a:xfrm>
            <a:off x="9198864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31" name="Step T3 result"/>
          <p:cNvSpPr txBox="1"/>
          <p:nvPr/>
        </p:nvSpPr>
        <p:spPr>
          <a:xfrm>
            <a:off x="9198864" y="32735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Notifications-due table, 3 potential gaps, summary and conclusion</a:t>
            </a:r>
            <a:endParaRPr lang="en-US" sz="1200" dirty="0"/>
          </a:p>
        </p:txBody>
      </p:sp>
      <p:sp>
        <p:nvSpPr>
          <p:cNvPr id="32" name="Further heading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Further evaluation scenarios</a:t>
            </a:r>
            <a:endParaRPr lang="en-US" sz="1500" dirty="0"/>
          </a:p>
        </p:txBody>
      </p:sp>
      <p:sp>
        <p:nvSpPr>
          <p:cNvPr id="33" name="Scenario 1 circle"/>
          <p:cNvSpPr/>
          <p:nvPr/>
        </p:nvSpPr>
        <p:spPr>
          <a:xfrm>
            <a:off x="457200" y="4663440"/>
            <a:ext cx="502920" cy="50292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34" name="Scenario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4789170"/>
            <a:ext cx="251460" cy="251460"/>
          </a:xfrm>
          <a:prstGeom prst="rect">
            <a:avLst/>
          </a:prstGeom>
        </p:spPr>
      </p:pic>
      <p:sp>
        <p:nvSpPr>
          <p:cNvPr id="35" name="Scenario 1 name"/>
          <p:cNvSpPr txBox="1"/>
          <p:nvPr/>
        </p:nvSpPr>
        <p:spPr>
          <a:xfrm>
            <a:off x="1051560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Scenario 1</a:t>
            </a:r>
            <a:endParaRPr lang="en-US" sz="1300" dirty="0"/>
          </a:p>
        </p:txBody>
      </p:sp>
      <p:sp>
        <p:nvSpPr>
          <p:cNvPr id="36" name="Scenario 1 text"/>
          <p:cNvSpPr txBox="1"/>
          <p:nvPr/>
        </p:nvSpPr>
        <p:spPr>
          <a:xfrm>
            <a:off x="1051560" y="49194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Network-slicing service incident: same staged method, 4 chunks</a:t>
            </a:r>
            <a:endParaRPr lang="en-US" sz="1100" dirty="0"/>
          </a:p>
        </p:txBody>
      </p:sp>
      <p:sp>
        <p:nvSpPr>
          <p:cNvPr id="37" name="Conflict test circle"/>
          <p:cNvSpPr/>
          <p:nvPr/>
        </p:nvSpPr>
        <p:spPr>
          <a:xfrm>
            <a:off x="3310128" y="4663440"/>
            <a:ext cx="502920" cy="50292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38" name="Conflict tes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858" y="4789170"/>
            <a:ext cx="251460" cy="251460"/>
          </a:xfrm>
          <a:prstGeom prst="rect">
            <a:avLst/>
          </a:prstGeom>
        </p:spPr>
      </p:pic>
      <p:sp>
        <p:nvSpPr>
          <p:cNvPr id="39" name="Conflict test name"/>
          <p:cNvSpPr txBox="1"/>
          <p:nvPr/>
        </p:nvSpPr>
        <p:spPr>
          <a:xfrm>
            <a:off x="3904488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Conflict test</a:t>
            </a:r>
            <a:endParaRPr lang="en-US" sz="1300" dirty="0"/>
          </a:p>
        </p:txBody>
      </p:sp>
      <p:sp>
        <p:nvSpPr>
          <p:cNvPr id="40" name="Conflict test text"/>
          <p:cNvSpPr txBox="1"/>
          <p:nvPr/>
        </p:nvSpPr>
        <p:spPr>
          <a:xfrm>
            <a:off x="3904488" y="49194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Labelled passages that disagree: both kept as CONFLICTING, for a human</a:t>
            </a:r>
            <a:endParaRPr lang="en-US" sz="1100" dirty="0"/>
          </a:p>
        </p:txBody>
      </p:sp>
      <p:sp>
        <p:nvSpPr>
          <p:cNvPr id="41" name="Attack lab circle"/>
          <p:cNvSpPr/>
          <p:nvPr/>
        </p:nvSpPr>
        <p:spPr>
          <a:xfrm>
            <a:off x="6163056" y="4663440"/>
            <a:ext cx="502920" cy="50292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42" name="Attack lab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786" y="4789170"/>
            <a:ext cx="251460" cy="251460"/>
          </a:xfrm>
          <a:prstGeom prst="rect">
            <a:avLst/>
          </a:prstGeom>
        </p:spPr>
      </p:pic>
      <p:sp>
        <p:nvSpPr>
          <p:cNvPr id="43" name="Attack lab name"/>
          <p:cNvSpPr txBox="1"/>
          <p:nvPr/>
        </p:nvSpPr>
        <p:spPr>
          <a:xfrm>
            <a:off x="6757416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Attack lab</a:t>
            </a:r>
            <a:endParaRPr lang="en-US" sz="1300" dirty="0"/>
          </a:p>
        </p:txBody>
      </p:sp>
      <p:sp>
        <p:nvSpPr>
          <p:cNvPr id="44" name="Attack lab text"/>
          <p:cNvSpPr txBox="1"/>
          <p:nvPr/>
        </p:nvSpPr>
        <p:spPr>
          <a:xfrm>
            <a:off x="6757416" y="49194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13 contained attacks shown step by step; each resolves in its expected tier</a:t>
            </a:r>
            <a:endParaRPr lang="en-US" sz="1100" dirty="0"/>
          </a:p>
        </p:txBody>
      </p:sp>
      <p:sp>
        <p:nvSpPr>
          <p:cNvPr id="45" name="Y.3172 intents circle"/>
          <p:cNvSpPr/>
          <p:nvPr/>
        </p:nvSpPr>
        <p:spPr>
          <a:xfrm>
            <a:off x="9015984" y="4663440"/>
            <a:ext cx="502920" cy="50292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46" name="Y.3172 inten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714" y="4789170"/>
            <a:ext cx="251460" cy="251460"/>
          </a:xfrm>
          <a:prstGeom prst="rect">
            <a:avLst/>
          </a:prstGeom>
        </p:spPr>
      </p:pic>
      <p:sp>
        <p:nvSpPr>
          <p:cNvPr id="47" name="Y.3172 intents name"/>
          <p:cNvSpPr txBox="1"/>
          <p:nvPr/>
        </p:nvSpPr>
        <p:spPr>
          <a:xfrm>
            <a:off x="9610344" y="4645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Y.3172 intents</a:t>
            </a:r>
            <a:endParaRPr lang="en-US" sz="1300" dirty="0"/>
          </a:p>
        </p:txBody>
      </p:sp>
      <p:sp>
        <p:nvSpPr>
          <p:cNvPr id="48" name="Y.3172 intents text"/>
          <p:cNvSpPr txBox="1"/>
          <p:nvPr/>
        </p:nvSpPr>
        <p:spPr>
          <a:xfrm>
            <a:off x="9610344" y="49194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intents: AMF storm, whole core, hospital slice; P node in blocking mode</a:t>
            </a:r>
            <a:endParaRPr lang="en-US" sz="1100" dirty="0"/>
          </a:p>
        </p:txBody>
      </p:sp>
      <p:sp>
        <p:nvSpPr>
          <p:cNvPr id="49" name="Results line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Results: agent selection matched the official stage table 4/4 · 497 automated tests pass · offline runs replay and re-execute exactly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impactful standards gaps, policy gaps and innovations</a:t>
            </a:r>
            <a:endParaRPr lang="en-US" sz="2800" dirty="0"/>
          </a:p>
        </p:txBody>
      </p:sp>
      <p:sp>
        <p:nvSpPr>
          <p:cNvPr id="3" name="Standards gaps card"/>
          <p:cNvSpPr/>
          <p:nvPr/>
        </p:nvSpPr>
        <p:spPr>
          <a:xfrm>
            <a:off x="457200" y="1143000"/>
            <a:ext cx="3611880" cy="489204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Standards gaps 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3A4A63"/>
          </a:solidFill>
          <a:ln w="12700">
            <a:solidFill>
              <a:srgbClr val="3A4A63"/>
            </a:solidFill>
            <a:prstDash val="solid"/>
          </a:ln>
        </p:spPr>
      </p:sp>
      <p:pic>
        <p:nvPicPr>
          <p:cNvPr id="5" name="Standards g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Standards gaps title"/>
          <p:cNvSpPr txBox="1"/>
          <p:nvPr/>
        </p:nvSpPr>
        <p:spPr>
          <a:xfrm>
            <a:off x="132588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Standards gaps</a:t>
            </a:r>
            <a:endParaRPr lang="en-US" sz="1800" dirty="0"/>
          </a:p>
        </p:txBody>
      </p:sp>
      <p:sp>
        <p:nvSpPr>
          <p:cNvPr id="7" name="Standards gaps items"/>
          <p:cNvSpPr txBox="1"/>
          <p:nvPr/>
        </p:nvSpPr>
        <p:spPr>
          <a:xfrm>
            <a:off x="640080" y="201168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Network slicing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Defined in 3GPP TS 23.501 and named by ENISA (slice-as-a-service), yet absent from all 886 Indian legal passages examined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AI-driven network remediation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Y.3172, NIST AI RMF and the EU AI Act frame ML pipelines and oversight; no binding Indian rule found for human oversight of AI fixes</a:t>
            </a:r>
            <a:endParaRPr lang="en-US" sz="1400" dirty="0"/>
          </a:p>
        </p:txBody>
      </p:sp>
      <p:sp>
        <p:nvSpPr>
          <p:cNvPr id="8" name="Policy gaps card"/>
          <p:cNvSpPr/>
          <p:nvPr/>
        </p:nvSpPr>
        <p:spPr>
          <a:xfrm>
            <a:off x="4251960" y="1143000"/>
            <a:ext cx="3611880" cy="489204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9" name="Policy gaps circle"/>
          <p:cNvSpPr/>
          <p:nvPr/>
        </p:nvSpPr>
        <p:spPr>
          <a:xfrm>
            <a:off x="4434840" y="1280160"/>
            <a:ext cx="548640" cy="5486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0" name="Policy g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274320" cy="274320"/>
          </a:xfrm>
          <a:prstGeom prst="rect">
            <a:avLst/>
          </a:prstGeom>
        </p:spPr>
      </p:pic>
      <p:sp>
        <p:nvSpPr>
          <p:cNvPr id="11" name="Policy gaps title"/>
          <p:cNvSpPr txBox="1"/>
          <p:nvPr/>
        </p:nvSpPr>
        <p:spPr>
          <a:xfrm>
            <a:off x="51206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Policy gaps</a:t>
            </a:r>
            <a:endParaRPr lang="en-US" sz="1800" dirty="0"/>
          </a:p>
        </p:txBody>
      </p:sp>
      <p:sp>
        <p:nvSpPr>
          <p:cNvPr id="12" name="Policy gaps items"/>
          <p:cNvSpPr txBox="1"/>
          <p:nvPr/>
        </p:nvSpPr>
        <p:spPr>
          <a:xfrm>
            <a:off x="4434840" y="201168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Four reporting clocks, no single window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CERT-In 6 h, Central Government 6 h, CTI 6 h, DPDP Board without delay; CERT-In and DPDP do not refer to each other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Log retention mismatch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CERT-In: 180 days in India; DPDP Rules: at least 1 year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Who leads?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CTI under Telecom Act s.22 vs NCIIPC: no examined passage addresses both</a:t>
            </a:r>
            <a:endParaRPr lang="en-US" sz="1400" dirty="0"/>
          </a:p>
        </p:txBody>
      </p:sp>
      <p:sp>
        <p:nvSpPr>
          <p:cNvPr id="13" name="Innovations card"/>
          <p:cNvSpPr/>
          <p:nvPr/>
        </p:nvSpPr>
        <p:spPr>
          <a:xfrm>
            <a:off x="8046720" y="1143000"/>
            <a:ext cx="3611880" cy="489204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4213D">
                <a:alpha val="12000"/>
              </a:srgbClr>
            </a:outerShdw>
          </a:effectLst>
        </p:spPr>
      </p:sp>
      <p:sp>
        <p:nvSpPr>
          <p:cNvPr id="14" name="Innovations circle"/>
          <p:cNvSpPr/>
          <p:nvPr/>
        </p:nvSpPr>
        <p:spPr>
          <a:xfrm>
            <a:off x="8229600" y="1280160"/>
            <a:ext cx="548640" cy="54864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15" name="Innovat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417320"/>
            <a:ext cx="274320" cy="274320"/>
          </a:xfrm>
          <a:prstGeom prst="rect">
            <a:avLst/>
          </a:prstGeom>
        </p:spPr>
      </p:pic>
      <p:sp>
        <p:nvSpPr>
          <p:cNvPr id="16" name="Innovations title"/>
          <p:cNvSpPr txBox="1"/>
          <p:nvPr/>
        </p:nvSpPr>
        <p:spPr>
          <a:xfrm>
            <a:off x="89154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Innovations</a:t>
            </a:r>
            <a:endParaRPr lang="en-US" sz="1800" dirty="0"/>
          </a:p>
        </p:txBody>
      </p:sp>
      <p:sp>
        <p:nvSpPr>
          <p:cNvPr id="17" name="Innovations items"/>
          <p:cNvSpPr txBox="1"/>
          <p:nvPr/>
        </p:nvSpPr>
        <p:spPr>
          <a:xfrm>
            <a:off x="8229600" y="201168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Adviser as the Y.3172 P node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Obligations checked and fixes held for a person before any automated action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Quote-only agents, separate Verifier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Every claim cites document, section, page; rated against a Canonical KB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Per-agent information, staged reassessment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Ends in a “notifications due” answer: who, by when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Auditable by design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Hash-chained trail, replay and re-execution; attacks shown step by step</a:t>
            </a:r>
            <a:endParaRPr lang="en-US" sz="1400" dirty="0"/>
          </a:p>
        </p:txBody>
      </p:sp>
      <p:sp>
        <p:nvSpPr>
          <p:cNvPr id="18" name="Gaps note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Gaps are potential gaps for expert review, with Indian anchors verified word for word; never findings of failure.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Saffron">
  <a:themeElements>
    <a:clrScheme name="Ink and Saffron">
      <a:dk1>
        <a:srgbClr val="14213D"/>
      </a:dk1>
      <a:lt1>
        <a:srgbClr val="FFFFFF"/>
      </a:lt1>
      <a:dk2>
        <a:srgbClr val="3A4A63"/>
      </a:dk2>
      <a:lt2>
        <a:srgbClr val="F2F4F7"/>
      </a:lt2>
      <a:accent1>
        <a:srgbClr val="F29F05"/>
      </a:accent1>
      <a:accent2>
        <a:srgbClr val="0F7B6C"/>
      </a:accent2>
      <a:accent3>
        <a:srgbClr val="C2410C"/>
      </a:accent3>
      <a:accent4>
        <a:srgbClr val="6B7A90"/>
      </a:accent4>
      <a:accent5>
        <a:srgbClr val="2E7D32"/>
      </a:accent5>
      <a:accent6>
        <a:srgbClr val="8A5A00"/>
      </a:accent6>
      <a:hlink>
        <a:srgbClr val="0F7B6C"/>
      </a:hlink>
      <a:folHlink>
        <a:srgbClr val="6B7A90"/>
      </a:folHlink>
    </a:clrScheme>
    <a:fontScheme name="Ink and Saffr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5G Policy &amp; Legal Adviser — team presentation</dc:title>
  <dc:subject>PptxGenJS Presentation</dc:subject>
  <dc:creator>PptxGenJS</dc:creator>
  <cp:lastModifiedBy>PptxGenJS</cp:lastModifiedBy>
  <cp:revision>1</cp:revision>
  <dcterms:created xsi:type="dcterms:W3CDTF">2026-10-10T05:45:29Z</dcterms:created>
  <dcterms:modified xsi:type="dcterms:W3CDTF">2026-10-10T05:45:29Z</dcterms:modified>
</cp:coreProperties>
</file>